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72" r:id="rId2"/>
    <p:sldId id="279" r:id="rId3"/>
    <p:sldId id="273"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4" r:id="rId20"/>
    <p:sldId id="275" r:id="rId21"/>
    <p:sldId id="276" r:id="rId22"/>
    <p:sldId id="277" r:id="rId23"/>
    <p:sldId id="278" r:id="rId2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ACC4"/>
    <a:srgbClr val="EB75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83571"/>
  </p:normalViewPr>
  <p:slideViewPr>
    <p:cSldViewPr snapToGrid="0">
      <p:cViewPr varScale="1">
        <p:scale>
          <a:sx n="100" d="100"/>
          <a:sy n="100" d="100"/>
        </p:scale>
        <p:origin x="7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772C70-6D36-2144-A79D-C22C24F1973F}" type="slidenum">
              <a:rPr lang="en-US" smtClean="0"/>
              <a:t>1</a:t>
            </a:fld>
            <a:endParaRPr lang="en-US"/>
          </a:p>
        </p:txBody>
      </p:sp>
    </p:spTree>
    <p:extLst>
      <p:ext uri="{BB962C8B-B14F-4D97-AF65-F5344CB8AC3E}">
        <p14:creationId xmlns:p14="http://schemas.microsoft.com/office/powerpoint/2010/main" val="1913360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Some context. Last semester, in CS 6650 Distributed Systems, the pattern was unmistakable. Students used AI to generate code, many didn't read the spec carefully, demos looked fine, systems failed under any real probing.</a:t>
            </a:r>
          </a:p>
          <a:p>
            <a:r>
              <a:rPr lang="en-CA" sz="1200" b="0" i="0" kern="1200" dirty="0">
                <a:solidFill>
                  <a:schemeClr val="tx1"/>
                </a:solidFill>
                <a:effectLst/>
                <a:latin typeface="+mn-lt"/>
                <a:ea typeface="+mn-ea"/>
                <a:cs typeface="+mn-cs"/>
              </a:rPr>
              <a:t>We built </a:t>
            </a:r>
            <a:r>
              <a:rPr lang="en-CA" sz="1200" b="0" i="0" kern="1200" dirty="0" err="1">
                <a:solidFill>
                  <a:schemeClr val="tx1"/>
                </a:solidFill>
                <a:effectLst/>
                <a:latin typeface="+mn-lt"/>
                <a:ea typeface="+mn-ea"/>
                <a:cs typeface="+mn-cs"/>
              </a:rPr>
              <a:t>ChaosArena</a:t>
            </a:r>
            <a:r>
              <a:rPr lang="en-CA" sz="1200" b="0" i="0" kern="1200" dirty="0">
                <a:solidFill>
                  <a:schemeClr val="tx1"/>
                </a:solidFill>
                <a:effectLst/>
                <a:latin typeface="+mn-lt"/>
                <a:ea typeface="+mn-ea"/>
                <a:cs typeface="+mn-cs"/>
              </a:rPr>
              <a:t> v1 to push back. Black-box probe, simple target — an Album Store. Add a photo, delete a photo. That's it.</a:t>
            </a:r>
          </a:p>
          <a:p>
            <a:r>
              <a:rPr lang="en-CA" sz="1200" b="0" i="0" kern="1200" dirty="0">
                <a:solidFill>
                  <a:schemeClr val="tx1"/>
                </a:solidFill>
                <a:effectLst/>
                <a:latin typeface="+mn-lt"/>
                <a:ea typeface="+mn-ea"/>
                <a:cs typeface="+mn-cs"/>
              </a:rPr>
              <a:t>Over the semester: 60 students, </a:t>
            </a:r>
            <a:r>
              <a:rPr lang="en-CA" sz="1200" b="1" i="0" kern="1200" dirty="0">
                <a:solidFill>
                  <a:schemeClr val="tx1"/>
                </a:solidFill>
                <a:effectLst/>
                <a:latin typeface="+mn-lt"/>
                <a:ea typeface="+mn-ea"/>
                <a:cs typeface="+mn-cs"/>
              </a:rPr>
              <a:t>average 18 runs each</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zero passed on first submission</a:t>
            </a:r>
            <a:r>
              <a:rPr lang="en-CA" sz="1200" b="0" i="0" kern="1200" dirty="0">
                <a:solidFill>
                  <a:schemeClr val="tx1"/>
                </a:solidFill>
                <a:effectLst/>
                <a:latin typeface="+mn-lt"/>
                <a:ea typeface="+mn-ea"/>
                <a:cs typeface="+mn-cs"/>
              </a:rPr>
              <a:t>. The takeaway: AI-coauthored code does not just work. That's the problem this project addresses.</a:t>
            </a:r>
          </a:p>
        </p:txBody>
      </p:sp>
      <p:sp>
        <p:nvSpPr>
          <p:cNvPr id="4" name="Slide Number Placeholder 3"/>
          <p:cNvSpPr>
            <a:spLocks noGrp="1"/>
          </p:cNvSpPr>
          <p:nvPr>
            <p:ph type="sldNum" sz="quarter" idx="5"/>
          </p:nvPr>
        </p:nvSpPr>
        <p:spPr/>
        <p:txBody>
          <a:bodyPr/>
          <a:lstStyle/>
          <a:p>
            <a:fld id="{72772C70-6D36-2144-A79D-C22C24F1973F}" type="slidenum">
              <a:rPr lang="en-US" smtClean="0"/>
              <a:t>2</a:t>
            </a:fld>
            <a:endParaRPr lang="en-US"/>
          </a:p>
        </p:txBody>
      </p:sp>
    </p:spTree>
    <p:extLst>
      <p:ext uri="{BB962C8B-B14F-4D97-AF65-F5344CB8AC3E}">
        <p14:creationId xmlns:p14="http://schemas.microsoft.com/office/powerpoint/2010/main" val="191799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17F31-B67F-B6AF-B30F-20AF11D2F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625E2-F2C8-5141-D9AA-5EAA44340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E9065-CC42-7A02-AEC4-0C32EF8730AF}"/>
              </a:ext>
            </a:extLst>
          </p:cNvPr>
          <p:cNvSpPr>
            <a:spLocks noGrp="1"/>
          </p:cNvSpPr>
          <p:nvPr>
            <p:ph type="body" idx="1"/>
          </p:nvPr>
        </p:nvSpPr>
        <p:spPr/>
        <p:txBody>
          <a:bodyPr/>
          <a:lstStyle/>
          <a:p>
            <a:endParaRPr lang="en-CA"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C691A78-CCC7-39D1-40CD-CA1B24C488C6}"/>
              </a:ext>
            </a:extLst>
          </p:cNvPr>
          <p:cNvSpPr>
            <a:spLocks noGrp="1"/>
          </p:cNvSpPr>
          <p:nvPr>
            <p:ph type="sldNum" sz="quarter" idx="5"/>
          </p:nvPr>
        </p:nvSpPr>
        <p:spPr/>
        <p:txBody>
          <a:bodyPr/>
          <a:lstStyle/>
          <a:p>
            <a:fld id="{72772C70-6D36-2144-A79D-C22C24F1973F}" type="slidenum">
              <a:rPr lang="en-US" smtClean="0"/>
              <a:t>3</a:t>
            </a:fld>
            <a:endParaRPr lang="en-US"/>
          </a:p>
        </p:txBody>
      </p:sp>
    </p:spTree>
    <p:extLst>
      <p:ext uri="{BB962C8B-B14F-4D97-AF65-F5344CB8AC3E}">
        <p14:creationId xmlns:p14="http://schemas.microsoft.com/office/powerpoint/2010/main" val="4266067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effectLst/>
              </a:rPr>
              <a:t>- </a:t>
            </a:r>
            <a:r>
              <a:rPr lang="en-CA" sz="1200" b="0" kern="1200" dirty="0" err="1">
                <a:effectLst/>
              </a:rPr>
              <a:t>Fuzzers</a:t>
            </a:r>
            <a:r>
              <a:rPr lang="en-CA" sz="1200" b="0" kern="1200" dirty="0">
                <a:effectLst/>
              </a:rPr>
              <a:t> provide broad request coverage, but generally execute sequentially</a:t>
            </a:r>
          </a:p>
          <a:p>
            <a:r>
              <a:rPr lang="en-CA" sz="1200" b="0" kern="1200" dirty="0">
                <a:effectLst/>
              </a:rPr>
              <a:t>- Tool-equipped LLM agents can reason about semantics, but concurrency is ad hoc</a:t>
            </a:r>
          </a:p>
          <a:p>
            <a:r>
              <a:rPr lang="en-CA" sz="1200" b="0" kern="1200" dirty="0">
                <a:effectLst/>
              </a:rPr>
              <a:t>- Black-box tools usually do not combine:</a:t>
            </a:r>
          </a:p>
          <a:p>
            <a:r>
              <a:rPr lang="en-CA" sz="1200" b="0" kern="1200" dirty="0">
                <a:effectLst/>
              </a:rPr>
              <a:t>- semantic reasoning</a:t>
            </a:r>
          </a:p>
          <a:p>
            <a:r>
              <a:rPr lang="en-CA" sz="1200" b="0" kern="1200" dirty="0">
                <a:effectLst/>
              </a:rPr>
              <a:t>- multiple authenticated sessions</a:t>
            </a:r>
          </a:p>
          <a:p>
            <a:r>
              <a:rPr lang="en-CA" sz="1200" b="0" kern="1200" dirty="0">
                <a:effectLst/>
              </a:rPr>
              <a:t>- synchronized request release</a:t>
            </a:r>
          </a:p>
          <a:p>
            <a:r>
              <a:rPr lang="en-CA" sz="1200" b="0" kern="1200" dirty="0">
                <a:effectLst/>
              </a:rPr>
              <a:t>- Thesis: concurrency needs to be a first-class testing capability, not an optional script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effectLst/>
              </a:rPr>
              <a:t>Input: natural-language service description derived from API documentation</a:t>
            </a:r>
          </a:p>
          <a:p>
            <a:r>
              <a:rPr lang="en-CA" sz="1200" b="0" kern="1200" dirty="0">
                <a:effectLst/>
              </a:rPr>
              <a:t>Required phase: orchestrator generates required scenarios (Rs)</a:t>
            </a:r>
          </a:p>
          <a:p>
            <a:r>
              <a:rPr lang="en-CA" sz="1200" b="0" kern="1200" dirty="0">
                <a:effectLst/>
              </a:rPr>
              <a:t>Shared probe: API playbook collected once, reused across executors</a:t>
            </a:r>
          </a:p>
          <a:p>
            <a:r>
              <a:rPr lang="en-CA" sz="1200" b="0" kern="1200" dirty="0">
                <a:effectLst/>
              </a:rPr>
              <a:t>Parallel execution: batches run concurrently with isolated sessions</a:t>
            </a:r>
          </a:p>
          <a:p>
            <a:r>
              <a:rPr lang="en-CA" sz="1200" b="0" kern="1200" dirty="0">
                <a:effectLst/>
              </a:rPr>
              <a:t>Exploration phase: one executor performs open-ended testing after required coverage</a:t>
            </a:r>
          </a:p>
          <a:p>
            <a:r>
              <a:rPr lang="en-CA" sz="1200" b="0" kern="1200" dirty="0">
                <a:effectLst/>
              </a:rPr>
              <a:t>Verdict drafter aggregates findings into the final report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effectLst/>
              </a:rPr>
              <a:t>- Six required categories:</a:t>
            </a:r>
          </a:p>
          <a:p>
            <a:r>
              <a:rPr lang="en-CA" sz="1200" b="0" kern="1200" dirty="0">
                <a:effectLst/>
              </a:rPr>
              <a:t>- concurrency</a:t>
            </a:r>
          </a:p>
          <a:p>
            <a:r>
              <a:rPr lang="en-CA" sz="1200" b="0" kern="1200" dirty="0">
                <a:effectLst/>
              </a:rPr>
              <a:t>- authentication/authorization</a:t>
            </a:r>
          </a:p>
          <a:p>
            <a:r>
              <a:rPr lang="en-CA" sz="1200" b="0" kern="1200" dirty="0">
                <a:effectLst/>
              </a:rPr>
              <a:t>- IDOR</a:t>
            </a:r>
          </a:p>
          <a:p>
            <a:r>
              <a:rPr lang="en-CA" sz="1200" b="0" kern="1200" dirty="0">
                <a:effectLst/>
              </a:rPr>
              <a:t>- input validation</a:t>
            </a:r>
          </a:p>
          <a:p>
            <a:r>
              <a:rPr lang="en-CA" sz="1200" b="0" kern="1200" dirty="0">
                <a:effectLst/>
              </a:rPr>
              <a:t>- HTTP semantics</a:t>
            </a:r>
          </a:p>
          <a:p>
            <a:r>
              <a:rPr lang="en-CA" sz="1200" b="0" kern="1200" dirty="0">
                <a:effectLst/>
              </a:rPr>
              <a:t>- business logic</a:t>
            </a:r>
          </a:p>
          <a:p>
            <a:r>
              <a:rPr lang="en-CA" sz="1200" b="0" kern="1200" dirty="0">
                <a:effectLst/>
              </a:rPr>
              <a:t>- Design principles:</a:t>
            </a:r>
          </a:p>
          <a:p>
            <a:r>
              <a:rPr lang="en-CA" sz="1200" b="0" kern="1200" dirty="0">
                <a:effectLst/>
              </a:rPr>
              <a:t>- multi-stage decomposition</a:t>
            </a:r>
          </a:p>
          <a:p>
            <a:r>
              <a:rPr lang="en-CA" sz="1200" b="0" kern="1200" dirty="0">
                <a:effectLst/>
              </a:rPr>
              <a:t>- mandatory category injection</a:t>
            </a:r>
          </a:p>
          <a:p>
            <a:r>
              <a:rPr lang="en-CA" sz="1200" b="0" kern="1200" dirty="0">
                <a:effectLst/>
              </a:rPr>
              <a:t>- structured reasoning before emitting Rs</a:t>
            </a:r>
          </a:p>
          <a:p>
            <a:r>
              <a:rPr lang="en-CA" sz="1200" b="0" kern="1200" dirty="0">
                <a:effectLst/>
              </a:rPr>
              <a:t>- self-review for coverage completeness</a:t>
            </a:r>
          </a:p>
          <a:p>
            <a:r>
              <a:rPr lang="en-CA" sz="1200" b="0" kern="1200" dirty="0">
                <a:effectLst/>
              </a:rPr>
              <a:t>- Outcome: a deterministic coverage contract before execution starts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effectLst/>
              </a:rPr>
              <a:t>- `</a:t>
            </a:r>
            <a:r>
              <a:rPr lang="en-CA" sz="1200" b="0" kern="1200" dirty="0" err="1">
                <a:effectLst/>
              </a:rPr>
              <a:t>race_pair</a:t>
            </a:r>
            <a:r>
              <a:rPr lang="en-CA" sz="1200" b="0" kern="1200" dirty="0">
                <a:effectLst/>
              </a:rPr>
              <a:t>`: two synchronized HTTP actions with microsecond-level release skew</a:t>
            </a:r>
          </a:p>
          <a:p>
            <a:r>
              <a:rPr lang="en-CA" sz="1200" b="0" kern="1200" dirty="0">
                <a:effectLst/>
              </a:rPr>
              <a:t>- `</a:t>
            </a:r>
            <a:r>
              <a:rPr lang="en-CA" sz="1200" b="0" kern="1200" dirty="0" err="1">
                <a:effectLst/>
              </a:rPr>
              <a:t>barrier_concurrent</a:t>
            </a:r>
            <a:r>
              <a:rPr lang="en-CA" sz="1200" b="0" kern="1200" dirty="0">
                <a:effectLst/>
              </a:rPr>
              <a:t>`: generalized N-way synchronized requests</a:t>
            </a:r>
          </a:p>
          <a:p>
            <a:r>
              <a:rPr lang="en-CA" sz="1200" b="0" kern="1200" dirty="0">
                <a:effectLst/>
              </a:rPr>
              <a:t>- Each action is tied to an explicit session ID</a:t>
            </a:r>
          </a:p>
          <a:p>
            <a:r>
              <a:rPr lang="en-CA" sz="1200" b="0" kern="1200" dirty="0">
                <a:effectLst/>
              </a:rPr>
              <a:t>- Important split:</a:t>
            </a:r>
          </a:p>
          <a:p>
            <a:r>
              <a:rPr lang="en-CA" sz="1200" b="0" kern="1200" dirty="0">
                <a:effectLst/>
              </a:rPr>
              <a:t>- the model decides what to race</a:t>
            </a:r>
          </a:p>
          <a:p>
            <a:r>
              <a:rPr lang="en-CA" sz="1200" b="0" kern="1200" dirty="0">
                <a:effectLst/>
              </a:rPr>
              <a:t>- the tool ensures the overlap actually happens</a:t>
            </a:r>
          </a:p>
          <a:p>
            <a:r>
              <a:rPr lang="en-CA" sz="1200" b="0" kern="1200" dirty="0">
                <a:effectLst/>
              </a:rPr>
              <a:t>- This is the core difference from ordinary sequential LLM agent loops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effectLst/>
              </a:rPr>
              <a:t>- Three Java Spring Boot services from WFD</a:t>
            </a:r>
          </a:p>
          <a:p>
            <a:r>
              <a:rPr lang="en-CA" sz="1200" b="0" kern="1200" dirty="0">
                <a:effectLst/>
              </a:rPr>
              <a:t>- `market`: 13 endpoints, Basic Auth</a:t>
            </a:r>
          </a:p>
          <a:p>
            <a:r>
              <a:rPr lang="en-CA" sz="1200" b="0" kern="1200" dirty="0">
                <a:effectLst/>
              </a:rPr>
              <a:t>- `tracking`: 67 endpoints, cookie session</a:t>
            </a:r>
          </a:p>
          <a:p>
            <a:r>
              <a:rPr lang="en-CA" sz="1200" b="0" kern="1200" dirty="0">
                <a:effectLst/>
              </a:rPr>
              <a:t>- `user-</a:t>
            </a:r>
            <a:r>
              <a:rPr lang="en-CA" sz="1200" b="0" kern="1200" dirty="0" err="1">
                <a:effectLst/>
              </a:rPr>
              <a:t>mgmt</a:t>
            </a:r>
            <a:r>
              <a:rPr lang="en-CA" sz="1200" b="0" kern="1200" dirty="0">
                <a:effectLst/>
              </a:rPr>
              <a:t>`: 21 endpoints, session + RBAC</a:t>
            </a:r>
          </a:p>
          <a:p>
            <a:r>
              <a:rPr lang="en-CA" sz="1200" b="0" kern="1200" dirty="0">
                <a:effectLst/>
              </a:rPr>
              <a:t>- Services reset to a clean state before each run</a:t>
            </a:r>
          </a:p>
          <a:p>
            <a:r>
              <a:rPr lang="en-CA" sz="1200" b="0" kern="1200" dirty="0">
                <a:effectLst/>
              </a:rPr>
              <a:t>- ChaosArena input is a natural-language service description derived from </a:t>
            </a:r>
            <a:r>
              <a:rPr lang="en-CA" sz="1200" b="0" kern="1200" dirty="0" err="1">
                <a:effectLst/>
              </a:rPr>
              <a:t>OpenAPI</a:t>
            </a:r>
            <a:endParaRPr lang="en-CA" sz="1200" b="0" kern="1200" dirty="0">
              <a:effectLst/>
            </a:endParaRPr>
          </a:p>
          <a:p>
            <a:r>
              <a:rPr lang="en-CA" sz="1200" b="0" kern="1200" dirty="0">
                <a:effectLst/>
              </a:rPr>
              <a:t>- Bug counted only if supported by concrete HTTP request/response evidence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effectLst/>
              </a:rPr>
              <a:t>- Table/visual from paper:</a:t>
            </a:r>
          </a:p>
          <a:p>
            <a:r>
              <a:rPr lang="en-CA" sz="1200" b="0" kern="1200" dirty="0">
                <a:effectLst/>
              </a:rPr>
              <a:t>- ChaosArena required phase: 42</a:t>
            </a:r>
          </a:p>
          <a:p>
            <a:r>
              <a:rPr lang="en-CA" sz="1200" b="0" kern="1200" dirty="0">
                <a:effectLst/>
              </a:rPr>
              <a:t>- ChaosArena exploration phase: 17 additional unique findings</a:t>
            </a:r>
          </a:p>
          <a:p>
            <a:r>
              <a:rPr lang="en-CA" sz="1200" b="0" kern="1200" dirty="0">
                <a:effectLst/>
              </a:rPr>
              <a:t>- ChaosArena total: 59</a:t>
            </a:r>
          </a:p>
          <a:p>
            <a:r>
              <a:rPr lang="en-CA" sz="1200" b="0" kern="1200" dirty="0">
                <a:effectLst/>
              </a:rPr>
              <a:t>- Claude Code: 43</a:t>
            </a:r>
          </a:p>
          <a:p>
            <a:r>
              <a:rPr lang="en-CA" sz="1200" b="0" kern="1200" dirty="0">
                <a:effectLst/>
              </a:rPr>
              <a:t>- Union across tools: 84</a:t>
            </a:r>
          </a:p>
          <a:p>
            <a:r>
              <a:rPr lang="en-CA" sz="1200" b="0" kern="1200" dirty="0">
                <a:effectLst/>
              </a:rPr>
              <a:t>- Overlap between ChaosArena and Claude Code:</a:t>
            </a:r>
          </a:p>
          <a:p>
            <a:r>
              <a:rPr lang="en-CA" sz="1200" b="0" kern="1200" dirty="0">
                <a:effectLst/>
              </a:rPr>
              <a:t>- 41 only by ChaosArena</a:t>
            </a:r>
          </a:p>
          <a:p>
            <a:r>
              <a:rPr lang="en-CA" sz="1200" b="0" kern="1200" dirty="0">
                <a:effectLst/>
              </a:rPr>
              <a:t>- 18 shared</a:t>
            </a:r>
          </a:p>
          <a:p>
            <a:r>
              <a:rPr lang="en-CA" sz="1200" b="0" kern="1200" dirty="0">
                <a:effectLst/>
              </a:rPr>
              <a:t>- 25 only by Claude Code</a:t>
            </a:r>
          </a:p>
          <a:p>
            <a:r>
              <a:rPr lang="en-CA" sz="1200" b="0" kern="1200" dirty="0">
                <a:effectLst/>
              </a:rPr>
              <a:t>- Message: the tools are not finding the same things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effectLst/>
              </a:rPr>
              <a:t>- ChaosArena reported all 11 concurrency findings; Claude Code reported none</a:t>
            </a:r>
          </a:p>
          <a:p>
            <a:r>
              <a:rPr lang="en-CA" sz="1200" b="0" kern="1200" dirty="0">
                <a:effectLst/>
              </a:rPr>
              <a:t>- Two observed failure modes:</a:t>
            </a:r>
          </a:p>
          <a:p>
            <a:r>
              <a:rPr lang="en-CA" sz="1200" b="0" kern="1200" dirty="0">
                <a:effectLst/>
              </a:rPr>
              <a:t>- silent data corruption</a:t>
            </a:r>
          </a:p>
          <a:p>
            <a:r>
              <a:rPr lang="en-CA" sz="1200" b="0" kern="1200" dirty="0">
                <a:effectLst/>
              </a:rPr>
              <a:t>- unhandled internal exceptions / constraint violations</a:t>
            </a:r>
          </a:p>
          <a:p>
            <a:r>
              <a:rPr lang="en-CA" sz="1200" b="0" kern="1200" dirty="0">
                <a:effectLst/>
              </a:rPr>
              <a:t>- Representative examples:</a:t>
            </a:r>
          </a:p>
          <a:p>
            <a:r>
              <a:rPr lang="en-CA" sz="1200" b="0" kern="1200" dirty="0">
                <a:effectLst/>
              </a:rPr>
              <a:t>- lost update in `market`</a:t>
            </a:r>
          </a:p>
          <a:p>
            <a:r>
              <a:rPr lang="en-CA" sz="1200" b="0" kern="1200" dirty="0">
                <a:effectLst/>
              </a:rPr>
              <a:t>- stale cart after concurrent pay + add-item</a:t>
            </a:r>
          </a:p>
          <a:p>
            <a:r>
              <a:rPr lang="en-CA" sz="1200" b="0" kern="1200" dirty="0">
                <a:effectLst/>
              </a:rPr>
              <a:t>- concurrent role/permission races in `user-</a:t>
            </a:r>
            <a:r>
              <a:rPr lang="en-CA" sz="1200" b="0" kern="1200" dirty="0" err="1">
                <a:effectLst/>
              </a:rPr>
              <a:t>mgmt</a:t>
            </a:r>
            <a:r>
              <a:rPr lang="en-CA"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CA" sz="1200" b="0" kern="1200" dirty="0">
                <a:effectLst/>
              </a:rPr>
              <a:t>Severity: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CA" sz="1200" b="0" i="0" dirty="0">
                <a:effectLst/>
                <a:latin typeface="Times New Roman" panose="02020603050405020304" pitchFamily="18" charset="0"/>
                <a:cs typeface="Times New Roman" panose="02020603050405020304" pitchFamily="18" charset="0"/>
              </a:rPr>
              <a:t>Severity was </a:t>
            </a:r>
            <a:r>
              <a:rPr lang="en-CA" sz="1200" b="1" i="0" dirty="0">
                <a:effectLst/>
                <a:latin typeface="Times New Roman" panose="02020603050405020304" pitchFamily="18" charset="0"/>
                <a:cs typeface="Times New Roman" panose="02020603050405020304" pitchFamily="18" charset="0"/>
              </a:rPr>
              <a:t>reclassified based on impact-based criteria.</a:t>
            </a:r>
            <a:endParaRPr lang="en-CA" sz="1200" b="0" kern="1200" dirty="0">
              <a:effectLst/>
            </a:endParaRPr>
          </a:p>
          <a:p>
            <a:r>
              <a:rPr lang="en-CA" sz="1200" b="0" kern="1200" dirty="0">
                <a:effectLst/>
              </a:rPr>
              <a:t>- ChaosArena: 17 critical, 20 high, 20 medium, 2 low</a:t>
            </a:r>
          </a:p>
          <a:p>
            <a:r>
              <a:rPr lang="en-CA" sz="1200" b="0" kern="1200" dirty="0">
                <a:effectLst/>
              </a:rPr>
              <a:t>- Claude Code: 11 critical, 11 high, 10 medium, 11 low</a:t>
            </a:r>
          </a:p>
          <a:p>
            <a:r>
              <a:rPr lang="en-CA" sz="1200" b="0" kern="1200" dirty="0">
                <a:effectLst/>
              </a:rPr>
              <a:t>- Cost/time:</a:t>
            </a:r>
          </a:p>
          <a:p>
            <a:r>
              <a:rPr lang="en-CA" sz="1200" b="0" kern="1200" dirty="0">
                <a:effectLst/>
              </a:rPr>
              <a:t>- ChaosArena total: $11.85, 6.85 min average per service</a:t>
            </a:r>
          </a:p>
          <a:p>
            <a:r>
              <a:rPr lang="en-CA" sz="1200" b="0" kern="1200" dirty="0">
                <a:effectLst/>
              </a:rPr>
              <a:t>- Claude Code: $3.70, 8.5 min average per service</a:t>
            </a:r>
          </a:p>
          <a:p>
            <a:r>
              <a:rPr lang="en-CA" sz="1200" b="0" kern="1200" dirty="0">
                <a:effectLst/>
              </a:rPr>
              <a:t>- Interpretation:</a:t>
            </a:r>
          </a:p>
          <a:p>
            <a:r>
              <a:rPr lang="en-CA" sz="1200" b="0" kern="1200" dirty="0">
                <a:effectLst/>
              </a:rPr>
              <a:t>- ChaosArena is more expensive per dollar</a:t>
            </a:r>
          </a:p>
          <a:p>
            <a:r>
              <a:rPr lang="en-CA" sz="1200" b="0" kern="1200" dirty="0">
                <a:effectLst/>
              </a:rPr>
              <a:t>- required phase alone nearly matches Claude Code's total bug count</a:t>
            </a:r>
          </a:p>
          <a:p>
            <a:r>
              <a:rPr lang="en-CA" sz="1200" b="0" kern="1200" dirty="0">
                <a:effectLst/>
              </a:rPr>
              <a:t>- parallel batches reduce wall-clock time</a:t>
            </a:r>
          </a:p>
          <a:p>
            <a:r>
              <a:rPr lang="en-CA" sz="1200" b="0" kern="1200" dirty="0">
                <a:effectLst/>
              </a:rPr>
              <a:t>- duplication in exploration is the main inefficiency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FE9AC-C95B-A82B-2CA2-941F5B53B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5A53D-DF91-7935-806F-2CD900BF8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A0D6C-1AE3-04A3-1DBD-79F1D0DBAB6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DD999CF-60C3-3E33-279D-D1CB2A7A5AB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72802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2"/>
            <a:ext cx="8816632" cy="3571557"/>
          </a:xfrm>
        </p:spPr>
        <p:txBody>
          <a:bodyPr anchor="b">
            <a:normAutofit/>
          </a:bodyPr>
          <a:lstStyle>
            <a:lvl1pPr algn="l">
              <a:buNone/>
              <a:defRPr sz="5400"/>
            </a:lvl1pPr>
          </a:lstStyle>
          <a:p>
            <a:r>
              <a:t>Click to edit Master title style</a:t>
            </a:r>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0"/>
            <a:ext cx="8816632" cy="944879"/>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idx="10"/>
          </p:nvPr>
        </p:nvSpPr>
        <p:spPr/>
        <p:txBody>
          <a:bodyPr/>
          <a:lstStyle/>
          <a:p>
            <a:fld id="{BAA6208D-5C0B-E84F-BC6E-12FA437A9D5E}" type="datetime1">
              <a:rPr lang="en-CA" smtClean="0"/>
              <a:t>2026-06-24</a:t>
            </a:fld>
            <a:endParaRPr/>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idx="12"/>
          </p:nvPr>
        </p:nvSpPr>
        <p:spPr/>
        <p:txBody>
          <a:bodyPr/>
          <a:lstStyle/>
          <a:p>
            <a:fld id="{3109D357-8067-4A1F-97B2-93C5160B78D9}" type="slidenum">
              <a:t>‹#›</a:t>
            </a:fld>
            <a:endParaRPr/>
          </a:p>
        </p:txBody>
      </p:sp>
      <p:sp>
        <p:nvSpPr>
          <p:cNvPr id="16" name="Straight Connector 15">
            <a:extLst>
              <a:ext uri="{FF2B5EF4-FFF2-40B4-BE49-F238E27FC236}">
                <a16:creationId xmlns:a16="http://schemas.microsoft.com/office/drawing/2014/main" id="{EA840066-141F-4AEE-A001-C5547BB4D3EC}"/>
              </a:ext>
            </a:extLst>
          </p:cNvPr>
          <p:cNvSpPr>
            <a:spLocks noGrp="1"/>
          </p:cNvSpPr>
          <p:nvPr/>
        </p:nv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idx="10"/>
          </p:nvPr>
        </p:nvSpPr>
        <p:spPr/>
        <p:txBody>
          <a:bodyPr/>
          <a:lstStyle/>
          <a:p>
            <a:fld id="{7A6A2C65-31CC-D34B-8D48-8F152F2C65CF}" type="datetime1">
              <a:rPr lang="en-CA" smtClean="0"/>
              <a:t>2026-06-24</a:t>
            </a:fld>
            <a:endParaRP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idx="12"/>
          </p:nvPr>
        </p:nvSpPr>
        <p:spPr/>
        <p:txBody>
          <a:bodyPr/>
          <a:lstStyle/>
          <a:p>
            <a:fld id="{3109D357-8067-4A1F-97B2-93C5160B78D9}"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01F-198D-4AAD-B4FB-AD3B44981ADD}"/>
              </a:ext>
            </a:extLst>
          </p:cNvPr>
          <p:cNvSpPr>
            <a:spLocks noGrp="1"/>
          </p:cNvSpPr>
          <p:nvPr>
            <p:ph type="title"/>
          </p:nvPr>
        </p:nvSpPr>
        <p:spPr>
          <a:xfrm>
            <a:off x="838200" y="838200"/>
            <a:ext cx="9438640" cy="4114800"/>
          </a:xfrm>
        </p:spPr>
        <p:txBody>
          <a:bodyPr anchor="t">
            <a:normAutofit/>
          </a:bodyPr>
          <a:lstStyle>
            <a:lvl1pPr>
              <a:buNone/>
              <a:defRPr sz="6600"/>
            </a:lvl1pPr>
          </a:lstStyle>
          <a:p>
            <a:r>
              <a:t>Click to edit Master title style</a:t>
            </a:r>
          </a:p>
        </p:txBody>
      </p:sp>
      <p:sp>
        <p:nvSpPr>
          <p:cNvPr id="3" name="Text Placeholder 2">
            <a:extLst>
              <a:ext uri="{FF2B5EF4-FFF2-40B4-BE49-F238E27FC236}">
                <a16:creationId xmlns:a16="http://schemas.microsoft.com/office/drawing/2014/main" id="{020BCC2B-311B-4FB6-B3A5-26F68055AE38}"/>
              </a:ext>
            </a:extLst>
          </p:cNvPr>
          <p:cNvSpPr>
            <a:spLocks noGrp="1"/>
          </p:cNvSpPr>
          <p:nvPr>
            <p:ph type="body" idx="1"/>
          </p:nvPr>
        </p:nvSpPr>
        <p:spPr>
          <a:xfrm>
            <a:off x="838200" y="5217160"/>
            <a:ext cx="9438640" cy="802640"/>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2D9CB73D-2D6B-4FA6-89A4-DCC89F80E0F1}"/>
              </a:ext>
            </a:extLst>
          </p:cNvPr>
          <p:cNvSpPr>
            <a:spLocks noGrp="1"/>
          </p:cNvSpPr>
          <p:nvPr>
            <p:ph type="dt" idx="10"/>
          </p:nvPr>
        </p:nvSpPr>
        <p:spPr/>
        <p:txBody>
          <a:bodyPr/>
          <a:lstStyle/>
          <a:p>
            <a:fld id="{09DC8005-3D0F-3643-8E6A-811F8B4787B5}" type="datetime1">
              <a:rPr lang="en-CA" smtClean="0"/>
              <a:t>2026-06-24</a:t>
            </a:fld>
            <a:endParaRPr/>
          </a:p>
        </p:txBody>
      </p:sp>
      <p:sp>
        <p:nvSpPr>
          <p:cNvPr id="5" name="Footer Placeholder 4">
            <a:extLst>
              <a:ext uri="{FF2B5EF4-FFF2-40B4-BE49-F238E27FC236}">
                <a16:creationId xmlns:a16="http://schemas.microsoft.com/office/drawing/2014/main" id="{B6A0C188-FF43-44C1-A005-679168D5F05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1CD1188-DA27-47B2-8176-31193EEC4C28}"/>
              </a:ext>
            </a:extLst>
          </p:cNvPr>
          <p:cNvSpPr>
            <a:spLocks noGrp="1"/>
          </p:cNvSpPr>
          <p:nvPr>
            <p:ph type="sldNum" idx="12"/>
          </p:nvPr>
        </p:nvSpPr>
        <p:spPr/>
        <p:txBody>
          <a:bodyPr/>
          <a:lstStyle/>
          <a:p>
            <a:fld id="{3109D357-8067-4A1F-97B2-93C5160B78D9}"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5A25-7E99-42A8-8D6D-648EFE2038FA}"/>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30501DC-62B7-42BD-A941-D34E92719C32}"/>
              </a:ext>
            </a:extLst>
          </p:cNvPr>
          <p:cNvSpPr>
            <a:spLocks noGrp="1"/>
          </p:cNvSpPr>
          <p:nvPr>
            <p:ph idx="1"/>
          </p:nvPr>
        </p:nvSpPr>
        <p:spPr>
          <a:xfrm>
            <a:off x="838200" y="2011679"/>
            <a:ext cx="5181600" cy="4165283"/>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3765C5C1-4FD4-4958-99A0-BDADECA336BD}"/>
              </a:ext>
            </a:extLst>
          </p:cNvPr>
          <p:cNvSpPr>
            <a:spLocks noGrp="1"/>
          </p:cNvSpPr>
          <p:nvPr>
            <p:ph idx="2"/>
          </p:nvPr>
        </p:nvSpPr>
        <p:spPr>
          <a:xfrm>
            <a:off x="6172200" y="2011679"/>
            <a:ext cx="5181600" cy="4165283"/>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ABD1B234-5D54-44E5-B41D-B205AAF50305}"/>
              </a:ext>
            </a:extLst>
          </p:cNvPr>
          <p:cNvSpPr>
            <a:spLocks noGrp="1"/>
          </p:cNvSpPr>
          <p:nvPr>
            <p:ph type="dt" idx="10"/>
          </p:nvPr>
        </p:nvSpPr>
        <p:spPr/>
        <p:txBody>
          <a:bodyPr/>
          <a:lstStyle/>
          <a:p>
            <a:fld id="{10864999-B1F6-FC41-999A-0CF22F84D6D6}" type="datetime1">
              <a:rPr lang="en-CA" smtClean="0"/>
              <a:t>2026-06-24</a:t>
            </a:fld>
            <a:endParaRPr/>
          </a:p>
        </p:txBody>
      </p:sp>
      <p:sp>
        <p:nvSpPr>
          <p:cNvPr id="6" name="Footer Placeholder 5">
            <a:extLst>
              <a:ext uri="{FF2B5EF4-FFF2-40B4-BE49-F238E27FC236}">
                <a16:creationId xmlns:a16="http://schemas.microsoft.com/office/drawing/2014/main" id="{0E67BCDB-6B96-45D6-B5E9-823A96EBD9D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D239C5F-F16F-4AFD-98D1-FA3BB96AF2CD}"/>
              </a:ext>
            </a:extLst>
          </p:cNvPr>
          <p:cNvSpPr>
            <a:spLocks noGrp="1"/>
          </p:cNvSpPr>
          <p:nvPr>
            <p:ph type="sldNum" idx="12"/>
          </p:nvPr>
        </p:nvSpPr>
        <p:spPr/>
        <p:txBody>
          <a:bodyPr/>
          <a:lstStyle/>
          <a:p>
            <a:fld id="{3109D357-8067-4A1F-97B2-93C5160B78D9}"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C1F-0040-4BBF-81A6-FD2E30637B0C}"/>
              </a:ext>
            </a:extLst>
          </p:cNvPr>
          <p:cNvSpPr>
            <a:spLocks noGrp="1"/>
          </p:cNvSpPr>
          <p:nvPr>
            <p:ph type="title"/>
          </p:nvPr>
        </p:nvSpPr>
        <p:spPr>
          <a:xfrm>
            <a:off x="839788" y="379780"/>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DE2894A7-1DA1-44C1-8ED0-716279430690}"/>
              </a:ext>
            </a:extLst>
          </p:cNvPr>
          <p:cNvSpPr>
            <a:spLocks noGrp="1"/>
          </p:cNvSpPr>
          <p:nvPr>
            <p:ph type="body" idx="1"/>
          </p:nvPr>
        </p:nvSpPr>
        <p:spPr>
          <a:xfrm>
            <a:off x="839789" y="1824035"/>
            <a:ext cx="4997132" cy="681040"/>
          </a:xfrm>
        </p:spPr>
        <p:txBody>
          <a:bodyPr anchor="b"/>
          <a:lstStyle>
            <a:lvl1pPr marL="0" indent="0">
              <a:buNone/>
              <a:defRPr sz="2400" b="1" i="0" cap="none"/>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509AB945-31E2-4B60-9076-CBB8F8594949}"/>
              </a:ext>
            </a:extLst>
          </p:cNvPr>
          <p:cNvSpPr>
            <a:spLocks noGrp="1"/>
          </p:cNvSpPr>
          <p:nvPr>
            <p:ph idx="2"/>
          </p:nvPr>
        </p:nvSpPr>
        <p:spPr>
          <a:xfrm>
            <a:off x="839789" y="2505075"/>
            <a:ext cx="4997132"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F771B3EA-2E84-4B8B-A104-81BD577424AD}"/>
              </a:ext>
            </a:extLst>
          </p:cNvPr>
          <p:cNvSpPr>
            <a:spLocks noGrp="1"/>
          </p:cNvSpPr>
          <p:nvPr>
            <p:ph type="body" idx="3"/>
          </p:nvPr>
        </p:nvSpPr>
        <p:spPr>
          <a:xfrm>
            <a:off x="6355080" y="1824035"/>
            <a:ext cx="5000308" cy="681040"/>
          </a:xfrm>
        </p:spPr>
        <p:txBody>
          <a:bodyPr anchor="b"/>
          <a:lstStyle>
            <a:lvl1pPr marL="0" indent="0">
              <a:buNone/>
              <a:defRPr sz="2400" b="1" i="0" cap="none"/>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38511AB8-302C-476E-B80A-AA739911E304}"/>
              </a:ext>
            </a:extLst>
          </p:cNvPr>
          <p:cNvSpPr>
            <a:spLocks noGrp="1"/>
          </p:cNvSpPr>
          <p:nvPr>
            <p:ph idx="4"/>
          </p:nvPr>
        </p:nvSpPr>
        <p:spPr>
          <a:xfrm>
            <a:off x="6355080" y="2505075"/>
            <a:ext cx="5000308"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A8B47C29-FE34-4E6E-9921-78C54673AAD9}"/>
              </a:ext>
            </a:extLst>
          </p:cNvPr>
          <p:cNvSpPr>
            <a:spLocks noGrp="1"/>
          </p:cNvSpPr>
          <p:nvPr>
            <p:ph type="dt" idx="10"/>
          </p:nvPr>
        </p:nvSpPr>
        <p:spPr/>
        <p:txBody>
          <a:bodyPr/>
          <a:lstStyle/>
          <a:p>
            <a:fld id="{3166E766-EC4A-DE44-BC81-CFB45CAC0AC4}" type="datetime1">
              <a:rPr lang="en-CA" smtClean="0"/>
              <a:t>2026-06-24</a:t>
            </a:fld>
            <a:endParaRPr/>
          </a:p>
        </p:txBody>
      </p:sp>
      <p:sp>
        <p:nvSpPr>
          <p:cNvPr id="8" name="Footer Placeholder 7">
            <a:extLst>
              <a:ext uri="{FF2B5EF4-FFF2-40B4-BE49-F238E27FC236}">
                <a16:creationId xmlns:a16="http://schemas.microsoft.com/office/drawing/2014/main" id="{3CF6B420-A9CE-4BB6-A653-5C3ABC7D677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B21DF8FE-1179-4798-B16D-AF1DFA266D4D}"/>
              </a:ext>
            </a:extLst>
          </p:cNvPr>
          <p:cNvSpPr>
            <a:spLocks noGrp="1"/>
          </p:cNvSpPr>
          <p:nvPr>
            <p:ph type="sldNum" idx="12"/>
          </p:nvPr>
        </p:nvSpPr>
        <p:spPr/>
        <p:txBody>
          <a:bodyPr/>
          <a:lstStyle/>
          <a:p>
            <a:fld id="{3109D357-8067-4A1F-97B2-93C5160B78D9}"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6F1A-0A68-4048-808F-CD7A9F3B0846}"/>
              </a:ext>
            </a:extLst>
          </p:cNvPr>
          <p:cNvSpPr>
            <a:spLocks noGrp="1"/>
          </p:cNvSpPr>
          <p:nvPr>
            <p:ph type="title"/>
          </p:nvPr>
        </p:nvSpPr>
        <p:spPr>
          <a:xfrm>
            <a:off x="838200" y="999592"/>
            <a:ext cx="10515600" cy="1573223"/>
          </a:xfrm>
        </p:spPr>
        <p:txBody>
          <a:bodyPr anchor="t"/>
          <a:lstStyle/>
          <a:p>
            <a:r>
              <a:t>Click to edit Master title style</a:t>
            </a:r>
          </a:p>
        </p:txBody>
      </p:sp>
      <p:sp>
        <p:nvSpPr>
          <p:cNvPr id="3" name="Date Placeholder 2">
            <a:extLst>
              <a:ext uri="{FF2B5EF4-FFF2-40B4-BE49-F238E27FC236}">
                <a16:creationId xmlns:a16="http://schemas.microsoft.com/office/drawing/2014/main" id="{28ACB3E6-5365-48F5-8D2A-0B002BA357E3}"/>
              </a:ext>
            </a:extLst>
          </p:cNvPr>
          <p:cNvSpPr>
            <a:spLocks noGrp="1"/>
          </p:cNvSpPr>
          <p:nvPr>
            <p:ph type="dt" idx="10"/>
          </p:nvPr>
        </p:nvSpPr>
        <p:spPr/>
        <p:txBody>
          <a:bodyPr/>
          <a:lstStyle/>
          <a:p>
            <a:fld id="{907FD2D2-79C6-FC46-9070-9D492C21B9D5}" type="datetime1">
              <a:rPr lang="en-CA" smtClean="0"/>
              <a:t>2026-06-24</a:t>
            </a:fld>
            <a:endParaRPr/>
          </a:p>
        </p:txBody>
      </p:sp>
      <p:sp>
        <p:nvSpPr>
          <p:cNvPr id="4" name="Footer Placeholder 3">
            <a:extLst>
              <a:ext uri="{FF2B5EF4-FFF2-40B4-BE49-F238E27FC236}">
                <a16:creationId xmlns:a16="http://schemas.microsoft.com/office/drawing/2014/main" id="{FF7D8EE9-4D97-4B2F-8D38-41CB9EE7745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12C5952-0A27-4FAB-A3FD-12003787676B}"/>
              </a:ext>
            </a:extLst>
          </p:cNvPr>
          <p:cNvSpPr>
            <a:spLocks noGrp="1"/>
          </p:cNvSpPr>
          <p:nvPr>
            <p:ph type="sldNum" idx="12"/>
          </p:nvPr>
        </p:nvSpPr>
        <p:spPr/>
        <p:txBody>
          <a:bodyPr/>
          <a:lstStyle/>
          <a:p>
            <a:fld id="{3109D357-8067-4A1F-97B2-93C5160B78D9}"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08427-909D-4679-9192-BC99557A7D06}"/>
              </a:ext>
            </a:extLst>
          </p:cNvPr>
          <p:cNvSpPr>
            <a:spLocks noGrp="1"/>
          </p:cNvSpPr>
          <p:nvPr>
            <p:ph type="dt" idx="10"/>
          </p:nvPr>
        </p:nvSpPr>
        <p:spPr/>
        <p:txBody>
          <a:bodyPr/>
          <a:lstStyle/>
          <a:p>
            <a:fld id="{9DE01A25-9B04-0744-BC26-042BE3CD6377}" type="datetime1">
              <a:rPr lang="en-CA" smtClean="0"/>
              <a:t>2026-06-24</a:t>
            </a:fld>
            <a:endParaRPr/>
          </a:p>
        </p:txBody>
      </p:sp>
      <p:sp>
        <p:nvSpPr>
          <p:cNvPr id="3" name="Footer Placeholder 2">
            <a:extLst>
              <a:ext uri="{FF2B5EF4-FFF2-40B4-BE49-F238E27FC236}">
                <a16:creationId xmlns:a16="http://schemas.microsoft.com/office/drawing/2014/main" id="{508E39A6-1E09-42B5-85B4-7E8B5AB2AE7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38938940-01DD-4C97-8649-E01C3B0EDF7C}"/>
              </a:ext>
            </a:extLst>
          </p:cNvPr>
          <p:cNvSpPr>
            <a:spLocks noGrp="1"/>
          </p:cNvSpPr>
          <p:nvPr>
            <p:ph type="sldNum" idx="12"/>
          </p:nvPr>
        </p:nvSpPr>
        <p:spPr/>
        <p:txBody>
          <a:bodyPr/>
          <a:lstStyle/>
          <a:p>
            <a:fld id="{3109D357-8067-4A1F-97B2-93C5160B78D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B3D-D568-40B4-A73A-1C8EA9ABB098}"/>
              </a:ext>
            </a:extLst>
          </p:cNvPr>
          <p:cNvSpPr>
            <a:spLocks noGrp="1"/>
          </p:cNvSpPr>
          <p:nvPr>
            <p:ph type="title"/>
          </p:nvPr>
        </p:nvSpPr>
        <p:spPr>
          <a:xfrm>
            <a:off x="839789" y="457200"/>
            <a:ext cx="3691818" cy="17018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8D586EB3-917A-43B7-85BB-D00B5D2F07E4}"/>
              </a:ext>
            </a:extLst>
          </p:cNvPr>
          <p:cNvSpPr>
            <a:spLocks noGrp="1"/>
          </p:cNvSpPr>
          <p:nvPr>
            <p:ph idx="1"/>
          </p:nvPr>
        </p:nvSpPr>
        <p:spPr>
          <a:xfrm>
            <a:off x="5514798" y="987425"/>
            <a:ext cx="5840589" cy="503237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A87AC029-3BC1-4637-A7F9-BC786DC26A38}"/>
              </a:ext>
            </a:extLst>
          </p:cNvPr>
          <p:cNvSpPr>
            <a:spLocks noGrp="1"/>
          </p:cNvSpPr>
          <p:nvPr>
            <p:ph type="body" idx="2"/>
          </p:nvPr>
        </p:nvSpPr>
        <p:spPr>
          <a:xfrm>
            <a:off x="839789" y="2372360"/>
            <a:ext cx="3691817" cy="34966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3190B948-89C5-4AC5-B7A0-17136F5C5A6A}"/>
              </a:ext>
            </a:extLst>
          </p:cNvPr>
          <p:cNvSpPr>
            <a:spLocks noGrp="1"/>
          </p:cNvSpPr>
          <p:nvPr>
            <p:ph type="dt" idx="10"/>
          </p:nvPr>
        </p:nvSpPr>
        <p:spPr/>
        <p:txBody>
          <a:bodyPr/>
          <a:lstStyle/>
          <a:p>
            <a:fld id="{7EA7F224-F459-8E47-B0FA-9C61E5AEB24D}" type="datetime1">
              <a:rPr lang="en-CA" smtClean="0"/>
              <a:t>2026-06-24</a:t>
            </a:fld>
            <a:endParaRPr/>
          </a:p>
        </p:txBody>
      </p:sp>
      <p:sp>
        <p:nvSpPr>
          <p:cNvPr id="6" name="Footer Placeholder 5">
            <a:extLst>
              <a:ext uri="{FF2B5EF4-FFF2-40B4-BE49-F238E27FC236}">
                <a16:creationId xmlns:a16="http://schemas.microsoft.com/office/drawing/2014/main" id="{F3A6C8C5-652F-46CB-BD26-E262B057FA1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7FB50CB-E91F-4B71-81F0-800F2B51A344}"/>
              </a:ext>
            </a:extLst>
          </p:cNvPr>
          <p:cNvSpPr>
            <a:spLocks noGrp="1"/>
          </p:cNvSpPr>
          <p:nvPr>
            <p:ph type="sldNum" idx="12"/>
          </p:nvPr>
        </p:nvSpPr>
        <p:spPr/>
        <p:txBody>
          <a:bodyPr/>
          <a:lstStyle/>
          <a:p>
            <a:fld id="{3109D357-8067-4A1F-97B2-93C5160B78D9}" type="slidenum">
              <a:t>‹#›</a:t>
            </a:fld>
            <a:endParaRPr/>
          </a:p>
        </p:txBody>
      </p:sp>
      <p:sp>
        <p:nvSpPr>
          <p:cNvPr id="8" name="Straight Connector 7">
            <a:extLst>
              <a:ext uri="{FF2B5EF4-FFF2-40B4-BE49-F238E27FC236}">
                <a16:creationId xmlns:a16="http://schemas.microsoft.com/office/drawing/2014/main" id="{A930F62F-0E99-41B7-A794-0659533C5E9D}"/>
              </a:ext>
            </a:extLst>
          </p:cNvPr>
          <p:cNvSpPr>
            <a:spLocks noGrp="1"/>
          </p:cNvSpPr>
          <p:nvPr/>
        </p:nv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941E-6445-4840-81AE-104EF7A4F7E9}"/>
              </a:ext>
            </a:extLst>
          </p:cNvPr>
          <p:cNvSpPr>
            <a:spLocks noGrp="1"/>
          </p:cNvSpPr>
          <p:nvPr>
            <p:ph type="title"/>
          </p:nvPr>
        </p:nvSpPr>
        <p:spPr>
          <a:xfrm>
            <a:off x="839789" y="457200"/>
            <a:ext cx="3696652" cy="17018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B3F8B866-E32B-4AE7-AEF3-6974AE3288F3}"/>
              </a:ext>
            </a:extLst>
          </p:cNvPr>
          <p:cNvSpPr>
            <a:spLocks noGrp="1"/>
          </p:cNvSpPr>
          <p:nvPr>
            <p:ph type="pic" idx="1"/>
          </p:nvPr>
        </p:nvSpPr>
        <p:spPr>
          <a:xfrm>
            <a:off x="5786120" y="838200"/>
            <a:ext cx="560323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a:extLst>
              <a:ext uri="{FF2B5EF4-FFF2-40B4-BE49-F238E27FC236}">
                <a16:creationId xmlns:a16="http://schemas.microsoft.com/office/drawing/2014/main" id="{DE2ABB7A-E157-499A-B224-C2313181F569}"/>
              </a:ext>
            </a:extLst>
          </p:cNvPr>
          <p:cNvSpPr>
            <a:spLocks noGrp="1"/>
          </p:cNvSpPr>
          <p:nvPr>
            <p:ph type="body" idx="2"/>
          </p:nvPr>
        </p:nvSpPr>
        <p:spPr>
          <a:xfrm>
            <a:off x="839789" y="2367280"/>
            <a:ext cx="3696652" cy="35017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EDC77283-E2B8-405E-BB6E-9F121140E506}"/>
              </a:ext>
            </a:extLst>
          </p:cNvPr>
          <p:cNvSpPr>
            <a:spLocks noGrp="1"/>
          </p:cNvSpPr>
          <p:nvPr>
            <p:ph type="dt" idx="10"/>
          </p:nvPr>
        </p:nvSpPr>
        <p:spPr/>
        <p:txBody>
          <a:bodyPr/>
          <a:lstStyle/>
          <a:p>
            <a:fld id="{8026913B-39DC-EC41-B1F1-CEC83F29E754}" type="datetime1">
              <a:rPr lang="en-CA" smtClean="0"/>
              <a:t>2026-06-24</a:t>
            </a:fld>
            <a:endParaRPr/>
          </a:p>
        </p:txBody>
      </p:sp>
      <p:sp>
        <p:nvSpPr>
          <p:cNvPr id="6" name="Footer Placeholder 5">
            <a:extLst>
              <a:ext uri="{FF2B5EF4-FFF2-40B4-BE49-F238E27FC236}">
                <a16:creationId xmlns:a16="http://schemas.microsoft.com/office/drawing/2014/main" id="{F9F21F05-EB94-417F-B19B-96FF3D9ECA4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AB7C3C7-B6DB-4064-8E66-9FB770C888ED}"/>
              </a:ext>
            </a:extLst>
          </p:cNvPr>
          <p:cNvSpPr>
            <a:spLocks noGrp="1"/>
          </p:cNvSpPr>
          <p:nvPr>
            <p:ph type="sldNum" idx="12"/>
          </p:nvPr>
        </p:nvSpPr>
        <p:spPr/>
        <p:txBody>
          <a:bodyPr/>
          <a:lstStyle/>
          <a:p>
            <a:fld id="{3109D357-8067-4A1F-97B2-93C5160B78D9}" type="slidenum">
              <a:t>‹#›</a:t>
            </a:fld>
            <a:endParaRPr/>
          </a:p>
        </p:txBody>
      </p:sp>
      <p:sp>
        <p:nvSpPr>
          <p:cNvPr id="8" name="Straight Connector 7">
            <a:extLst>
              <a:ext uri="{FF2B5EF4-FFF2-40B4-BE49-F238E27FC236}">
                <a16:creationId xmlns:a16="http://schemas.microsoft.com/office/drawing/2014/main" id="{A0ED52F9-E31C-4E4D-97C8-B889D37EA6B1}"/>
              </a:ext>
            </a:extLst>
          </p:cNvPr>
          <p:cNvSpPr>
            <a:spLocks noGrp="1"/>
          </p:cNvSpPr>
          <p:nvPr/>
        </p:nv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6D52-667C-4E67-9038-A0BDFD8CCD0F}"/>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A3E72AC-0272-475A-BD25-2AB7AC1DEFA7}"/>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24CFBFF2-9ECB-4CDD-87FA-9DD1F87BFDE9}"/>
              </a:ext>
            </a:extLst>
          </p:cNvPr>
          <p:cNvSpPr>
            <a:spLocks noGrp="1"/>
          </p:cNvSpPr>
          <p:nvPr>
            <p:ph type="dt" idx="10"/>
          </p:nvPr>
        </p:nvSpPr>
        <p:spPr/>
        <p:txBody>
          <a:bodyPr/>
          <a:lstStyle/>
          <a:p>
            <a:fld id="{9B9AB90F-C180-8B46-8BE4-BC2468C15349}" type="datetime1">
              <a:rPr lang="en-CA" smtClean="0"/>
              <a:t>2026-06-24</a:t>
            </a:fld>
            <a:endParaRPr/>
          </a:p>
        </p:txBody>
      </p:sp>
      <p:sp>
        <p:nvSpPr>
          <p:cNvPr id="5" name="Footer Placeholder 4">
            <a:extLst>
              <a:ext uri="{FF2B5EF4-FFF2-40B4-BE49-F238E27FC236}">
                <a16:creationId xmlns:a16="http://schemas.microsoft.com/office/drawing/2014/main" id="{40AC12B3-DAF5-4BA7-A3A6-D0284716DB8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DF171AE-4A11-4035-A072-9AC4053FFA85}"/>
              </a:ext>
            </a:extLst>
          </p:cNvPr>
          <p:cNvSpPr>
            <a:spLocks noGrp="1"/>
          </p:cNvSpPr>
          <p:nvPr>
            <p:ph type="sldNum" idx="12"/>
          </p:nvPr>
        </p:nvSpPr>
        <p:spPr/>
        <p:txBody>
          <a:bodyPr/>
          <a:lstStyle/>
          <a:p>
            <a:fld id="{3109D357-8067-4A1F-97B2-93C5160B78D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2E95-2F50-48D3-B00E-4C259644E72E}"/>
              </a:ext>
            </a:extLst>
          </p:cNvPr>
          <p:cNvSpPr>
            <a:spLocks noGrp="1"/>
          </p:cNvSpPr>
          <p:nvPr>
            <p:ph type="title"/>
          </p:nvPr>
        </p:nvSpPr>
        <p:spPr>
          <a:xfrm>
            <a:off x="9050174" y="838199"/>
            <a:ext cx="2303626" cy="5338763"/>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2617C9B-4E02-49C8-B6DF-65ED3C990343}"/>
              </a:ext>
            </a:extLst>
          </p:cNvPr>
          <p:cNvSpPr>
            <a:spLocks noGrp="1"/>
          </p:cNvSpPr>
          <p:nvPr>
            <p:ph type="body" idx="1"/>
          </p:nvPr>
        </p:nvSpPr>
        <p:spPr>
          <a:xfrm>
            <a:off x="838200" y="838199"/>
            <a:ext cx="7734300" cy="5338763"/>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58ECA10C-AC31-4D80-B78F-08E48CDCB7F2}"/>
              </a:ext>
            </a:extLst>
          </p:cNvPr>
          <p:cNvSpPr>
            <a:spLocks noGrp="1"/>
          </p:cNvSpPr>
          <p:nvPr>
            <p:ph type="dt" idx="10"/>
          </p:nvPr>
        </p:nvSpPr>
        <p:spPr/>
        <p:txBody>
          <a:bodyPr/>
          <a:lstStyle/>
          <a:p>
            <a:fld id="{D21249B4-F37C-E84E-BBC2-87801180A6B3}" type="datetime1">
              <a:rPr lang="en-CA" smtClean="0"/>
              <a:t>2026-06-24</a:t>
            </a:fld>
            <a:endParaRPr/>
          </a:p>
        </p:txBody>
      </p:sp>
      <p:sp>
        <p:nvSpPr>
          <p:cNvPr id="5" name="Footer Placeholder 4">
            <a:extLst>
              <a:ext uri="{FF2B5EF4-FFF2-40B4-BE49-F238E27FC236}">
                <a16:creationId xmlns:a16="http://schemas.microsoft.com/office/drawing/2014/main" id="{19AAB5B7-F312-4BC9-A5D3-72E065D1B9F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FC2E489-5442-4698-B6E3-3421A97C2834}"/>
              </a:ext>
            </a:extLst>
          </p:cNvPr>
          <p:cNvSpPr>
            <a:spLocks noGrp="1"/>
          </p:cNvSpPr>
          <p:nvPr>
            <p:ph type="sldNum" idx="12"/>
          </p:nvPr>
        </p:nvSpPr>
        <p:spPr/>
        <p:txBody>
          <a:bodyPr/>
          <a:lstStyle/>
          <a:p>
            <a:fld id="{3109D357-8067-4A1F-97B2-93C5160B78D9}" type="slidenum">
              <a:t>‹#›</a:t>
            </a:fld>
            <a:endParaRPr/>
          </a:p>
        </p:txBody>
      </p:sp>
      <p:sp>
        <p:nvSpPr>
          <p:cNvPr id="7" name="Straight Connector 6">
            <a:extLst>
              <a:ext uri="{FF2B5EF4-FFF2-40B4-BE49-F238E27FC236}">
                <a16:creationId xmlns:a16="http://schemas.microsoft.com/office/drawing/2014/main" id="{73C99D36-0B93-4ADE-AC0F-FEAA9825CF0F}"/>
              </a:ext>
            </a:extLst>
          </p:cNvPr>
          <p:cNvSpPr>
            <a:spLocks noGrp="1"/>
          </p:cNvSpPr>
          <p:nvPr/>
        </p:nvSpPr>
        <p:spPr>
          <a:xfrm>
            <a:off x="881133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anchor="b">
            <a:normAutofit/>
          </a:bodyPr>
          <a:lstStyle/>
          <a:p>
            <a:r>
              <a:t>Click to edit Master title style</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idx="2"/>
          </p:nvPr>
        </p:nvSpPr>
        <p:spPr>
          <a:xfrm rot="5400000">
            <a:off x="10425981" y="4687095"/>
            <a:ext cx="2706690" cy="365125"/>
          </a:xfrm>
          <a:prstGeom prst="rect">
            <a:avLst/>
          </a:prstGeom>
        </p:spPr>
        <p:txBody>
          <a:bodyPr vert="horz" lIns="91440" tIns="45720" rIns="91440" bIns="45720" anchor="ctr"/>
          <a:lstStyle>
            <a:lvl1pPr algn="r">
              <a:buNone/>
              <a:defRPr sz="1000">
                <a:solidFill>
                  <a:schemeClr val="tx1"/>
                </a:solidFill>
              </a:defRPr>
            </a:lvl1pPr>
          </a:lstStyle>
          <a:p>
            <a:fld id="{611F190F-C411-9E4E-94EF-B7CBA9F4F563}" type="datetime1">
              <a:rPr lang="en-CA" smtClean="0"/>
              <a:t>2026-06-24</a:t>
            </a:fld>
            <a:endParaRP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idx="3"/>
          </p:nvPr>
        </p:nvSpPr>
        <p:spPr>
          <a:xfrm rot="5400000">
            <a:off x="-1131161" y="1592957"/>
            <a:ext cx="2973522" cy="365125"/>
          </a:xfrm>
          <a:prstGeom prst="rect">
            <a:avLst/>
          </a:prstGeom>
        </p:spPr>
        <p:txBody>
          <a:bodyPr vert="horz" lIns="91440" tIns="45720" rIns="91440" bIns="45720" anchor="ctr"/>
          <a:lstStyle>
            <a:lvl1pPr algn="l">
              <a:buNone/>
              <a:defRPr sz="1000">
                <a:solidFill>
                  <a:schemeClr val="tx1"/>
                </a:solidFill>
              </a:defRPr>
            </a:lvl1pPr>
          </a:lstStyle>
          <a:p>
            <a:endParaRPr/>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idx="4"/>
          </p:nvPr>
        </p:nvSpPr>
        <p:spPr>
          <a:xfrm>
            <a:off x="11512296" y="6356350"/>
            <a:ext cx="574620" cy="365125"/>
          </a:xfrm>
          <a:prstGeom prst="rect">
            <a:avLst/>
          </a:prstGeom>
        </p:spPr>
        <p:txBody>
          <a:bodyPr vert="horz" lIns="91440" tIns="45720" rIns="91440" bIns="45720" anchor="ctr"/>
          <a:lstStyle>
            <a:lvl1pPr algn="ctr">
              <a:buNone/>
              <a:defRPr sz="1000">
                <a:solidFill>
                  <a:schemeClr val="tx1"/>
                </a:solidFill>
              </a:defRPr>
            </a:lvl1pPr>
          </a:lstStyle>
          <a:p>
            <a:fld id="{3109D357-8067-4A1F-97B2-93C5160B78D9}" type="slidenum">
              <a:t>‹#›</a:t>
            </a:fld>
            <a:endParaRPr/>
          </a:p>
        </p:txBody>
      </p:sp>
      <p:sp>
        <p:nvSpPr>
          <p:cNvPr id="13" name="Straight Connector 12">
            <a:extLst>
              <a:ext uri="{FF2B5EF4-FFF2-40B4-BE49-F238E27FC236}">
                <a16:creationId xmlns:a16="http://schemas.microsoft.com/office/drawing/2014/main" id="{E72BE23E-AB6F-4538-96E8-E0207C725953}"/>
              </a:ext>
            </a:extLst>
          </p:cNvPr>
          <p:cNvSpPr>
            <a:spLocks noGrp="1"/>
          </p:cNvSpPr>
          <p:nvPr/>
        </p:nv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110000"/>
        </a:lnSpc>
        <a:spcBef>
          <a:spcPts val="1000"/>
        </a:spcBef>
        <a:buChar char="•"/>
        <a:defRPr sz="2000">
          <a:solidFill>
            <a:schemeClr val="tx1"/>
          </a:solidFill>
          <a:latin typeface="+mn-lt"/>
          <a:ea typeface="+mn-lt"/>
          <a:cs typeface="+mn-lt"/>
        </a:defRPr>
      </a:lvl1pPr>
      <a:lvl2pPr marL="502920" indent="-228600" algn="l">
        <a:lnSpc>
          <a:spcPct val="110000"/>
        </a:lnSpc>
        <a:spcBef>
          <a:spcPts val="500"/>
        </a:spcBef>
        <a:buChar char="–"/>
        <a:defRPr sz="1800" i="1">
          <a:solidFill>
            <a:schemeClr val="tx1"/>
          </a:solidFill>
          <a:latin typeface="+mn-lt"/>
          <a:ea typeface="+mn-lt"/>
          <a:cs typeface="+mn-lt"/>
        </a:defRPr>
      </a:lvl2pPr>
      <a:lvl3pPr marL="822960" indent="-228600" algn="l">
        <a:lnSpc>
          <a:spcPct val="110000"/>
        </a:lnSpc>
        <a:spcBef>
          <a:spcPts val="500"/>
        </a:spcBef>
        <a:buChar char="•"/>
        <a:defRPr sz="1600">
          <a:solidFill>
            <a:schemeClr val="tx1"/>
          </a:solidFill>
          <a:latin typeface="+mn-lt"/>
          <a:ea typeface="+mn-lt"/>
          <a:cs typeface="+mn-lt"/>
        </a:defRPr>
      </a:lvl3pPr>
      <a:lvl4pPr marL="1097280" indent="-228600" algn="l">
        <a:lnSpc>
          <a:spcPct val="110000"/>
        </a:lnSpc>
        <a:spcBef>
          <a:spcPts val="500"/>
        </a:spcBef>
        <a:buChar char="–"/>
        <a:defRPr sz="1400" i="1">
          <a:solidFill>
            <a:schemeClr val="tx1"/>
          </a:solidFill>
          <a:latin typeface="+mn-lt"/>
          <a:ea typeface="+mn-lt"/>
          <a:cs typeface="+mn-lt"/>
        </a:defRPr>
      </a:lvl4pPr>
      <a:lvl5pPr marL="1371600" indent="-228600" algn="l">
        <a:lnSpc>
          <a:spcPct val="110000"/>
        </a:lnSpc>
        <a:spcBef>
          <a:spcPts val="500"/>
        </a:spcBef>
        <a:buChar char="•"/>
        <a:defRPr sz="14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BD1F9-3A36-D236-4636-674395E2227B}"/>
              </a:ext>
            </a:extLst>
          </p:cNvPr>
          <p:cNvSpPr>
            <a:spLocks noGrp="1"/>
          </p:cNvSpPr>
          <p:nvPr>
            <p:ph type="ctrTitle"/>
          </p:nvPr>
        </p:nvSpPr>
        <p:spPr>
          <a:xfrm>
            <a:off x="1251082" y="4523239"/>
            <a:ext cx="9689834" cy="1125050"/>
          </a:xfrm>
        </p:spPr>
        <p:txBody>
          <a:bodyPr anchor="b">
            <a:normAutofit fontScale="90000"/>
          </a:bodyPr>
          <a:lstStyle/>
          <a:p>
            <a:pPr algn="ctr">
              <a:defRPr sz="2175" b="0">
                <a:solidFill>
                  <a:srgbClr val="111111"/>
                </a:solidFill>
                <a:latin typeface="Arial"/>
                <a:ea typeface="Arial"/>
                <a:cs typeface="Arial"/>
              </a:defRPr>
            </a:pPr>
            <a:r>
              <a:rPr lang="en-CA" sz="3200" dirty="0">
                <a:latin typeface="Times New Roman" panose="02020603050405020304" pitchFamily="18" charset="0"/>
                <a:cs typeface="Times New Roman" panose="02020603050405020304" pitchFamily="18" charset="0"/>
              </a:rPr>
              <a:t>ChaosArena: </a:t>
            </a:r>
            <a:r>
              <a:rPr lang="en-CA" sz="3200" dirty="0">
                <a:solidFill>
                  <a:srgbClr val="111111"/>
                </a:solidFill>
                <a:latin typeface="Times New Roman" panose="02020603050405020304" pitchFamily="18" charset="0"/>
                <a:ea typeface="Arial"/>
                <a:cs typeface="Times New Roman" panose="02020603050405020304" pitchFamily="18" charset="0"/>
              </a:rPr>
              <a:t>Multi-Agent Concurrency Testing of REST APIs</a:t>
            </a:r>
            <a:br>
              <a:rPr lang="en-CA" sz="3200" dirty="0">
                <a:solidFill>
                  <a:srgbClr val="111111"/>
                </a:solidFill>
                <a:latin typeface="Times New Roman" panose="02020603050405020304" pitchFamily="18" charset="0"/>
                <a:ea typeface="Arial"/>
                <a:cs typeface="Times New Roman" panose="02020603050405020304" pitchFamily="18" charset="0"/>
              </a:rPr>
            </a:br>
            <a:r>
              <a:rPr lang="en-CA" sz="3200" dirty="0">
                <a:solidFill>
                  <a:srgbClr val="111111"/>
                </a:solidFill>
                <a:latin typeface="Times New Roman" panose="02020603050405020304" pitchFamily="18" charset="0"/>
                <a:ea typeface="Arial"/>
                <a:cs typeface="Times New Roman" panose="02020603050405020304" pitchFamily="18" charset="0"/>
              </a:rPr>
              <a:t>from Natural-Language Specifications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A3876C7-2BF7-E62D-2C66-59D507EB4E0F}"/>
              </a:ext>
            </a:extLst>
          </p:cNvPr>
          <p:cNvSpPr>
            <a:spLocks noGrp="1"/>
          </p:cNvSpPr>
          <p:nvPr>
            <p:ph type="subTitle" idx="1"/>
          </p:nvPr>
        </p:nvSpPr>
        <p:spPr>
          <a:xfrm>
            <a:off x="1938997" y="5866227"/>
            <a:ext cx="8314005" cy="696351"/>
          </a:xfrm>
        </p:spPr>
        <p:txBody>
          <a:bodyPr>
            <a:normAutofit/>
          </a:bodyPr>
          <a:lstStyle/>
          <a:p>
            <a:pPr algn="ctr"/>
            <a:r>
              <a:rPr lang="en-CA" dirty="0"/>
              <a:t>Hao Wu · Master's Project · Advised by Yvonne Coady</a:t>
            </a:r>
            <a:endParaRPr lang="en-US" dirty="0"/>
          </a:p>
        </p:txBody>
      </p:sp>
      <p:pic>
        <p:nvPicPr>
          <p:cNvPr id="4" name="Picture 3">
            <a:extLst>
              <a:ext uri="{FF2B5EF4-FFF2-40B4-BE49-F238E27FC236}">
                <a16:creationId xmlns:a16="http://schemas.microsoft.com/office/drawing/2014/main" id="{E2B5EB24-203A-C4AB-2E86-A57784A8FCB6}"/>
              </a:ext>
            </a:extLst>
          </p:cNvPr>
          <p:cNvPicPr>
            <a:picLocks noChangeAspect="1"/>
          </p:cNvPicPr>
          <p:nvPr/>
        </p:nvPicPr>
        <p:blipFill>
          <a:blip r:embed="rId3"/>
          <a:srcRect t="44863" b="10996"/>
          <a:stretch>
            <a:fillRect/>
          </a:stretch>
        </p:blipFill>
        <p:spPr>
          <a:xfrm>
            <a:off x="20" y="1"/>
            <a:ext cx="12191980" cy="4305300"/>
          </a:xfrm>
          <a:prstGeom prst="rect">
            <a:avLst/>
          </a:prstGeom>
        </p:spPr>
      </p:pic>
      <p:sp>
        <p:nvSpPr>
          <p:cNvPr id="5" name="Slide Number Placeholder 4">
            <a:extLst>
              <a:ext uri="{FF2B5EF4-FFF2-40B4-BE49-F238E27FC236}">
                <a16:creationId xmlns:a16="http://schemas.microsoft.com/office/drawing/2014/main" id="{99883E8B-1407-A19A-C92E-B22689C0CEEA}"/>
              </a:ext>
            </a:extLst>
          </p:cNvPr>
          <p:cNvSpPr>
            <a:spLocks noGrp="1"/>
          </p:cNvSpPr>
          <p:nvPr>
            <p:ph type="sldNum" idx="12"/>
          </p:nvPr>
        </p:nvSpPr>
        <p:spPr/>
        <p:txBody>
          <a:bodyPr/>
          <a:lstStyle/>
          <a:p>
            <a:fld id="{3109D357-8067-4A1F-97B2-93C5160B78D9}" type="slidenum">
              <a:rPr lang="en-CA" smtClean="0"/>
              <a:t>1</a:t>
            </a:fld>
            <a:endParaRPr lang="en-CA"/>
          </a:p>
        </p:txBody>
      </p:sp>
    </p:spTree>
    <p:extLst>
      <p:ext uri="{BB962C8B-B14F-4D97-AF65-F5344CB8AC3E}">
        <p14:creationId xmlns:p14="http://schemas.microsoft.com/office/powerpoint/2010/main" val="1627659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2EA8F-0EBA-8F92-2F21-28A3D60D25AC}"/>
              </a:ext>
            </a:extLst>
          </p:cNvPr>
          <p:cNvSpPr>
            <a:spLocks noGrp="1"/>
          </p:cNvSpPr>
          <p:nvPr>
            <p:ph type="title"/>
          </p:nvPr>
        </p:nvSpPr>
        <p:spPr>
          <a:xfrm>
            <a:off x="320407" y="284464"/>
            <a:ext cx="5775593" cy="574193"/>
          </a:xfrm>
        </p:spPr>
        <p:txBody>
          <a:bodyPr>
            <a:normAutofit/>
          </a:bodyPr>
          <a:lstStyle/>
          <a:p>
            <a:r>
              <a:rPr lang="en-US" sz="3000" b="1" dirty="0">
                <a:latin typeface="Times New Roman" panose="02020603050405020304" pitchFamily="18" charset="0"/>
                <a:cs typeface="Times New Roman" panose="02020603050405020304" pitchFamily="18" charset="0"/>
              </a:rPr>
              <a:t>Where this comes from?</a:t>
            </a:r>
          </a:p>
        </p:txBody>
      </p:sp>
      <p:sp>
        <p:nvSpPr>
          <p:cNvPr id="3" name="Content Placeholder 2">
            <a:extLst>
              <a:ext uri="{FF2B5EF4-FFF2-40B4-BE49-F238E27FC236}">
                <a16:creationId xmlns:a16="http://schemas.microsoft.com/office/drawing/2014/main" id="{FE70307D-2815-400E-96A5-F35ACAD4001B}"/>
              </a:ext>
            </a:extLst>
          </p:cNvPr>
          <p:cNvSpPr>
            <a:spLocks noGrp="1"/>
          </p:cNvSpPr>
          <p:nvPr>
            <p:ph idx="1"/>
          </p:nvPr>
        </p:nvSpPr>
        <p:spPr>
          <a:xfrm>
            <a:off x="320407" y="1520327"/>
            <a:ext cx="6598186" cy="5221993"/>
          </a:xfrm>
        </p:spPr>
        <p:txBody>
          <a:bodyPr>
            <a:noAutofit/>
          </a:bodyPr>
          <a:lstStyle/>
          <a:p>
            <a:pPr marL="0" indent="0">
              <a:buNone/>
            </a:pPr>
            <a:r>
              <a:rPr lang="en-CA" sz="1600" dirty="0">
                <a:latin typeface="Times New Roman" panose="02020603050405020304" pitchFamily="18" charset="0"/>
                <a:cs typeface="Times New Roman" panose="02020603050405020304" pitchFamily="18" charset="0"/>
              </a:rPr>
              <a:t>Origin: CS 6650 Building Scalable Distributed Systems</a:t>
            </a:r>
          </a:p>
          <a:p>
            <a:pPr marL="0" indent="0">
              <a:buNone/>
            </a:pPr>
            <a:r>
              <a:rPr lang="en-CA" sz="1800" b="1" dirty="0">
                <a:latin typeface="Times New Roman" panose="02020603050405020304" pitchFamily="18" charset="0"/>
                <a:cs typeface="Times New Roman" panose="02020603050405020304" pitchFamily="18" charset="0"/>
              </a:rPr>
              <a:t>Patterns we observed:</a:t>
            </a:r>
          </a:p>
          <a:p>
            <a:r>
              <a:rPr lang="en-CA" sz="1600" dirty="0">
                <a:solidFill>
                  <a:schemeClr val="bg1">
                    <a:lumMod val="50000"/>
                  </a:schemeClr>
                </a:solidFill>
                <a:latin typeface="Times New Roman" panose="02020603050405020304" pitchFamily="18" charset="0"/>
                <a:cs typeface="Times New Roman" panose="02020603050405020304" pitchFamily="18" charset="0"/>
              </a:rPr>
              <a:t>Many paste assignment into Claude, generate, submit</a:t>
            </a:r>
          </a:p>
          <a:p>
            <a:r>
              <a:rPr lang="en-CA" sz="1600" dirty="0">
                <a:solidFill>
                  <a:schemeClr val="bg1">
                    <a:lumMod val="50000"/>
                  </a:schemeClr>
                </a:solidFill>
                <a:latin typeface="Times New Roman" panose="02020603050405020304" pitchFamily="18" charset="0"/>
                <a:cs typeface="Times New Roman" panose="02020603050405020304" pitchFamily="18" charset="0"/>
              </a:rPr>
              <a:t>Systems failed silently. Didn’t know what happen.</a:t>
            </a:r>
          </a:p>
          <a:p>
            <a:pPr marL="0" indent="0">
              <a:buNone/>
            </a:pPr>
            <a:r>
              <a:rPr lang="en-CA" sz="1800" b="1" dirty="0">
                <a:latin typeface="Times New Roman" panose="02020603050405020304" pitchFamily="18" charset="0"/>
                <a:cs typeface="Times New Roman" panose="02020603050405020304" pitchFamily="18" charset="0"/>
              </a:rPr>
              <a:t>To push back, we built </a:t>
            </a:r>
            <a:r>
              <a:rPr lang="en-CA" sz="1800" b="1" dirty="0" err="1">
                <a:latin typeface="Times New Roman" panose="02020603050405020304" pitchFamily="18" charset="0"/>
                <a:cs typeface="Times New Roman" panose="02020603050405020304" pitchFamily="18" charset="0"/>
              </a:rPr>
              <a:t>ChaosArena</a:t>
            </a:r>
            <a:r>
              <a:rPr lang="en-CA" sz="1800" b="1" dirty="0">
                <a:latin typeface="Times New Roman" panose="02020603050405020304" pitchFamily="18" charset="0"/>
                <a:cs typeface="Times New Roman" panose="02020603050405020304" pitchFamily="18" charset="0"/>
              </a:rPr>
              <a:t> v1:</a:t>
            </a:r>
          </a:p>
          <a:p>
            <a:r>
              <a:rPr lang="en-CA" sz="1600" dirty="0">
                <a:solidFill>
                  <a:schemeClr val="bg1">
                    <a:lumMod val="50000"/>
                  </a:schemeClr>
                </a:solidFill>
                <a:latin typeface="Times New Roman" panose="02020603050405020304" pitchFamily="18" charset="0"/>
                <a:cs typeface="Times New Roman" panose="02020603050405020304" pitchFamily="18" charset="0"/>
              </a:rPr>
              <a:t>Black-box probe</a:t>
            </a:r>
          </a:p>
          <a:p>
            <a:r>
              <a:rPr lang="en-CA" sz="1600" dirty="0">
                <a:solidFill>
                  <a:schemeClr val="bg1">
                    <a:lumMod val="50000"/>
                  </a:schemeClr>
                </a:solidFill>
                <a:latin typeface="Times New Roman" panose="02020603050405020304" pitchFamily="18" charset="0"/>
                <a:cs typeface="Times New Roman" panose="02020603050405020304" pitchFamily="18" charset="0"/>
              </a:rPr>
              <a:t>Tests reliability + race conditions on a deployed service</a:t>
            </a:r>
          </a:p>
          <a:p>
            <a:r>
              <a:rPr lang="en-CA" sz="1600" dirty="0">
                <a:solidFill>
                  <a:schemeClr val="bg1">
                    <a:lumMod val="50000"/>
                  </a:schemeClr>
                </a:solidFill>
                <a:latin typeface="Times New Roman" panose="02020603050405020304" pitchFamily="18" charset="0"/>
                <a:cs typeface="Times New Roman" panose="02020603050405020304" pitchFamily="18" charset="0"/>
              </a:rPr>
              <a:t>Simple target: an Album Store (get/add/delete photo)</a:t>
            </a:r>
          </a:p>
          <a:p>
            <a:pPr marL="0" indent="0">
              <a:buNone/>
            </a:pPr>
            <a:r>
              <a:rPr lang="en-CA" sz="1800" b="1" dirty="0">
                <a:latin typeface="Times New Roman" panose="02020603050405020304" pitchFamily="18" charset="0"/>
                <a:cs typeface="Times New Roman" panose="02020603050405020304" pitchFamily="18" charset="0"/>
              </a:rPr>
              <a:t>Results over the semester:</a:t>
            </a:r>
          </a:p>
          <a:p>
            <a:r>
              <a:rPr lang="en-CA" sz="1600" dirty="0">
                <a:solidFill>
                  <a:schemeClr val="bg1">
                    <a:lumMod val="50000"/>
                  </a:schemeClr>
                </a:solidFill>
                <a:latin typeface="Times New Roman" panose="02020603050405020304" pitchFamily="18" charset="0"/>
                <a:cs typeface="Times New Roman" panose="02020603050405020304" pitchFamily="18" charset="0"/>
              </a:rPr>
              <a:t>~120 students</a:t>
            </a:r>
          </a:p>
          <a:p>
            <a:r>
              <a:rPr lang="en-CA" sz="1600" dirty="0">
                <a:solidFill>
                  <a:schemeClr val="bg1">
                    <a:lumMod val="50000"/>
                  </a:schemeClr>
                </a:solidFill>
                <a:latin typeface="Times New Roman" panose="02020603050405020304" pitchFamily="18" charset="0"/>
                <a:cs typeface="Times New Roman" panose="02020603050405020304" pitchFamily="18" charset="0"/>
              </a:rPr>
              <a:t>Average 18 evaluation runs per student</a:t>
            </a:r>
          </a:p>
          <a:p>
            <a:r>
              <a:rPr lang="en-CA" sz="1600" b="1" dirty="0">
                <a:solidFill>
                  <a:schemeClr val="bg1">
                    <a:lumMod val="50000"/>
                  </a:schemeClr>
                </a:solidFill>
                <a:latin typeface="Times New Roman" panose="02020603050405020304" pitchFamily="18" charset="0"/>
                <a:cs typeface="Times New Roman" panose="02020603050405020304" pitchFamily="18" charset="0"/>
              </a:rPr>
              <a:t>ZERO</a:t>
            </a:r>
            <a:r>
              <a:rPr lang="en-CA" sz="1600" dirty="0">
                <a:solidFill>
                  <a:schemeClr val="bg1">
                    <a:lumMod val="50000"/>
                  </a:schemeClr>
                </a:solidFill>
                <a:latin typeface="Times New Roman" panose="02020603050405020304" pitchFamily="18" charset="0"/>
                <a:cs typeface="Times New Roman" panose="02020603050405020304" pitchFamily="18" charset="0"/>
              </a:rPr>
              <a:t> passed on first submission</a:t>
            </a:r>
            <a:endParaRPr lang="en-US" sz="16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55CD2936-72F6-EFBF-967A-048E1ADEC9B1}"/>
              </a:ext>
            </a:extLst>
          </p:cNvPr>
          <p:cNvSpPr txBox="1">
            <a:spLocks/>
          </p:cNvSpPr>
          <p:nvPr/>
        </p:nvSpPr>
        <p:spPr>
          <a:xfrm>
            <a:off x="320407" y="797406"/>
            <a:ext cx="5775593" cy="574193"/>
          </a:xfrm>
          <a:prstGeom prst="rect">
            <a:avLst/>
          </a:prstGeom>
        </p:spPr>
        <p:txBody>
          <a:bodyPr vert="horz" lIns="91440" tIns="45720" rIns="91440" bIns="45720" rtlCol="0" anchor="b">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dirty="0">
                <a:solidFill>
                  <a:schemeClr val="bg1">
                    <a:lumMod val="50000"/>
                  </a:schemeClr>
                </a:solidFill>
                <a:latin typeface="Times New Roman" panose="02020603050405020304" pitchFamily="18" charset="0"/>
                <a:cs typeface="Times New Roman" panose="02020603050405020304" pitchFamily="18" charset="0"/>
              </a:rPr>
              <a:t>AI-coauthored code does NOT just work</a:t>
            </a:r>
            <a:endParaRPr lang="en-US" sz="1800" b="1" dirty="0">
              <a:solidFill>
                <a:schemeClr val="bg1">
                  <a:lumMod val="50000"/>
                </a:schemeClr>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19955587-26EB-A6E9-0B95-D15562247D35}"/>
              </a:ext>
            </a:extLst>
          </p:cNvPr>
          <p:cNvCxnSpPr/>
          <p:nvPr/>
        </p:nvCxnSpPr>
        <p:spPr>
          <a:xfrm>
            <a:off x="0" y="1432193"/>
            <a:ext cx="12192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80A3360-12A5-AA02-C5A7-D6D5D41E4477}"/>
              </a:ext>
            </a:extLst>
          </p:cNvPr>
          <p:cNvPicPr>
            <a:picLocks noChangeAspect="1"/>
          </p:cNvPicPr>
          <p:nvPr/>
        </p:nvPicPr>
        <p:blipFill>
          <a:blip r:embed="rId3"/>
          <a:srcRect r="51404"/>
          <a:stretch>
            <a:fillRect/>
          </a:stretch>
        </p:blipFill>
        <p:spPr>
          <a:xfrm>
            <a:off x="6165668" y="1945135"/>
            <a:ext cx="5862679" cy="4249088"/>
          </a:xfrm>
          <a:prstGeom prst="rect">
            <a:avLst/>
          </a:prstGeom>
        </p:spPr>
      </p:pic>
      <p:sp>
        <p:nvSpPr>
          <p:cNvPr id="5" name="Slide Number Placeholder 4">
            <a:extLst>
              <a:ext uri="{FF2B5EF4-FFF2-40B4-BE49-F238E27FC236}">
                <a16:creationId xmlns:a16="http://schemas.microsoft.com/office/drawing/2014/main" id="{61D777F8-DC6E-3896-0DF1-B272DDD1617A}"/>
              </a:ext>
            </a:extLst>
          </p:cNvPr>
          <p:cNvSpPr>
            <a:spLocks noGrp="1"/>
          </p:cNvSpPr>
          <p:nvPr>
            <p:ph type="sldNum" idx="12"/>
          </p:nvPr>
        </p:nvSpPr>
        <p:spPr/>
        <p:txBody>
          <a:bodyPr/>
          <a:lstStyle/>
          <a:p>
            <a:fld id="{3109D357-8067-4A1F-97B2-93C5160B78D9}" type="slidenum">
              <a:rPr lang="en-CA" smtClean="0"/>
              <a:t>2</a:t>
            </a:fld>
            <a:endParaRPr lang="en-CA"/>
          </a:p>
        </p:txBody>
      </p:sp>
    </p:spTree>
    <p:extLst>
      <p:ext uri="{BB962C8B-B14F-4D97-AF65-F5344CB8AC3E}">
        <p14:creationId xmlns:p14="http://schemas.microsoft.com/office/powerpoint/2010/main" val="212525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BCA66-A7DC-3362-7D4D-83B1F31822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F54F2-22FB-2E82-C2A2-993486A1ADE2}"/>
              </a:ext>
            </a:extLst>
          </p:cNvPr>
          <p:cNvSpPr>
            <a:spLocks noGrp="1"/>
          </p:cNvSpPr>
          <p:nvPr>
            <p:ph type="title"/>
          </p:nvPr>
        </p:nvSpPr>
        <p:spPr>
          <a:xfrm>
            <a:off x="320407" y="284464"/>
            <a:ext cx="5775593" cy="574193"/>
          </a:xfrm>
        </p:spPr>
        <p:txBody>
          <a:bodyPr>
            <a:normAutofit/>
          </a:bodyPr>
          <a:lstStyle/>
          <a:p>
            <a:r>
              <a:rPr lang="en-US" sz="3000" b="1" dirty="0">
                <a:latin typeface="Times New Roman" panose="02020603050405020304" pitchFamily="18" charset="0"/>
                <a:cs typeface="Times New Roman" panose="02020603050405020304" pitchFamily="18" charset="0"/>
              </a:rPr>
              <a:t>Recap: OLD </a:t>
            </a:r>
            <a:r>
              <a:rPr lang="en-US" sz="3000" b="1" dirty="0" err="1">
                <a:latin typeface="Times New Roman" panose="02020603050405020304" pitchFamily="18" charset="0"/>
                <a:cs typeface="Times New Roman" panose="02020603050405020304" pitchFamily="18" charset="0"/>
              </a:rPr>
              <a:t>ChaosArena</a:t>
            </a:r>
            <a:endParaRPr lang="en-US" sz="3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BDC9D39-F426-F9E2-1A25-28D4ADD0266C}"/>
              </a:ext>
            </a:extLst>
          </p:cNvPr>
          <p:cNvSpPr>
            <a:spLocks noGrp="1"/>
          </p:cNvSpPr>
          <p:nvPr>
            <p:ph idx="1"/>
          </p:nvPr>
        </p:nvSpPr>
        <p:spPr>
          <a:xfrm>
            <a:off x="1154801" y="5061631"/>
            <a:ext cx="4379566" cy="1480122"/>
          </a:xfrm>
        </p:spPr>
        <p:txBody>
          <a:bodyPr>
            <a:noAutofit/>
          </a:bodyPr>
          <a:lstStyle/>
          <a:p>
            <a:pPr marL="0" indent="0">
              <a:buNone/>
            </a:pPr>
            <a:r>
              <a:rPr lang="en-CA" sz="1800" b="1" dirty="0">
                <a:latin typeface="Times New Roman" panose="02020603050405020304" pitchFamily="18" charset="0"/>
                <a:cs typeface="Times New Roman" panose="02020603050405020304" pitchFamily="18" charset="0"/>
              </a:rPr>
              <a:t>What Works</a:t>
            </a:r>
            <a:r>
              <a:rPr lang="en-US" sz="1800" b="1" dirty="0">
                <a:latin typeface="Times New Roman" panose="02020603050405020304" pitchFamily="18" charset="0"/>
                <a:cs typeface="Times New Roman" panose="02020603050405020304" pitchFamily="18" charset="0"/>
              </a:rPr>
              <a:t>:</a:t>
            </a:r>
            <a:endParaRPr lang="en-CA" sz="1800" b="1" dirty="0">
              <a:latin typeface="Times New Roman" panose="02020603050405020304" pitchFamily="18" charset="0"/>
              <a:cs typeface="Times New Roman" panose="02020603050405020304" pitchFamily="18" charset="0"/>
            </a:endParaRPr>
          </a:p>
          <a:p>
            <a:r>
              <a:rPr lang="en-CA" sz="1800" dirty="0">
                <a:solidFill>
                  <a:schemeClr val="bg1">
                    <a:lumMod val="50000"/>
                  </a:schemeClr>
                </a:solidFill>
                <a:latin typeface="Times New Roman" panose="02020603050405020304" pitchFamily="18" charset="0"/>
                <a:cs typeface="Times New Roman" panose="02020603050405020304" pitchFamily="18" charset="0"/>
              </a:rPr>
              <a:t>Black-box</a:t>
            </a:r>
          </a:p>
          <a:p>
            <a:r>
              <a:rPr lang="en-CA" sz="1800" dirty="0">
                <a:solidFill>
                  <a:schemeClr val="bg1">
                    <a:lumMod val="50000"/>
                  </a:schemeClr>
                </a:solidFill>
                <a:latin typeface="Times New Roman" panose="02020603050405020304" pitchFamily="18" charset="0"/>
                <a:cs typeface="Times New Roman" panose="02020603050405020304" pitchFamily="18" charset="0"/>
              </a:rPr>
              <a:t>Stateless workers</a:t>
            </a:r>
          </a:p>
          <a:p>
            <a:r>
              <a:rPr lang="en-CA" sz="1800" dirty="0">
                <a:solidFill>
                  <a:schemeClr val="bg1">
                    <a:lumMod val="50000"/>
                  </a:schemeClr>
                </a:solidFill>
                <a:latin typeface="Times New Roman" panose="02020603050405020304" pitchFamily="18" charset="0"/>
                <a:cs typeface="Times New Roman" panose="02020603050405020304" pitchFamily="18" charset="0"/>
              </a:rPr>
              <a:t>Forensic event log</a:t>
            </a:r>
          </a:p>
        </p:txBody>
      </p:sp>
      <p:sp>
        <p:nvSpPr>
          <p:cNvPr id="4" name="Title 1">
            <a:extLst>
              <a:ext uri="{FF2B5EF4-FFF2-40B4-BE49-F238E27FC236}">
                <a16:creationId xmlns:a16="http://schemas.microsoft.com/office/drawing/2014/main" id="{45F1EB95-5108-C222-1B7B-838D6A252A59}"/>
              </a:ext>
            </a:extLst>
          </p:cNvPr>
          <p:cNvSpPr txBox="1">
            <a:spLocks/>
          </p:cNvSpPr>
          <p:nvPr/>
        </p:nvSpPr>
        <p:spPr>
          <a:xfrm>
            <a:off x="320406" y="797406"/>
            <a:ext cx="10992028" cy="57419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lumMod val="50000"/>
                  </a:schemeClr>
                </a:solidFill>
                <a:latin typeface="Times New Roman" panose="02020603050405020304" pitchFamily="18" charset="0"/>
                <a:cs typeface="Times New Roman" panose="02020603050405020304" pitchFamily="18" charset="0"/>
              </a:rPr>
              <a:t>In the course: ‘Building Scalable Distributed Systems’, the ultimate boss doesn’t scale! </a:t>
            </a:r>
          </a:p>
        </p:txBody>
      </p:sp>
      <p:cxnSp>
        <p:nvCxnSpPr>
          <p:cNvPr id="6" name="Straight Connector 5">
            <a:extLst>
              <a:ext uri="{FF2B5EF4-FFF2-40B4-BE49-F238E27FC236}">
                <a16:creationId xmlns:a16="http://schemas.microsoft.com/office/drawing/2014/main" id="{EB3D9E72-5F91-C271-E6F3-2075783DC2D9}"/>
              </a:ext>
            </a:extLst>
          </p:cNvPr>
          <p:cNvCxnSpPr/>
          <p:nvPr/>
        </p:nvCxnSpPr>
        <p:spPr>
          <a:xfrm>
            <a:off x="0" y="1432193"/>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602DF51A-5C00-D371-AB26-52F0D5B80687}"/>
              </a:ext>
            </a:extLst>
          </p:cNvPr>
          <p:cNvSpPr/>
          <p:nvPr/>
        </p:nvSpPr>
        <p:spPr>
          <a:xfrm>
            <a:off x="1154801" y="2255679"/>
            <a:ext cx="1001486" cy="750389"/>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ALB/Rate Limiter</a:t>
            </a:r>
          </a:p>
        </p:txBody>
      </p:sp>
      <p:sp>
        <p:nvSpPr>
          <p:cNvPr id="24" name="Rounded Rectangle 23">
            <a:extLst>
              <a:ext uri="{FF2B5EF4-FFF2-40B4-BE49-F238E27FC236}">
                <a16:creationId xmlns:a16="http://schemas.microsoft.com/office/drawing/2014/main" id="{D0924963-0DA9-2BEB-1268-E4044B84D223}"/>
              </a:ext>
            </a:extLst>
          </p:cNvPr>
          <p:cNvSpPr/>
          <p:nvPr/>
        </p:nvSpPr>
        <p:spPr>
          <a:xfrm>
            <a:off x="2525485" y="2298880"/>
            <a:ext cx="1230086" cy="664028"/>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ECS/ECR</a:t>
            </a:r>
            <a:br>
              <a:rPr lang="en-US" sz="1400" dirty="0"/>
            </a:br>
            <a:r>
              <a:rPr lang="en-US" sz="1400" dirty="0"/>
              <a:t>API Handler</a:t>
            </a:r>
          </a:p>
        </p:txBody>
      </p:sp>
      <p:sp>
        <p:nvSpPr>
          <p:cNvPr id="25" name="Rounded Rectangle 24">
            <a:extLst>
              <a:ext uri="{FF2B5EF4-FFF2-40B4-BE49-F238E27FC236}">
                <a16:creationId xmlns:a16="http://schemas.microsoft.com/office/drawing/2014/main" id="{9776C249-1D25-69F2-12A0-BBEFE4BC453F}"/>
              </a:ext>
            </a:extLst>
          </p:cNvPr>
          <p:cNvSpPr/>
          <p:nvPr/>
        </p:nvSpPr>
        <p:spPr>
          <a:xfrm>
            <a:off x="4365171" y="2298880"/>
            <a:ext cx="966994" cy="663989"/>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Queue</a:t>
            </a:r>
          </a:p>
        </p:txBody>
      </p:sp>
      <p:sp>
        <p:nvSpPr>
          <p:cNvPr id="26" name="Rounded Rectangle 25">
            <a:extLst>
              <a:ext uri="{FF2B5EF4-FFF2-40B4-BE49-F238E27FC236}">
                <a16:creationId xmlns:a16="http://schemas.microsoft.com/office/drawing/2014/main" id="{241392E2-C38D-6152-DBB6-9500BF5BC223}"/>
              </a:ext>
            </a:extLst>
          </p:cNvPr>
          <p:cNvSpPr/>
          <p:nvPr/>
        </p:nvSpPr>
        <p:spPr>
          <a:xfrm>
            <a:off x="6389180" y="1620498"/>
            <a:ext cx="941314" cy="492606"/>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Worker</a:t>
            </a:r>
          </a:p>
        </p:txBody>
      </p:sp>
      <p:sp>
        <p:nvSpPr>
          <p:cNvPr id="28" name="Rounded Rectangle 27">
            <a:extLst>
              <a:ext uri="{FF2B5EF4-FFF2-40B4-BE49-F238E27FC236}">
                <a16:creationId xmlns:a16="http://schemas.microsoft.com/office/drawing/2014/main" id="{B83B9B81-A678-B0B8-B7EF-ECC3DB5D430E}"/>
              </a:ext>
            </a:extLst>
          </p:cNvPr>
          <p:cNvSpPr/>
          <p:nvPr/>
        </p:nvSpPr>
        <p:spPr>
          <a:xfrm>
            <a:off x="6389180" y="2803874"/>
            <a:ext cx="941314" cy="492606"/>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Worker</a:t>
            </a:r>
          </a:p>
        </p:txBody>
      </p:sp>
      <p:sp>
        <p:nvSpPr>
          <p:cNvPr id="29" name="Rounded Rectangle 28">
            <a:extLst>
              <a:ext uri="{FF2B5EF4-FFF2-40B4-BE49-F238E27FC236}">
                <a16:creationId xmlns:a16="http://schemas.microsoft.com/office/drawing/2014/main" id="{59B05E40-294B-BB1C-455C-CEE19A7BB36F}"/>
              </a:ext>
            </a:extLst>
          </p:cNvPr>
          <p:cNvSpPr/>
          <p:nvPr/>
        </p:nvSpPr>
        <p:spPr>
          <a:xfrm>
            <a:off x="8053330" y="2686097"/>
            <a:ext cx="1226478" cy="72816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DynamoDB</a:t>
            </a:r>
          </a:p>
        </p:txBody>
      </p:sp>
      <p:cxnSp>
        <p:nvCxnSpPr>
          <p:cNvPr id="30" name="Straight Arrow Connector 29">
            <a:extLst>
              <a:ext uri="{FF2B5EF4-FFF2-40B4-BE49-F238E27FC236}">
                <a16:creationId xmlns:a16="http://schemas.microsoft.com/office/drawing/2014/main" id="{08F33366-6A90-C9C8-38CB-E9BAE780A709}"/>
              </a:ext>
            </a:extLst>
          </p:cNvPr>
          <p:cNvCxnSpPr>
            <a:cxnSpLocks/>
            <a:stCxn id="23" idx="3"/>
            <a:endCxn id="24" idx="1"/>
          </p:cNvCxnSpPr>
          <p:nvPr/>
        </p:nvCxnSpPr>
        <p:spPr>
          <a:xfrm>
            <a:off x="2156287" y="2630874"/>
            <a:ext cx="369198" cy="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F13DFD9-0FE2-AC0C-B1CA-E853BFFB9E45}"/>
              </a:ext>
            </a:extLst>
          </p:cNvPr>
          <p:cNvCxnSpPr>
            <a:cxnSpLocks/>
            <a:stCxn id="24" idx="3"/>
            <a:endCxn id="25" idx="1"/>
          </p:cNvCxnSpPr>
          <p:nvPr/>
        </p:nvCxnSpPr>
        <p:spPr>
          <a:xfrm flipV="1">
            <a:off x="3755571" y="2630875"/>
            <a:ext cx="609600" cy="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B8694A2B-DC28-45E3-EC3F-D964823CC0C0}"/>
              </a:ext>
            </a:extLst>
          </p:cNvPr>
          <p:cNvCxnSpPr>
            <a:cxnSpLocks/>
            <a:stCxn id="25" idx="3"/>
            <a:endCxn id="26" idx="1"/>
          </p:cNvCxnSpPr>
          <p:nvPr/>
        </p:nvCxnSpPr>
        <p:spPr>
          <a:xfrm flipV="1">
            <a:off x="5332165" y="1866801"/>
            <a:ext cx="1057015" cy="7640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EABD6419-0ED1-0DAF-0347-DFE23B094408}"/>
              </a:ext>
            </a:extLst>
          </p:cNvPr>
          <p:cNvCxnSpPr>
            <a:cxnSpLocks/>
            <a:stCxn id="25" idx="3"/>
            <a:endCxn id="28" idx="1"/>
          </p:cNvCxnSpPr>
          <p:nvPr/>
        </p:nvCxnSpPr>
        <p:spPr>
          <a:xfrm>
            <a:off x="5332165" y="2630875"/>
            <a:ext cx="1057015" cy="4193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B0A8F68B-F80B-A0BE-7FC7-6A794968F9A4}"/>
              </a:ext>
            </a:extLst>
          </p:cNvPr>
          <p:cNvCxnSpPr>
            <a:cxnSpLocks/>
            <a:stCxn id="26" idx="3"/>
            <a:endCxn id="29" idx="1"/>
          </p:cNvCxnSpPr>
          <p:nvPr/>
        </p:nvCxnSpPr>
        <p:spPr>
          <a:xfrm>
            <a:off x="7330494" y="1866801"/>
            <a:ext cx="722836" cy="11833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45304A3-227F-8A00-2E7A-8E9F0A47B8FB}"/>
              </a:ext>
            </a:extLst>
          </p:cNvPr>
          <p:cNvCxnSpPr>
            <a:cxnSpLocks/>
            <a:stCxn id="28" idx="3"/>
            <a:endCxn id="29" idx="1"/>
          </p:cNvCxnSpPr>
          <p:nvPr/>
        </p:nvCxnSpPr>
        <p:spPr>
          <a:xfrm>
            <a:off x="7330494" y="3050177"/>
            <a:ext cx="7228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A1F6FA52-AD59-CFD1-ED05-1FBE11CA6073}"/>
              </a:ext>
            </a:extLst>
          </p:cNvPr>
          <p:cNvSpPr txBox="1"/>
          <p:nvPr/>
        </p:nvSpPr>
        <p:spPr>
          <a:xfrm>
            <a:off x="6544644" y="2220948"/>
            <a:ext cx="567372" cy="375195"/>
          </a:xfrm>
          <a:prstGeom prst="rect">
            <a:avLst/>
          </a:prstGeom>
          <a:noFill/>
        </p:spPr>
        <p:txBody>
          <a:bodyPr wrap="square" rtlCol="0">
            <a:spAutoFit/>
          </a:bodyPr>
          <a:lstStyle/>
          <a:p>
            <a:r>
              <a:rPr lang="en-US" dirty="0"/>
              <a:t>…..</a:t>
            </a:r>
          </a:p>
        </p:txBody>
      </p:sp>
      <p:cxnSp>
        <p:nvCxnSpPr>
          <p:cNvPr id="74" name="Straight Arrow Connector 73">
            <a:extLst>
              <a:ext uri="{FF2B5EF4-FFF2-40B4-BE49-F238E27FC236}">
                <a16:creationId xmlns:a16="http://schemas.microsoft.com/office/drawing/2014/main" id="{57291629-420E-3C3F-445D-23C3371CC499}"/>
              </a:ext>
            </a:extLst>
          </p:cNvPr>
          <p:cNvCxnSpPr>
            <a:cxnSpLocks/>
            <a:stCxn id="26" idx="3"/>
          </p:cNvCxnSpPr>
          <p:nvPr/>
        </p:nvCxnSpPr>
        <p:spPr>
          <a:xfrm>
            <a:off x="7330494" y="1866801"/>
            <a:ext cx="7228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5" name="Rounded Rectangle 84">
            <a:extLst>
              <a:ext uri="{FF2B5EF4-FFF2-40B4-BE49-F238E27FC236}">
                <a16:creationId xmlns:a16="http://schemas.microsoft.com/office/drawing/2014/main" id="{67CE663B-503C-70CC-C555-2BDF5F9C5E24}"/>
              </a:ext>
            </a:extLst>
          </p:cNvPr>
          <p:cNvSpPr/>
          <p:nvPr/>
        </p:nvSpPr>
        <p:spPr>
          <a:xfrm>
            <a:off x="8053330" y="1492788"/>
            <a:ext cx="1226478" cy="72816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Students’ Server</a:t>
            </a:r>
          </a:p>
        </p:txBody>
      </p:sp>
      <p:sp>
        <p:nvSpPr>
          <p:cNvPr id="88" name="Rounded Rectangle 87">
            <a:extLst>
              <a:ext uri="{FF2B5EF4-FFF2-40B4-BE49-F238E27FC236}">
                <a16:creationId xmlns:a16="http://schemas.microsoft.com/office/drawing/2014/main" id="{6ACE642C-9291-42E3-2E08-CDB76C40D403}"/>
              </a:ext>
            </a:extLst>
          </p:cNvPr>
          <p:cNvSpPr/>
          <p:nvPr/>
        </p:nvSpPr>
        <p:spPr>
          <a:xfrm>
            <a:off x="4788959" y="3874357"/>
            <a:ext cx="1268910" cy="718428"/>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Contract</a:t>
            </a:r>
            <a:br>
              <a:rPr lang="en-US" sz="1400" dirty="0"/>
            </a:br>
            <a:r>
              <a:rPr lang="en-US" sz="1400" dirty="0"/>
              <a:t>(15 Test Scenarios)</a:t>
            </a:r>
          </a:p>
        </p:txBody>
      </p:sp>
      <p:cxnSp>
        <p:nvCxnSpPr>
          <p:cNvPr id="89" name="Straight Arrow Connector 88">
            <a:extLst>
              <a:ext uri="{FF2B5EF4-FFF2-40B4-BE49-F238E27FC236}">
                <a16:creationId xmlns:a16="http://schemas.microsoft.com/office/drawing/2014/main" id="{35126430-3F38-58FE-BA28-0B01F74EEA9B}"/>
              </a:ext>
            </a:extLst>
          </p:cNvPr>
          <p:cNvCxnSpPr>
            <a:cxnSpLocks/>
            <a:stCxn id="88" idx="3"/>
          </p:cNvCxnSpPr>
          <p:nvPr/>
        </p:nvCxnSpPr>
        <p:spPr>
          <a:xfrm>
            <a:off x="6057869" y="4233571"/>
            <a:ext cx="4861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2" name="Rounded Rectangle 91">
            <a:extLst>
              <a:ext uri="{FF2B5EF4-FFF2-40B4-BE49-F238E27FC236}">
                <a16:creationId xmlns:a16="http://schemas.microsoft.com/office/drawing/2014/main" id="{D6C20F92-A9D1-5546-4B63-9F99039B7304}"/>
              </a:ext>
            </a:extLst>
          </p:cNvPr>
          <p:cNvSpPr/>
          <p:nvPr/>
        </p:nvSpPr>
        <p:spPr>
          <a:xfrm>
            <a:off x="6544020" y="3874338"/>
            <a:ext cx="1023159" cy="718428"/>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Launcher</a:t>
            </a:r>
            <a:br>
              <a:rPr lang="en-US" sz="1400" dirty="0"/>
            </a:br>
            <a:r>
              <a:rPr lang="en-US" sz="1400" dirty="0"/>
              <a:t>(Launch tests)</a:t>
            </a:r>
          </a:p>
        </p:txBody>
      </p:sp>
      <p:sp>
        <p:nvSpPr>
          <p:cNvPr id="93" name="Rounded Rectangle 92">
            <a:extLst>
              <a:ext uri="{FF2B5EF4-FFF2-40B4-BE49-F238E27FC236}">
                <a16:creationId xmlns:a16="http://schemas.microsoft.com/office/drawing/2014/main" id="{C4A51CBA-CD68-C11A-E371-88C2EE488D9D}"/>
              </a:ext>
            </a:extLst>
          </p:cNvPr>
          <p:cNvSpPr/>
          <p:nvPr/>
        </p:nvSpPr>
        <p:spPr>
          <a:xfrm>
            <a:off x="8053330" y="3874338"/>
            <a:ext cx="1023159" cy="71842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Report</a:t>
            </a:r>
          </a:p>
        </p:txBody>
      </p:sp>
      <p:cxnSp>
        <p:nvCxnSpPr>
          <p:cNvPr id="94" name="Straight Arrow Connector 93">
            <a:extLst>
              <a:ext uri="{FF2B5EF4-FFF2-40B4-BE49-F238E27FC236}">
                <a16:creationId xmlns:a16="http://schemas.microsoft.com/office/drawing/2014/main" id="{5F2B00A5-0A24-CB89-C0A7-C5A55762FEFA}"/>
              </a:ext>
            </a:extLst>
          </p:cNvPr>
          <p:cNvCxnSpPr>
            <a:cxnSpLocks/>
            <a:stCxn id="92" idx="3"/>
            <a:endCxn id="93" idx="1"/>
          </p:cNvCxnSpPr>
          <p:nvPr/>
        </p:nvCxnSpPr>
        <p:spPr>
          <a:xfrm>
            <a:off x="7567179" y="4233552"/>
            <a:ext cx="4861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8" name="Rounded Rectangle 97">
            <a:extLst>
              <a:ext uri="{FF2B5EF4-FFF2-40B4-BE49-F238E27FC236}">
                <a16:creationId xmlns:a16="http://schemas.microsoft.com/office/drawing/2014/main" id="{FEB810DD-24DD-5401-7EF7-410CA503C2E5}"/>
              </a:ext>
            </a:extLst>
          </p:cNvPr>
          <p:cNvSpPr/>
          <p:nvPr/>
        </p:nvSpPr>
        <p:spPr>
          <a:xfrm>
            <a:off x="4400255" y="3784475"/>
            <a:ext cx="5085268" cy="9282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9" name="Down Arrow 98">
            <a:extLst>
              <a:ext uri="{FF2B5EF4-FFF2-40B4-BE49-F238E27FC236}">
                <a16:creationId xmlns:a16="http://schemas.microsoft.com/office/drawing/2014/main" id="{823D9365-4AAB-3C6E-C5BE-7D4C29D66FCF}"/>
              </a:ext>
            </a:extLst>
          </p:cNvPr>
          <p:cNvSpPr/>
          <p:nvPr/>
        </p:nvSpPr>
        <p:spPr>
          <a:xfrm>
            <a:off x="6697024" y="3376536"/>
            <a:ext cx="325626" cy="3702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D94F0825-C900-F5C8-6815-04863B6112F5}"/>
              </a:ext>
            </a:extLst>
          </p:cNvPr>
          <p:cNvSpPr/>
          <p:nvPr/>
        </p:nvSpPr>
        <p:spPr>
          <a:xfrm>
            <a:off x="4699973" y="3600086"/>
            <a:ext cx="1446882" cy="103042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Down Arrow 100">
            <a:extLst>
              <a:ext uri="{FF2B5EF4-FFF2-40B4-BE49-F238E27FC236}">
                <a16:creationId xmlns:a16="http://schemas.microsoft.com/office/drawing/2014/main" id="{09BFD1CA-5773-6704-92E0-186CC64CE549}"/>
              </a:ext>
            </a:extLst>
          </p:cNvPr>
          <p:cNvSpPr/>
          <p:nvPr/>
        </p:nvSpPr>
        <p:spPr>
          <a:xfrm rot="16200000">
            <a:off x="4202192" y="3490000"/>
            <a:ext cx="325626" cy="37021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DBDCDC63-7C1C-71D9-F15F-2B9D2073B851}"/>
              </a:ext>
            </a:extLst>
          </p:cNvPr>
          <p:cNvSpPr txBox="1"/>
          <p:nvPr/>
        </p:nvSpPr>
        <p:spPr>
          <a:xfrm>
            <a:off x="1410410" y="3427162"/>
            <a:ext cx="2914916" cy="584775"/>
          </a:xfrm>
          <a:prstGeom prst="rect">
            <a:avLst/>
          </a:prstGeom>
          <a:noFill/>
        </p:spPr>
        <p:txBody>
          <a:bodyPr wrap="square">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Requires </a:t>
            </a:r>
            <a:r>
              <a:rPr lang="en-CA" sz="1600" dirty="0">
                <a:solidFill>
                  <a:srgbClr val="FF0000"/>
                </a:solidFill>
                <a:latin typeface="Times New Roman" panose="02020603050405020304" pitchFamily="18" charset="0"/>
                <a:cs typeface="Times New Roman" panose="02020603050405020304" pitchFamily="18" charset="0"/>
              </a:rPr>
              <a:t>Manual</a:t>
            </a:r>
            <a:r>
              <a:rPr lang="en-US" sz="1600" dirty="0">
                <a:solidFill>
                  <a:srgbClr val="FF0000"/>
                </a:solidFill>
                <a:latin typeface="Times New Roman" panose="02020603050405020304" pitchFamily="18" charset="0"/>
                <a:cs typeface="Times New Roman" panose="02020603050405020304" pitchFamily="18" charset="0"/>
              </a:rPr>
              <a:t> Coding!</a:t>
            </a:r>
            <a:br>
              <a:rPr lang="en-US" sz="1600" dirty="0">
                <a:solidFill>
                  <a:srgbClr val="FF0000"/>
                </a:solidFill>
                <a:latin typeface="Times New Roman" panose="02020603050405020304" pitchFamily="18" charset="0"/>
                <a:cs typeface="Times New Roman" panose="02020603050405020304" pitchFamily="18" charset="0"/>
              </a:rPr>
            </a:br>
            <a:r>
              <a:rPr lang="en-US" sz="1600" dirty="0">
                <a:solidFill>
                  <a:srgbClr val="FF0000"/>
                </a:solidFill>
                <a:latin typeface="Times New Roman" panose="02020603050405020304" pitchFamily="18" charset="0"/>
                <a:cs typeface="Times New Roman" panose="02020603050405020304" pitchFamily="18" charset="0"/>
              </a:rPr>
              <a:t>(or co-authored with AI </a:t>
            </a:r>
            <a:r>
              <a:rPr lang="en-US" sz="1600" dirty="0">
                <a:solidFill>
                  <a:srgbClr val="FF0000"/>
                </a:solidFill>
                <a:latin typeface="Times New Roman" panose="02020603050405020304" pitchFamily="18" charset="0"/>
                <a:cs typeface="Times New Roman" panose="02020603050405020304" pitchFamily="18" charset="0"/>
                <a:sym typeface="Wingdings" pitchFamily="2" charset="2"/>
              </a:rPr>
              <a:t></a:t>
            </a:r>
            <a:r>
              <a:rPr lang="en-US" sz="1600" dirty="0">
                <a:solidFill>
                  <a:srgbClr val="FF0000"/>
                </a:solidFill>
                <a:latin typeface="Times New Roman" panose="02020603050405020304" pitchFamily="18" charset="0"/>
                <a:cs typeface="Times New Roman" panose="02020603050405020304" pitchFamily="18" charset="0"/>
              </a:rPr>
              <a:t>)</a:t>
            </a:r>
          </a:p>
        </p:txBody>
      </p:sp>
      <p:sp>
        <p:nvSpPr>
          <p:cNvPr id="104" name="Content Placeholder 2">
            <a:extLst>
              <a:ext uri="{FF2B5EF4-FFF2-40B4-BE49-F238E27FC236}">
                <a16:creationId xmlns:a16="http://schemas.microsoft.com/office/drawing/2014/main" id="{2903E799-F25D-2684-4A52-A20403F8E03D}"/>
              </a:ext>
            </a:extLst>
          </p:cNvPr>
          <p:cNvSpPr txBox="1">
            <a:spLocks/>
          </p:cNvSpPr>
          <p:nvPr/>
        </p:nvSpPr>
        <p:spPr>
          <a:xfrm>
            <a:off x="6476786" y="5052564"/>
            <a:ext cx="4379566" cy="148012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sz="1800" b="1" dirty="0">
                <a:latin typeface="Times New Roman" panose="02020603050405020304" pitchFamily="18" charset="0"/>
                <a:cs typeface="Times New Roman" panose="02020603050405020304" pitchFamily="18" charset="0"/>
              </a:rPr>
              <a:t>What Hurts</a:t>
            </a:r>
            <a:r>
              <a:rPr lang="en-US" sz="1800" b="1" dirty="0">
                <a:latin typeface="Times New Roman" panose="02020603050405020304" pitchFamily="18" charset="0"/>
                <a:cs typeface="Times New Roman" panose="02020603050405020304" pitchFamily="18" charset="0"/>
              </a:rPr>
              <a:t>:</a:t>
            </a:r>
            <a:endParaRPr lang="en-CA" sz="1800" b="1" dirty="0">
              <a:latin typeface="Times New Roman" panose="02020603050405020304" pitchFamily="18" charset="0"/>
              <a:cs typeface="Times New Roman" panose="02020603050405020304" pitchFamily="18" charset="0"/>
            </a:endParaRPr>
          </a:p>
          <a:p>
            <a:r>
              <a:rPr lang="en-CA" sz="1800" dirty="0">
                <a:solidFill>
                  <a:schemeClr val="bg1">
                    <a:lumMod val="50000"/>
                  </a:schemeClr>
                </a:solidFill>
                <a:latin typeface="Times New Roman" panose="02020603050405020304" pitchFamily="18" charset="0"/>
                <a:cs typeface="Times New Roman" panose="02020603050405020304" pitchFamily="18" charset="0"/>
              </a:rPr>
              <a:t>Contract layer is hardcoded</a:t>
            </a:r>
          </a:p>
          <a:p>
            <a:r>
              <a:rPr lang="en-CA" sz="1800" dirty="0">
                <a:solidFill>
                  <a:schemeClr val="bg1">
                    <a:lumMod val="50000"/>
                  </a:schemeClr>
                </a:solidFill>
                <a:latin typeface="Times New Roman" panose="02020603050405020304" pitchFamily="18" charset="0"/>
                <a:cs typeface="Times New Roman" panose="02020603050405020304" pitchFamily="18" charset="0"/>
              </a:rPr>
              <a:t>Every spec need new contract (~2000 LOC)</a:t>
            </a:r>
          </a:p>
        </p:txBody>
      </p:sp>
      <p:sp>
        <p:nvSpPr>
          <p:cNvPr id="5" name="Slide Number Placeholder 4">
            <a:extLst>
              <a:ext uri="{FF2B5EF4-FFF2-40B4-BE49-F238E27FC236}">
                <a16:creationId xmlns:a16="http://schemas.microsoft.com/office/drawing/2014/main" id="{47F81C75-7EA8-6219-56F7-F491C66BBE6A}"/>
              </a:ext>
            </a:extLst>
          </p:cNvPr>
          <p:cNvSpPr>
            <a:spLocks noGrp="1"/>
          </p:cNvSpPr>
          <p:nvPr>
            <p:ph type="sldNum" idx="12"/>
          </p:nvPr>
        </p:nvSpPr>
        <p:spPr/>
        <p:txBody>
          <a:bodyPr/>
          <a:lstStyle/>
          <a:p>
            <a:fld id="{3109D357-8067-4A1F-97B2-93C5160B78D9}" type="slidenum">
              <a:rPr lang="en-CA" smtClean="0"/>
              <a:t>3</a:t>
            </a:fld>
            <a:endParaRPr lang="en-CA"/>
          </a:p>
        </p:txBody>
      </p:sp>
    </p:spTree>
    <p:extLst>
      <p:ext uri="{BB962C8B-B14F-4D97-AF65-F5344CB8AC3E}">
        <p14:creationId xmlns:p14="http://schemas.microsoft.com/office/powerpoint/2010/main" val="1876830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7ACAAC3-FA8E-42DC-87F5-1230FB056684}"/>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Overview: </a:t>
            </a:r>
            <a:r>
              <a:rPr sz="2600" b="1" dirty="0">
                <a:solidFill>
                  <a:srgbClr val="2E3A3C"/>
                </a:solidFill>
                <a:latin typeface="Times New Roman"/>
                <a:ea typeface="Times New Roman"/>
                <a:cs typeface="Times New Roman"/>
              </a:rPr>
              <a:t>Overlapping requests create failures sequential tests cannot see</a:t>
            </a:r>
          </a:p>
        </p:txBody>
      </p:sp>
      <p:sp>
        <p:nvSpPr>
          <p:cNvPr id="16" name="Rectangle 15">
            <a:extLst>
              <a:ext uri="{FF2B5EF4-FFF2-40B4-BE49-F238E27FC236}">
                <a16:creationId xmlns:a16="http://schemas.microsoft.com/office/drawing/2014/main" id="{A07172CC-724B-418B-AFFD-71A454356034}"/>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400" b="0" dirty="0">
                <a:solidFill>
                  <a:srgbClr val="777777"/>
                </a:solidFill>
                <a:latin typeface="Times New Roman" panose="02020603050405020304" pitchFamily="18" charset="0"/>
                <a:ea typeface="Arial"/>
                <a:cs typeface="Times New Roman" panose="02020603050405020304" pitchFamily="18" charset="0"/>
              </a:rPr>
              <a:t>Concurrency defects live in the interleaving</a:t>
            </a:r>
            <a:r>
              <a:rPr lang="en-US" sz="2400" b="0" dirty="0">
                <a:solidFill>
                  <a:srgbClr val="777777"/>
                </a:solidFill>
                <a:latin typeface="Times New Roman" panose="02020603050405020304" pitchFamily="18" charset="0"/>
                <a:ea typeface="Arial"/>
                <a:cs typeface="Times New Roman" panose="02020603050405020304" pitchFamily="18" charset="0"/>
              </a:rPr>
              <a:t>, </a:t>
            </a:r>
            <a:r>
              <a:rPr sz="2400" b="0" dirty="0">
                <a:solidFill>
                  <a:srgbClr val="777777"/>
                </a:solidFill>
                <a:latin typeface="Times New Roman" panose="02020603050405020304" pitchFamily="18" charset="0"/>
                <a:ea typeface="Arial"/>
                <a:cs typeface="Times New Roman" panose="02020603050405020304" pitchFamily="18" charset="0"/>
              </a:rPr>
              <a:t>not in either request alone.</a:t>
            </a:r>
          </a:p>
        </p:txBody>
      </p:sp>
      <p:sp>
        <p:nvSpPr>
          <p:cNvPr id="17" name="Rectangle 16">
            <a:extLst>
              <a:ext uri="{FF2B5EF4-FFF2-40B4-BE49-F238E27FC236}">
                <a16:creationId xmlns:a16="http://schemas.microsoft.com/office/drawing/2014/main" id="{24B74E54-8978-41C8-B356-EE0CE4D7565D}"/>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D11FA59C-7E25-4646-8231-BA5F6CD9621E}"/>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19" name="Rounded Rectangle 18">
            <a:extLst>
              <a:ext uri="{FF2B5EF4-FFF2-40B4-BE49-F238E27FC236}">
                <a16:creationId xmlns:a16="http://schemas.microsoft.com/office/drawing/2014/main" id="{11D46DD4-02D3-4837-AD1F-9CC612B68ABE}"/>
              </a:ext>
            </a:extLst>
          </p:cNvPr>
          <p:cNvSpPr>
            <a:spLocks noGrp="1"/>
          </p:cNvSpPr>
          <p:nvPr/>
        </p:nvSpPr>
        <p:spPr>
          <a:xfrm>
            <a:off x="323850" y="1752600"/>
            <a:ext cx="3619500" cy="4095750"/>
          </a:xfrm>
          <a:prstGeom prst="roundRect">
            <a:avLst>
              <a:gd name="adj" fmla="val 2105"/>
            </a:avLst>
          </a:prstGeom>
          <a:solidFill>
            <a:srgbClr val="DCE8BF"/>
          </a:solidFill>
          <a:ln w="9525">
            <a:solidFill>
              <a:srgbClr val="7A8773"/>
            </a:solidFill>
          </a:ln>
        </p:spPr>
        <p:txBody>
          <a:bodyPr/>
          <a:lstStyle/>
          <a:p>
            <a:endParaRPr lang="en-US"/>
          </a:p>
        </p:txBody>
      </p:sp>
      <p:sp>
        <p:nvSpPr>
          <p:cNvPr id="20" name="Rectangle 19">
            <a:extLst>
              <a:ext uri="{FF2B5EF4-FFF2-40B4-BE49-F238E27FC236}">
                <a16:creationId xmlns:a16="http://schemas.microsoft.com/office/drawing/2014/main" id="{EA9579A9-F4FD-4E42-9810-D96097756D46}"/>
              </a:ext>
            </a:extLst>
          </p:cNvPr>
          <p:cNvSpPr>
            <a:spLocks noGrp="1"/>
          </p:cNvSpPr>
          <p:nvPr/>
        </p:nvSpPr>
        <p:spPr>
          <a:xfrm>
            <a:off x="457200" y="1847850"/>
            <a:ext cx="3352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575" b="1">
                <a:solidFill>
                  <a:srgbClr val="7A8773"/>
                </a:solidFill>
                <a:latin typeface="Arial"/>
                <a:ea typeface="Arial"/>
                <a:cs typeface="Arial"/>
              </a:rPr>
              <a:t>LOST UPDATE</a:t>
            </a:r>
          </a:p>
        </p:txBody>
      </p:sp>
      <p:sp>
        <p:nvSpPr>
          <p:cNvPr id="21" name="Rectangle 20">
            <a:extLst>
              <a:ext uri="{FF2B5EF4-FFF2-40B4-BE49-F238E27FC236}">
                <a16:creationId xmlns:a16="http://schemas.microsoft.com/office/drawing/2014/main" id="{E4C25C9A-4155-4A24-8B69-4BAE7F22075C}"/>
              </a:ext>
            </a:extLst>
          </p:cNvPr>
          <p:cNvSpPr>
            <a:spLocks noGrp="1"/>
          </p:cNvSpPr>
          <p:nvPr/>
        </p:nvSpPr>
        <p:spPr>
          <a:xfrm>
            <a:off x="457200" y="2209800"/>
            <a:ext cx="3352800" cy="3543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panose="020B0604020202020204" pitchFamily="34" charset="0"/>
                <a:ea typeface="Arial"/>
                <a:cs typeface="Arial" panose="020B0604020202020204" pitchFamily="34" charset="0"/>
              </a:rPr>
              <a:t>Two add-to-cart requests read quantity 0 and both write 1.</a:t>
            </a:r>
          </a:p>
          <a:p>
            <a:endParaRPr sz="1600" b="0" dirty="0">
              <a:solidFill>
                <a:srgbClr val="2E3A3C"/>
              </a:solidFill>
              <a:latin typeface="Arial" panose="020B0604020202020204" pitchFamily="34" charset="0"/>
              <a:ea typeface="Arial"/>
              <a:cs typeface="Arial" panose="020B0604020202020204" pitchFamily="34" charset="0"/>
            </a:endParaRPr>
          </a:p>
          <a:p>
            <a:pPr algn="l">
              <a:defRPr sz="1350" b="0">
                <a:solidFill>
                  <a:srgbClr val="2E3A3C"/>
                </a:solidFill>
                <a:latin typeface="Arial"/>
                <a:ea typeface="Arial"/>
                <a:cs typeface="Arial"/>
              </a:defRPr>
            </a:pPr>
            <a:r>
              <a:rPr sz="1600" b="0" dirty="0">
                <a:solidFill>
                  <a:srgbClr val="2E3A3C"/>
                </a:solidFill>
                <a:latin typeface="Arial" panose="020B0604020202020204" pitchFamily="34" charset="0"/>
                <a:ea typeface="Arial"/>
                <a:cs typeface="Arial" panose="020B0604020202020204" pitchFamily="34" charset="0"/>
              </a:rPr>
              <a:t>Expected: quantity = 2</a:t>
            </a:r>
          </a:p>
          <a:p>
            <a:pPr algn="l">
              <a:defRPr sz="1350" b="0">
                <a:solidFill>
                  <a:srgbClr val="2E3A3C"/>
                </a:solidFill>
                <a:latin typeface="Arial"/>
                <a:ea typeface="Arial"/>
                <a:cs typeface="Arial"/>
              </a:defRPr>
            </a:pPr>
            <a:r>
              <a:rPr sz="1600" b="0" dirty="0">
                <a:solidFill>
                  <a:srgbClr val="2E3A3C"/>
                </a:solidFill>
                <a:latin typeface="Arial" panose="020B0604020202020204" pitchFamily="34" charset="0"/>
                <a:ea typeface="Arial"/>
                <a:cs typeface="Arial" panose="020B0604020202020204" pitchFamily="34" charset="0"/>
              </a:rPr>
              <a:t>Observed: quantity = 1</a:t>
            </a:r>
          </a:p>
        </p:txBody>
      </p:sp>
      <p:sp>
        <p:nvSpPr>
          <p:cNvPr id="22" name="Rounded Rectangle 21">
            <a:extLst>
              <a:ext uri="{FF2B5EF4-FFF2-40B4-BE49-F238E27FC236}">
                <a16:creationId xmlns:a16="http://schemas.microsoft.com/office/drawing/2014/main" id="{DDB87918-CBED-4CDE-8BD8-2EBC0AD11CDE}"/>
              </a:ext>
            </a:extLst>
          </p:cNvPr>
          <p:cNvSpPr>
            <a:spLocks noGrp="1"/>
          </p:cNvSpPr>
          <p:nvPr/>
        </p:nvSpPr>
        <p:spPr>
          <a:xfrm>
            <a:off x="4286250" y="1752600"/>
            <a:ext cx="3619500" cy="4095750"/>
          </a:xfrm>
          <a:prstGeom prst="roundRect">
            <a:avLst>
              <a:gd name="adj" fmla="val 2105"/>
            </a:avLst>
          </a:prstGeom>
          <a:solidFill>
            <a:srgbClr val="F1C4C2"/>
          </a:solidFill>
          <a:ln w="9525">
            <a:solidFill>
              <a:srgbClr val="AA7862"/>
            </a:solidFill>
          </a:ln>
        </p:spPr>
        <p:txBody>
          <a:bodyPr/>
          <a:lstStyle/>
          <a:p>
            <a:endParaRPr lang="en-US"/>
          </a:p>
        </p:txBody>
      </p:sp>
      <p:sp>
        <p:nvSpPr>
          <p:cNvPr id="23" name="Rectangle 22">
            <a:extLst>
              <a:ext uri="{FF2B5EF4-FFF2-40B4-BE49-F238E27FC236}">
                <a16:creationId xmlns:a16="http://schemas.microsoft.com/office/drawing/2014/main" id="{5635E705-B4BC-407A-B15F-7B58C5B3003C}"/>
              </a:ext>
            </a:extLst>
          </p:cNvPr>
          <p:cNvSpPr>
            <a:spLocks noGrp="1"/>
          </p:cNvSpPr>
          <p:nvPr/>
        </p:nvSpPr>
        <p:spPr>
          <a:xfrm>
            <a:off x="4419600" y="1847850"/>
            <a:ext cx="3352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AA7862"/>
                </a:solidFill>
                <a:latin typeface="Arial"/>
                <a:ea typeface="Arial"/>
                <a:cs typeface="Arial"/>
              </a:defRPr>
            </a:pPr>
            <a:r>
              <a:rPr sz="1575" b="1">
                <a:solidFill>
                  <a:srgbClr val="AA7862"/>
                </a:solidFill>
                <a:latin typeface="Arial"/>
                <a:ea typeface="Arial"/>
                <a:cs typeface="Arial"/>
              </a:rPr>
              <a:t>DUPLICATE REGISTRATION</a:t>
            </a:r>
          </a:p>
        </p:txBody>
      </p:sp>
      <p:sp>
        <p:nvSpPr>
          <p:cNvPr id="24" name="Rectangle 23">
            <a:extLst>
              <a:ext uri="{FF2B5EF4-FFF2-40B4-BE49-F238E27FC236}">
                <a16:creationId xmlns:a16="http://schemas.microsoft.com/office/drawing/2014/main" id="{84576266-420C-4D4B-816C-B2CC5A08A5FB}"/>
              </a:ext>
            </a:extLst>
          </p:cNvPr>
          <p:cNvSpPr>
            <a:spLocks noGrp="1"/>
          </p:cNvSpPr>
          <p:nvPr/>
        </p:nvSpPr>
        <p:spPr>
          <a:xfrm>
            <a:off x="4419600" y="2375916"/>
            <a:ext cx="3185532" cy="3377184"/>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Two independent sessions submit the</a:t>
            </a:r>
            <a:r>
              <a:rPr lang="en-US" sz="1600" b="0" dirty="0">
                <a:solidFill>
                  <a:srgbClr val="2E3A3C"/>
                </a:solidFill>
                <a:latin typeface="Arial"/>
                <a:ea typeface="Arial"/>
                <a:cs typeface="Arial"/>
              </a:rPr>
              <a:t> </a:t>
            </a:r>
            <a:r>
              <a:rPr sz="1600" b="0" dirty="0">
                <a:solidFill>
                  <a:srgbClr val="2E3A3C"/>
                </a:solidFill>
                <a:latin typeface="Arial"/>
                <a:ea typeface="Arial"/>
                <a:cs typeface="Arial"/>
              </a:rPr>
              <a:t>same registration concurrently.</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Expected: one success + 409</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Observed: HTTP 500 + stack trace</a:t>
            </a:r>
          </a:p>
        </p:txBody>
      </p:sp>
      <p:sp>
        <p:nvSpPr>
          <p:cNvPr id="25" name="Rounded Rectangle 24">
            <a:extLst>
              <a:ext uri="{FF2B5EF4-FFF2-40B4-BE49-F238E27FC236}">
                <a16:creationId xmlns:a16="http://schemas.microsoft.com/office/drawing/2014/main" id="{A25A70C5-F50E-4E9B-B909-199EC2342D78}"/>
              </a:ext>
            </a:extLst>
          </p:cNvPr>
          <p:cNvSpPr>
            <a:spLocks noGrp="1"/>
          </p:cNvSpPr>
          <p:nvPr/>
        </p:nvSpPr>
        <p:spPr>
          <a:xfrm>
            <a:off x="8248650" y="1752600"/>
            <a:ext cx="3619500" cy="4095750"/>
          </a:xfrm>
          <a:prstGeom prst="roundRect">
            <a:avLst>
              <a:gd name="adj" fmla="val 2105"/>
            </a:avLst>
          </a:prstGeom>
          <a:solidFill>
            <a:srgbClr val="DDD7C7"/>
          </a:solidFill>
          <a:ln w="9525">
            <a:solidFill>
              <a:srgbClr val="9F7E56"/>
            </a:solidFill>
          </a:ln>
        </p:spPr>
        <p:txBody>
          <a:bodyPr/>
          <a:lstStyle/>
          <a:p>
            <a:endParaRPr lang="en-US"/>
          </a:p>
        </p:txBody>
      </p:sp>
      <p:sp>
        <p:nvSpPr>
          <p:cNvPr id="26" name="Rectangle 25">
            <a:extLst>
              <a:ext uri="{FF2B5EF4-FFF2-40B4-BE49-F238E27FC236}">
                <a16:creationId xmlns:a16="http://schemas.microsoft.com/office/drawing/2014/main" id="{43AD44FB-D946-4517-929F-ED9B9A4514FE}"/>
              </a:ext>
            </a:extLst>
          </p:cNvPr>
          <p:cNvSpPr>
            <a:spLocks noGrp="1"/>
          </p:cNvSpPr>
          <p:nvPr/>
        </p:nvSpPr>
        <p:spPr>
          <a:xfrm>
            <a:off x="8382000" y="1847850"/>
            <a:ext cx="3352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575" b="1">
                <a:solidFill>
                  <a:srgbClr val="9F7E56"/>
                </a:solidFill>
                <a:latin typeface="Arial"/>
                <a:ea typeface="Arial"/>
                <a:cs typeface="Arial"/>
              </a:rPr>
              <a:t>STALE STATE</a:t>
            </a:r>
          </a:p>
        </p:txBody>
      </p:sp>
      <p:sp>
        <p:nvSpPr>
          <p:cNvPr id="27" name="Rectangle 26">
            <a:extLst>
              <a:ext uri="{FF2B5EF4-FFF2-40B4-BE49-F238E27FC236}">
                <a16:creationId xmlns:a16="http://schemas.microsoft.com/office/drawing/2014/main" id="{C6C6DDB6-3EEF-4075-AA31-C15EE4ADDEB6}"/>
              </a:ext>
            </a:extLst>
          </p:cNvPr>
          <p:cNvSpPr>
            <a:spLocks noGrp="1"/>
          </p:cNvSpPr>
          <p:nvPr/>
        </p:nvSpPr>
        <p:spPr>
          <a:xfrm>
            <a:off x="8382000" y="2209800"/>
            <a:ext cx="3352800" cy="3543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Delete/update or pay/add paths overlap while mutating shared state.</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Observed: stale cart, stale update, or internal exception leakage</a:t>
            </a:r>
          </a:p>
        </p:txBody>
      </p:sp>
      <p:sp>
        <p:nvSpPr>
          <p:cNvPr id="3" name="Slide Number Placeholder 2">
            <a:extLst>
              <a:ext uri="{FF2B5EF4-FFF2-40B4-BE49-F238E27FC236}">
                <a16:creationId xmlns:a16="http://schemas.microsoft.com/office/drawing/2014/main" id="{214B1DBA-087C-D7EC-B4D6-99B8F47F6081}"/>
              </a:ext>
            </a:extLst>
          </p:cNvPr>
          <p:cNvSpPr>
            <a:spLocks noGrp="1"/>
          </p:cNvSpPr>
          <p:nvPr>
            <p:ph type="sldNum" idx="12"/>
          </p:nvPr>
        </p:nvSpPr>
        <p:spPr/>
        <p:txBody>
          <a:bodyPr/>
          <a:lstStyle/>
          <a:p>
            <a:fld id="{3109D357-8067-4A1F-97B2-93C5160B78D9}" type="slidenum">
              <a:rPr lang="en-CA" smtClean="0"/>
              <a:t>4</a:t>
            </a:fld>
            <a:endParaRPr lang="en-CA"/>
          </a:p>
        </p:txBody>
      </p:sp>
    </p:spTree>
    <p:extLst>
      <p:ext uri="{BB962C8B-B14F-4D97-AF65-F5344CB8AC3E}">
        <p14:creationId xmlns:p14="http://schemas.microsoft.com/office/powerpoint/2010/main" val="1542087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D605A2D-F218-41A3-8711-F994BCCA95D5}"/>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Overview: </a:t>
            </a:r>
            <a:r>
              <a:rPr sz="2600" b="1" dirty="0">
                <a:solidFill>
                  <a:srgbClr val="2E3A3C"/>
                </a:solidFill>
                <a:latin typeface="Times New Roman"/>
                <a:ea typeface="Times New Roman"/>
                <a:cs typeface="Times New Roman"/>
              </a:rPr>
              <a:t>No existing workflow combines all three required capabilities</a:t>
            </a:r>
          </a:p>
        </p:txBody>
      </p:sp>
      <p:sp>
        <p:nvSpPr>
          <p:cNvPr id="16" name="Rectangle 15">
            <a:extLst>
              <a:ext uri="{FF2B5EF4-FFF2-40B4-BE49-F238E27FC236}">
                <a16:creationId xmlns:a16="http://schemas.microsoft.com/office/drawing/2014/main" id="{DE9B6CBA-9739-4F5D-8F0D-CE86445FD317}"/>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200" b="0" dirty="0">
                <a:solidFill>
                  <a:srgbClr val="777777"/>
                </a:solidFill>
                <a:latin typeface="Times New Roman" panose="02020603050405020304" pitchFamily="18" charset="0"/>
                <a:ea typeface="Arial"/>
                <a:cs typeface="Times New Roman" panose="02020603050405020304" pitchFamily="18" charset="0"/>
              </a:rPr>
              <a:t>Broad fuzzing, semantic reasoning, and concurrency support exist</a:t>
            </a:r>
            <a:r>
              <a:rPr lang="en-US" sz="2200" b="0" dirty="0">
                <a:solidFill>
                  <a:srgbClr val="777777"/>
                </a:solidFill>
                <a:latin typeface="Times New Roman" panose="02020603050405020304" pitchFamily="18" charset="0"/>
                <a:ea typeface="Arial"/>
                <a:cs typeface="Times New Roman" panose="02020603050405020304" pitchFamily="18" charset="0"/>
              </a:rPr>
              <a:t>, </a:t>
            </a:r>
            <a:r>
              <a:rPr sz="2200" b="0" dirty="0">
                <a:solidFill>
                  <a:srgbClr val="777777"/>
                </a:solidFill>
                <a:latin typeface="Times New Roman" panose="02020603050405020304" pitchFamily="18" charset="0"/>
                <a:ea typeface="Arial"/>
                <a:cs typeface="Times New Roman" panose="02020603050405020304" pitchFamily="18" charset="0"/>
              </a:rPr>
              <a:t>but remain disconnected.</a:t>
            </a:r>
          </a:p>
        </p:txBody>
      </p:sp>
      <p:sp>
        <p:nvSpPr>
          <p:cNvPr id="17" name="Rectangle 16">
            <a:extLst>
              <a:ext uri="{FF2B5EF4-FFF2-40B4-BE49-F238E27FC236}">
                <a16:creationId xmlns:a16="http://schemas.microsoft.com/office/drawing/2014/main" id="{562F7BD4-ED15-4DCB-BF77-4CABB951D9F1}"/>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38FB8C0B-8ACD-4096-A69E-A2E328C9FF7A}"/>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p:cNvPicPr>
            <a:picLocks noChangeAspect="1"/>
          </p:cNvPicPr>
          <p:nvPr/>
        </p:nvPicPr>
        <p:blipFill>
          <a:blip r:embed="rId3"/>
          <a:stretch/>
        </p:blipFill>
        <p:spPr>
          <a:xfrm>
            <a:off x="400050" y="1754540"/>
            <a:ext cx="7051146" cy="3905250"/>
          </a:xfrm>
          <a:prstGeom prst="rect">
            <a:avLst/>
          </a:prstGeom>
        </p:spPr>
      </p:pic>
      <p:sp>
        <p:nvSpPr>
          <p:cNvPr id="20" name="Rectangle 19">
            <a:extLst>
              <a:ext uri="{FF2B5EF4-FFF2-40B4-BE49-F238E27FC236}">
                <a16:creationId xmlns:a16="http://schemas.microsoft.com/office/drawing/2014/main" id="{C8005A18-462F-43DD-8D1E-63B8D5E35680}"/>
              </a:ext>
            </a:extLst>
          </p:cNvPr>
          <p:cNvSpPr>
            <a:spLocks noGrp="1"/>
          </p:cNvSpPr>
          <p:nvPr/>
        </p:nvSpPr>
        <p:spPr>
          <a:xfrm>
            <a:off x="7895749" y="2561718"/>
            <a:ext cx="3571178" cy="2290893"/>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725" b="1">
                <a:solidFill>
                  <a:srgbClr val="9F7E56"/>
                </a:solidFill>
                <a:latin typeface="Arial"/>
                <a:ea typeface="Arial"/>
                <a:cs typeface="Arial"/>
              </a:defRPr>
            </a:pPr>
            <a:endParaRPr lang="en-US" sz="2000" b="1" dirty="0">
              <a:solidFill>
                <a:srgbClr val="9F7E56"/>
              </a:solidFill>
              <a:latin typeface="Times New Roman" panose="02020603050405020304" pitchFamily="18" charset="0"/>
              <a:ea typeface="Arial"/>
              <a:cs typeface="Times New Roman" panose="02020603050405020304" pitchFamily="18" charset="0"/>
            </a:endParaRPr>
          </a:p>
          <a:p>
            <a:r>
              <a:rPr lang="en-CA" sz="2000" dirty="0">
                <a:latin typeface="Times New Roman" panose="02020603050405020304" pitchFamily="18" charset="0"/>
                <a:cs typeface="Times New Roman" panose="02020603050405020304" pitchFamily="18" charset="0"/>
              </a:rPr>
              <a:t>Black-box tools usually do not combine:</a:t>
            </a:r>
          </a:p>
          <a:p>
            <a:pPr marL="285750" indent="-285750">
              <a:buFont typeface="Arial" panose="020B0604020202020204" pitchFamily="34" charset="0"/>
              <a:buChar char="•"/>
            </a:pPr>
            <a:r>
              <a:rPr lang="en-CA" sz="2000" dirty="0">
                <a:latin typeface="Times New Roman" panose="02020603050405020304" pitchFamily="18" charset="0"/>
                <a:cs typeface="Times New Roman" panose="02020603050405020304" pitchFamily="18" charset="0"/>
              </a:rPr>
              <a:t>semantic reasoning</a:t>
            </a:r>
          </a:p>
          <a:p>
            <a:pPr marL="285750" indent="-285750">
              <a:buFont typeface="Arial" panose="020B0604020202020204" pitchFamily="34" charset="0"/>
              <a:buChar char="•"/>
            </a:pPr>
            <a:r>
              <a:rPr lang="en-CA" sz="2000" dirty="0">
                <a:latin typeface="Times New Roman" panose="02020603050405020304" pitchFamily="18" charset="0"/>
                <a:cs typeface="Times New Roman" panose="02020603050405020304" pitchFamily="18" charset="0"/>
              </a:rPr>
              <a:t>multiple authenticated sessions</a:t>
            </a:r>
          </a:p>
          <a:p>
            <a:pPr marL="285750" indent="-285750">
              <a:buFont typeface="Arial" panose="020B0604020202020204" pitchFamily="34" charset="0"/>
              <a:buChar char="•"/>
            </a:pPr>
            <a:r>
              <a:rPr lang="en-CA" sz="2000" dirty="0">
                <a:latin typeface="Times New Roman" panose="02020603050405020304" pitchFamily="18" charset="0"/>
                <a:cs typeface="Times New Roman" panose="02020603050405020304" pitchFamily="18" charset="0"/>
              </a:rPr>
              <a:t>synchronized request release</a:t>
            </a:r>
          </a:p>
        </p:txBody>
      </p:sp>
      <p:sp>
        <p:nvSpPr>
          <p:cNvPr id="8" name="TextBox 7">
            <a:extLst>
              <a:ext uri="{FF2B5EF4-FFF2-40B4-BE49-F238E27FC236}">
                <a16:creationId xmlns:a16="http://schemas.microsoft.com/office/drawing/2014/main" id="{1394EF40-CC58-D0D1-7D0D-7EE9DB143B1B}"/>
              </a:ext>
            </a:extLst>
          </p:cNvPr>
          <p:cNvSpPr txBox="1"/>
          <p:nvPr/>
        </p:nvSpPr>
        <p:spPr>
          <a:xfrm>
            <a:off x="1873637" y="5953125"/>
            <a:ext cx="8444726" cy="369332"/>
          </a:xfrm>
          <a:prstGeom prst="rect">
            <a:avLst/>
          </a:prstGeom>
          <a:noFill/>
        </p:spPr>
        <p:txBody>
          <a:bodyPr wrap="square">
            <a:spAutoFit/>
          </a:bodyPr>
          <a:lstStyle/>
          <a:p>
            <a:pPr algn="ctr">
              <a:defRPr sz="1725" b="1">
                <a:solidFill>
                  <a:srgbClr val="9F7E56"/>
                </a:solidFill>
                <a:latin typeface="Arial"/>
                <a:ea typeface="Arial"/>
                <a:cs typeface="Arial"/>
              </a:defRPr>
            </a:pPr>
            <a:r>
              <a:rPr lang="en-CA" sz="1800" b="1" dirty="0">
                <a:solidFill>
                  <a:srgbClr val="9F7E56"/>
                </a:solidFill>
                <a:latin typeface="Times New Roman" panose="02020603050405020304" pitchFamily="18" charset="0"/>
                <a:ea typeface="Arial"/>
                <a:cs typeface="Times New Roman" panose="02020603050405020304" pitchFamily="18" charset="0"/>
              </a:rPr>
              <a:t>Concurrency must be a first-class testing capability, not an optional script.</a:t>
            </a:r>
          </a:p>
        </p:txBody>
      </p:sp>
      <p:sp>
        <p:nvSpPr>
          <p:cNvPr id="9" name="Slide Number Placeholder 8">
            <a:extLst>
              <a:ext uri="{FF2B5EF4-FFF2-40B4-BE49-F238E27FC236}">
                <a16:creationId xmlns:a16="http://schemas.microsoft.com/office/drawing/2014/main" id="{1B25967A-4800-E26B-E792-0EB0A9126DC9}"/>
              </a:ext>
            </a:extLst>
          </p:cNvPr>
          <p:cNvSpPr>
            <a:spLocks noGrp="1"/>
          </p:cNvSpPr>
          <p:nvPr>
            <p:ph type="sldNum" idx="12"/>
          </p:nvPr>
        </p:nvSpPr>
        <p:spPr/>
        <p:txBody>
          <a:bodyPr/>
          <a:lstStyle/>
          <a:p>
            <a:fld id="{3109D357-8067-4A1F-97B2-93C5160B78D9}" type="slidenum">
              <a:rPr lang="en-CA" smtClean="0"/>
              <a:t>5</a:t>
            </a:fld>
            <a:endParaRPr lang="en-CA"/>
          </a:p>
        </p:txBody>
      </p:sp>
    </p:spTree>
    <p:extLst>
      <p:ext uri="{BB962C8B-B14F-4D97-AF65-F5344CB8AC3E}">
        <p14:creationId xmlns:p14="http://schemas.microsoft.com/office/powerpoint/2010/main" val="1542087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2266EE9-37CC-4ED9-82FB-D6848D109050}"/>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Design: </a:t>
            </a:r>
            <a:r>
              <a:rPr lang="en-CA" sz="2600" dirty="0">
                <a:latin typeface="Times New Roman" panose="02020603050405020304" pitchFamily="18" charset="0"/>
                <a:ea typeface="Arial"/>
                <a:cs typeface="Times New Roman" panose="02020603050405020304" pitchFamily="18" charset="0"/>
              </a:rPr>
              <a:t>Architecture from the paper</a:t>
            </a:r>
          </a:p>
        </p:txBody>
      </p:sp>
      <p:sp>
        <p:nvSpPr>
          <p:cNvPr id="16" name="Rectangle 15">
            <a:extLst>
              <a:ext uri="{FF2B5EF4-FFF2-40B4-BE49-F238E27FC236}">
                <a16:creationId xmlns:a16="http://schemas.microsoft.com/office/drawing/2014/main" id="{4FAE202C-EDCD-496F-A522-E53CE76CE402}"/>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1575" b="0">
                <a:solidFill>
                  <a:srgbClr val="777777"/>
                </a:solidFill>
                <a:latin typeface="Arial"/>
                <a:ea typeface="Arial"/>
                <a:cs typeface="Arial"/>
              </a:defRPr>
            </a:pPr>
            <a:r>
              <a:rPr lang="en-CA" sz="2000" dirty="0">
                <a:solidFill>
                  <a:schemeClr val="tx1">
                    <a:lumMod val="50000"/>
                    <a:lumOff val="50000"/>
                  </a:schemeClr>
                </a:solidFill>
                <a:latin typeface="Times New Roman"/>
                <a:ea typeface="Times New Roman"/>
                <a:cs typeface="Times New Roman"/>
              </a:rPr>
              <a:t>One shared probe feeds isolated executors and a final evidence pipeline</a:t>
            </a:r>
            <a:endParaRPr sz="2000" dirty="0">
              <a:solidFill>
                <a:schemeClr val="tx1">
                  <a:lumMod val="50000"/>
                  <a:lumOff val="50000"/>
                </a:schemeClr>
              </a:solidFill>
              <a:latin typeface="Arial"/>
              <a:ea typeface="Arial"/>
              <a:cs typeface="Arial"/>
            </a:endParaRPr>
          </a:p>
        </p:txBody>
      </p:sp>
      <p:sp>
        <p:nvSpPr>
          <p:cNvPr id="17" name="Rectangle 16">
            <a:extLst>
              <a:ext uri="{FF2B5EF4-FFF2-40B4-BE49-F238E27FC236}">
                <a16:creationId xmlns:a16="http://schemas.microsoft.com/office/drawing/2014/main" id="{CED26126-F81B-4832-84DF-6A69E8393349}"/>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DE0F8980-1A5A-4030-A334-E3B96A437642}"/>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p:cNvPicPr>
            <a:picLocks noChangeAspect="1"/>
          </p:cNvPicPr>
          <p:nvPr/>
        </p:nvPicPr>
        <p:blipFill>
          <a:blip r:embed="rId3"/>
          <a:stretch/>
        </p:blipFill>
        <p:spPr>
          <a:xfrm>
            <a:off x="1275412" y="1559500"/>
            <a:ext cx="9290655" cy="5101075"/>
          </a:xfrm>
          <a:prstGeom prst="rect">
            <a:avLst/>
          </a:prstGeom>
        </p:spPr>
      </p:pic>
      <p:sp>
        <p:nvSpPr>
          <p:cNvPr id="3" name="Slide Number Placeholder 2">
            <a:extLst>
              <a:ext uri="{FF2B5EF4-FFF2-40B4-BE49-F238E27FC236}">
                <a16:creationId xmlns:a16="http://schemas.microsoft.com/office/drawing/2014/main" id="{E82E9C9B-5356-925F-0C90-9DC9702C84EB}"/>
              </a:ext>
            </a:extLst>
          </p:cNvPr>
          <p:cNvSpPr>
            <a:spLocks noGrp="1"/>
          </p:cNvSpPr>
          <p:nvPr>
            <p:ph type="sldNum" idx="12"/>
          </p:nvPr>
        </p:nvSpPr>
        <p:spPr/>
        <p:txBody>
          <a:bodyPr/>
          <a:lstStyle/>
          <a:p>
            <a:fld id="{3109D357-8067-4A1F-97B2-93C5160B78D9}" type="slidenum">
              <a:rPr lang="en-CA" smtClean="0"/>
              <a:t>6</a:t>
            </a:fld>
            <a:endParaRPr lang="en-CA"/>
          </a:p>
        </p:txBody>
      </p:sp>
    </p:spTree>
    <p:extLst>
      <p:ext uri="{BB962C8B-B14F-4D97-AF65-F5344CB8AC3E}">
        <p14:creationId xmlns:p14="http://schemas.microsoft.com/office/powerpoint/2010/main" val="1542087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4F1E534-5529-43BD-BB11-C6DCF9B11346}"/>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2325" b="1">
                <a:solidFill>
                  <a:srgbClr val="2E3A3C"/>
                </a:solidFill>
                <a:latin typeface="Times New Roman"/>
                <a:ea typeface="Times New Roman"/>
                <a:cs typeface="Times New Roman"/>
              </a:defRPr>
            </a:pPr>
            <a:r>
              <a:rPr lang="en-US" sz="3000" b="1" dirty="0">
                <a:solidFill>
                  <a:srgbClr val="2E3A3C"/>
                </a:solidFill>
                <a:latin typeface="Times New Roman"/>
                <a:ea typeface="Times New Roman"/>
                <a:cs typeface="Times New Roman"/>
              </a:rPr>
              <a:t>Design: </a:t>
            </a:r>
            <a:r>
              <a:rPr sz="3000" b="1" dirty="0">
                <a:solidFill>
                  <a:srgbClr val="2E3A3C"/>
                </a:solidFill>
                <a:latin typeface="Times New Roman"/>
                <a:ea typeface="Times New Roman"/>
                <a:cs typeface="Times New Roman"/>
              </a:rPr>
              <a:t>Required scenarios create a deterministic coverage contract</a:t>
            </a:r>
          </a:p>
        </p:txBody>
      </p:sp>
      <p:sp>
        <p:nvSpPr>
          <p:cNvPr id="16" name="Rectangle 15">
            <a:extLst>
              <a:ext uri="{FF2B5EF4-FFF2-40B4-BE49-F238E27FC236}">
                <a16:creationId xmlns:a16="http://schemas.microsoft.com/office/drawing/2014/main" id="{0DBEEB91-9D32-43A6-8879-F09D0ED8D5D5}"/>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400" b="0" dirty="0">
                <a:solidFill>
                  <a:srgbClr val="777777"/>
                </a:solidFill>
                <a:latin typeface="Times New Roman" panose="02020603050405020304" pitchFamily="18" charset="0"/>
                <a:ea typeface="Arial"/>
                <a:cs typeface="Times New Roman" panose="02020603050405020304" pitchFamily="18" charset="0"/>
              </a:rPr>
              <a:t>The scenario set is fixed before any executor starts.</a:t>
            </a:r>
          </a:p>
        </p:txBody>
      </p:sp>
      <p:sp>
        <p:nvSpPr>
          <p:cNvPr id="17" name="Rectangle 16">
            <a:extLst>
              <a:ext uri="{FF2B5EF4-FFF2-40B4-BE49-F238E27FC236}">
                <a16:creationId xmlns:a16="http://schemas.microsoft.com/office/drawing/2014/main" id="{F480F07D-4F09-477E-9200-CDC029B30573}"/>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771294C3-D100-42A9-A765-CD61038F7E98}"/>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19" name="Rounded Rectangle 18">
            <a:extLst>
              <a:ext uri="{FF2B5EF4-FFF2-40B4-BE49-F238E27FC236}">
                <a16:creationId xmlns:a16="http://schemas.microsoft.com/office/drawing/2014/main" id="{093DFF19-F148-4E39-95F1-8DD81E77FB2B}"/>
              </a:ext>
            </a:extLst>
          </p:cNvPr>
          <p:cNvSpPr>
            <a:spLocks noGrp="1"/>
          </p:cNvSpPr>
          <p:nvPr/>
        </p:nvSpPr>
        <p:spPr>
          <a:xfrm>
            <a:off x="323850" y="1809750"/>
            <a:ext cx="3581400" cy="1428750"/>
          </a:xfrm>
          <a:prstGeom prst="roundRect">
            <a:avLst>
              <a:gd name="adj" fmla="val 5333"/>
            </a:avLst>
          </a:prstGeom>
          <a:solidFill>
            <a:srgbClr val="DCE8BF"/>
          </a:solidFill>
          <a:ln w="9525">
            <a:solidFill>
              <a:srgbClr val="7A8773"/>
            </a:solidFill>
          </a:ln>
        </p:spPr>
        <p:txBody>
          <a:bodyPr/>
          <a:lstStyle/>
          <a:p>
            <a:endParaRPr lang="en-US" sz="1600"/>
          </a:p>
        </p:txBody>
      </p:sp>
      <p:sp>
        <p:nvSpPr>
          <p:cNvPr id="20" name="Rectangle 19">
            <a:extLst>
              <a:ext uri="{FF2B5EF4-FFF2-40B4-BE49-F238E27FC236}">
                <a16:creationId xmlns:a16="http://schemas.microsoft.com/office/drawing/2014/main" id="{126777CF-C48E-47CC-9B4E-0EB6714D2032}"/>
              </a:ext>
            </a:extLst>
          </p:cNvPr>
          <p:cNvSpPr>
            <a:spLocks noGrp="1"/>
          </p:cNvSpPr>
          <p:nvPr/>
        </p:nvSpPr>
        <p:spPr>
          <a:xfrm>
            <a:off x="457200" y="1905000"/>
            <a:ext cx="33147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600" b="1" dirty="0">
                <a:solidFill>
                  <a:srgbClr val="7A8773"/>
                </a:solidFill>
                <a:latin typeface="Arial"/>
                <a:ea typeface="Arial"/>
                <a:cs typeface="Arial"/>
              </a:rPr>
              <a:t>Concurrency</a:t>
            </a:r>
          </a:p>
        </p:txBody>
      </p:sp>
      <p:sp>
        <p:nvSpPr>
          <p:cNvPr id="21" name="Rectangle 20">
            <a:extLst>
              <a:ext uri="{FF2B5EF4-FFF2-40B4-BE49-F238E27FC236}">
                <a16:creationId xmlns:a16="http://schemas.microsoft.com/office/drawing/2014/main" id="{C43F9310-B796-4059-A79D-4AB85B5C5756}"/>
              </a:ext>
            </a:extLst>
          </p:cNvPr>
          <p:cNvSpPr>
            <a:spLocks noGrp="1"/>
          </p:cNvSpPr>
          <p:nvPr/>
        </p:nvSpPr>
        <p:spPr>
          <a:xfrm>
            <a:off x="457200" y="2266950"/>
            <a:ext cx="3314700" cy="876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Overlapping shared-state mutations</a:t>
            </a:r>
          </a:p>
        </p:txBody>
      </p:sp>
      <p:sp>
        <p:nvSpPr>
          <p:cNvPr id="22" name="Rounded Rectangle 21">
            <a:extLst>
              <a:ext uri="{FF2B5EF4-FFF2-40B4-BE49-F238E27FC236}">
                <a16:creationId xmlns:a16="http://schemas.microsoft.com/office/drawing/2014/main" id="{CBB881D6-6F09-4BE9-831B-02DB2A60DCD3}"/>
              </a:ext>
            </a:extLst>
          </p:cNvPr>
          <p:cNvSpPr>
            <a:spLocks noGrp="1"/>
          </p:cNvSpPr>
          <p:nvPr/>
        </p:nvSpPr>
        <p:spPr>
          <a:xfrm>
            <a:off x="4191000" y="1809750"/>
            <a:ext cx="3581400" cy="1428750"/>
          </a:xfrm>
          <a:prstGeom prst="roundRect">
            <a:avLst>
              <a:gd name="adj" fmla="val 5333"/>
            </a:avLst>
          </a:prstGeom>
          <a:solidFill>
            <a:srgbClr val="DED9D3"/>
          </a:solidFill>
          <a:ln w="9525">
            <a:solidFill>
              <a:srgbClr val="9F7E56"/>
            </a:solidFill>
          </a:ln>
        </p:spPr>
        <p:txBody>
          <a:bodyPr/>
          <a:lstStyle/>
          <a:p>
            <a:endParaRPr lang="en-US" sz="1600"/>
          </a:p>
        </p:txBody>
      </p:sp>
      <p:sp>
        <p:nvSpPr>
          <p:cNvPr id="23" name="Rectangle 22">
            <a:extLst>
              <a:ext uri="{FF2B5EF4-FFF2-40B4-BE49-F238E27FC236}">
                <a16:creationId xmlns:a16="http://schemas.microsoft.com/office/drawing/2014/main" id="{0AAA8696-3D65-46A7-9215-AD334B06C710}"/>
              </a:ext>
            </a:extLst>
          </p:cNvPr>
          <p:cNvSpPr>
            <a:spLocks noGrp="1"/>
          </p:cNvSpPr>
          <p:nvPr/>
        </p:nvSpPr>
        <p:spPr>
          <a:xfrm>
            <a:off x="4324350" y="1905000"/>
            <a:ext cx="33147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600" b="1">
                <a:solidFill>
                  <a:srgbClr val="9F7E56"/>
                </a:solidFill>
                <a:latin typeface="Arial"/>
                <a:ea typeface="Arial"/>
                <a:cs typeface="Arial"/>
              </a:rPr>
              <a:t>Auth / Authorization</a:t>
            </a:r>
          </a:p>
        </p:txBody>
      </p:sp>
      <p:sp>
        <p:nvSpPr>
          <p:cNvPr id="24" name="Rectangle 23">
            <a:extLst>
              <a:ext uri="{FF2B5EF4-FFF2-40B4-BE49-F238E27FC236}">
                <a16:creationId xmlns:a16="http://schemas.microsoft.com/office/drawing/2014/main" id="{7938738A-BE29-42F7-A50B-129DB37CAE16}"/>
              </a:ext>
            </a:extLst>
          </p:cNvPr>
          <p:cNvSpPr>
            <a:spLocks noGrp="1"/>
          </p:cNvSpPr>
          <p:nvPr/>
        </p:nvSpPr>
        <p:spPr>
          <a:xfrm>
            <a:off x="4324350" y="2266950"/>
            <a:ext cx="3314700" cy="876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a:ea typeface="Arial"/>
                <a:cs typeface="Arial"/>
              </a:rPr>
              <a:t>Role and session boundaries</a:t>
            </a:r>
          </a:p>
        </p:txBody>
      </p:sp>
      <p:sp>
        <p:nvSpPr>
          <p:cNvPr id="25" name="Rounded Rectangle 24">
            <a:extLst>
              <a:ext uri="{FF2B5EF4-FFF2-40B4-BE49-F238E27FC236}">
                <a16:creationId xmlns:a16="http://schemas.microsoft.com/office/drawing/2014/main" id="{38ADD63C-8797-452A-A75F-578EB1118BAB}"/>
              </a:ext>
            </a:extLst>
          </p:cNvPr>
          <p:cNvSpPr>
            <a:spLocks noGrp="1"/>
          </p:cNvSpPr>
          <p:nvPr/>
        </p:nvSpPr>
        <p:spPr>
          <a:xfrm>
            <a:off x="8058150" y="1809750"/>
            <a:ext cx="3581400" cy="1428750"/>
          </a:xfrm>
          <a:prstGeom prst="roundRect">
            <a:avLst>
              <a:gd name="adj" fmla="val 5333"/>
            </a:avLst>
          </a:prstGeom>
          <a:solidFill>
            <a:srgbClr val="DED9D3"/>
          </a:solidFill>
          <a:ln w="9525">
            <a:solidFill>
              <a:srgbClr val="AA7862"/>
            </a:solidFill>
          </a:ln>
        </p:spPr>
        <p:txBody>
          <a:bodyPr/>
          <a:lstStyle/>
          <a:p>
            <a:endParaRPr lang="en-US" sz="1600"/>
          </a:p>
        </p:txBody>
      </p:sp>
      <p:sp>
        <p:nvSpPr>
          <p:cNvPr id="26" name="Rectangle 25">
            <a:extLst>
              <a:ext uri="{FF2B5EF4-FFF2-40B4-BE49-F238E27FC236}">
                <a16:creationId xmlns:a16="http://schemas.microsoft.com/office/drawing/2014/main" id="{ACD7A44B-A197-4E5C-B71B-C819C2C372CD}"/>
              </a:ext>
            </a:extLst>
          </p:cNvPr>
          <p:cNvSpPr>
            <a:spLocks noGrp="1"/>
          </p:cNvSpPr>
          <p:nvPr/>
        </p:nvSpPr>
        <p:spPr>
          <a:xfrm>
            <a:off x="8191500" y="1904999"/>
            <a:ext cx="3314700" cy="568377"/>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1575" b="1">
                <a:solidFill>
                  <a:srgbClr val="AA7862"/>
                </a:solidFill>
                <a:latin typeface="Arial"/>
                <a:ea typeface="Arial"/>
                <a:cs typeface="Arial"/>
              </a:defRPr>
            </a:pPr>
            <a:r>
              <a:rPr sz="1600" b="1" dirty="0">
                <a:solidFill>
                  <a:srgbClr val="AA7862"/>
                </a:solidFill>
                <a:latin typeface="Arial"/>
                <a:ea typeface="Arial"/>
                <a:cs typeface="Arial"/>
              </a:rPr>
              <a:t>IDOR</a:t>
            </a:r>
            <a:r>
              <a:rPr lang="en-US" sz="1600" b="1" dirty="0">
                <a:solidFill>
                  <a:srgbClr val="AA7862"/>
                </a:solidFill>
                <a:latin typeface="Arial"/>
                <a:ea typeface="Arial"/>
                <a:cs typeface="Arial"/>
              </a:rPr>
              <a:t>(</a:t>
            </a:r>
            <a:r>
              <a:rPr lang="en-CA" sz="1600" b="1" dirty="0"/>
              <a:t>Insecure Direct Object Reference</a:t>
            </a:r>
            <a:r>
              <a:rPr lang="en-US" sz="1600" b="1" dirty="0">
                <a:solidFill>
                  <a:srgbClr val="AA7862"/>
                </a:solidFill>
                <a:latin typeface="Arial"/>
                <a:ea typeface="Arial"/>
                <a:cs typeface="Arial"/>
              </a:rPr>
              <a:t>)</a:t>
            </a:r>
            <a:endParaRPr sz="1600" b="1" dirty="0">
              <a:solidFill>
                <a:srgbClr val="AA7862"/>
              </a:solidFill>
              <a:latin typeface="Arial"/>
              <a:ea typeface="Arial"/>
              <a:cs typeface="Arial"/>
            </a:endParaRPr>
          </a:p>
        </p:txBody>
      </p:sp>
      <p:sp>
        <p:nvSpPr>
          <p:cNvPr id="27" name="Rectangle 26">
            <a:extLst>
              <a:ext uri="{FF2B5EF4-FFF2-40B4-BE49-F238E27FC236}">
                <a16:creationId xmlns:a16="http://schemas.microsoft.com/office/drawing/2014/main" id="{6CBA460F-A725-457B-B548-D8A01431F912}"/>
              </a:ext>
            </a:extLst>
          </p:cNvPr>
          <p:cNvSpPr>
            <a:spLocks noGrp="1"/>
          </p:cNvSpPr>
          <p:nvPr/>
        </p:nvSpPr>
        <p:spPr>
          <a:xfrm>
            <a:off x="8191500" y="2266950"/>
            <a:ext cx="3314700" cy="876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Cross-user resource access</a:t>
            </a:r>
          </a:p>
        </p:txBody>
      </p:sp>
      <p:sp>
        <p:nvSpPr>
          <p:cNvPr id="28" name="Rounded Rectangle 27">
            <a:extLst>
              <a:ext uri="{FF2B5EF4-FFF2-40B4-BE49-F238E27FC236}">
                <a16:creationId xmlns:a16="http://schemas.microsoft.com/office/drawing/2014/main" id="{AEA3F9CD-98BB-4AE6-BC62-3753FDFE4A10}"/>
              </a:ext>
            </a:extLst>
          </p:cNvPr>
          <p:cNvSpPr>
            <a:spLocks noGrp="1"/>
          </p:cNvSpPr>
          <p:nvPr/>
        </p:nvSpPr>
        <p:spPr>
          <a:xfrm>
            <a:off x="323850" y="3619500"/>
            <a:ext cx="3581400" cy="1428750"/>
          </a:xfrm>
          <a:prstGeom prst="roundRect">
            <a:avLst>
              <a:gd name="adj" fmla="val 5333"/>
            </a:avLst>
          </a:prstGeom>
          <a:solidFill>
            <a:srgbClr val="DED9D3"/>
          </a:solidFill>
          <a:ln w="9525">
            <a:solidFill>
              <a:srgbClr val="7A8773"/>
            </a:solidFill>
          </a:ln>
        </p:spPr>
        <p:txBody>
          <a:bodyPr/>
          <a:lstStyle/>
          <a:p>
            <a:endParaRPr lang="en-US" sz="1600"/>
          </a:p>
        </p:txBody>
      </p:sp>
      <p:sp>
        <p:nvSpPr>
          <p:cNvPr id="29" name="Rectangle 28">
            <a:extLst>
              <a:ext uri="{FF2B5EF4-FFF2-40B4-BE49-F238E27FC236}">
                <a16:creationId xmlns:a16="http://schemas.microsoft.com/office/drawing/2014/main" id="{74768E63-7002-48D1-A7A1-4379847B1E36}"/>
              </a:ext>
            </a:extLst>
          </p:cNvPr>
          <p:cNvSpPr>
            <a:spLocks noGrp="1"/>
          </p:cNvSpPr>
          <p:nvPr/>
        </p:nvSpPr>
        <p:spPr>
          <a:xfrm>
            <a:off x="457200" y="3714750"/>
            <a:ext cx="33147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600" b="1">
                <a:solidFill>
                  <a:srgbClr val="7A8773"/>
                </a:solidFill>
                <a:latin typeface="Arial"/>
                <a:ea typeface="Arial"/>
                <a:cs typeface="Arial"/>
              </a:rPr>
              <a:t>Input Validation</a:t>
            </a:r>
          </a:p>
        </p:txBody>
      </p:sp>
      <p:sp>
        <p:nvSpPr>
          <p:cNvPr id="30" name="Rectangle 29">
            <a:extLst>
              <a:ext uri="{FF2B5EF4-FFF2-40B4-BE49-F238E27FC236}">
                <a16:creationId xmlns:a16="http://schemas.microsoft.com/office/drawing/2014/main" id="{B8856A9B-C42E-4BF1-9E13-183762AC0FC1}"/>
              </a:ext>
            </a:extLst>
          </p:cNvPr>
          <p:cNvSpPr>
            <a:spLocks noGrp="1"/>
          </p:cNvSpPr>
          <p:nvPr/>
        </p:nvSpPr>
        <p:spPr>
          <a:xfrm>
            <a:off x="457200" y="4076700"/>
            <a:ext cx="3314700" cy="876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a:ea typeface="Arial"/>
                <a:cs typeface="Arial"/>
              </a:rPr>
              <a:t>Malformed and boundary inputs</a:t>
            </a:r>
          </a:p>
        </p:txBody>
      </p:sp>
      <p:sp>
        <p:nvSpPr>
          <p:cNvPr id="31" name="Rounded Rectangle 30">
            <a:extLst>
              <a:ext uri="{FF2B5EF4-FFF2-40B4-BE49-F238E27FC236}">
                <a16:creationId xmlns:a16="http://schemas.microsoft.com/office/drawing/2014/main" id="{DD22896A-ADF3-4F6C-BF18-138B5CCADEAF}"/>
              </a:ext>
            </a:extLst>
          </p:cNvPr>
          <p:cNvSpPr>
            <a:spLocks noGrp="1"/>
          </p:cNvSpPr>
          <p:nvPr/>
        </p:nvSpPr>
        <p:spPr>
          <a:xfrm>
            <a:off x="4191000" y="3619500"/>
            <a:ext cx="3581400" cy="1428750"/>
          </a:xfrm>
          <a:prstGeom prst="roundRect">
            <a:avLst>
              <a:gd name="adj" fmla="val 5333"/>
            </a:avLst>
          </a:prstGeom>
          <a:solidFill>
            <a:srgbClr val="DED9D3"/>
          </a:solidFill>
          <a:ln w="9525">
            <a:solidFill>
              <a:srgbClr val="9F7E56"/>
            </a:solidFill>
          </a:ln>
        </p:spPr>
        <p:txBody>
          <a:bodyPr/>
          <a:lstStyle/>
          <a:p>
            <a:endParaRPr lang="en-US" sz="1600"/>
          </a:p>
        </p:txBody>
      </p:sp>
      <p:sp>
        <p:nvSpPr>
          <p:cNvPr id="32" name="Rectangle 31">
            <a:extLst>
              <a:ext uri="{FF2B5EF4-FFF2-40B4-BE49-F238E27FC236}">
                <a16:creationId xmlns:a16="http://schemas.microsoft.com/office/drawing/2014/main" id="{971F452C-7766-430F-81EA-0D3563E71444}"/>
              </a:ext>
            </a:extLst>
          </p:cNvPr>
          <p:cNvSpPr>
            <a:spLocks noGrp="1"/>
          </p:cNvSpPr>
          <p:nvPr/>
        </p:nvSpPr>
        <p:spPr>
          <a:xfrm>
            <a:off x="4324350" y="3714750"/>
            <a:ext cx="33147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600" b="1">
                <a:solidFill>
                  <a:srgbClr val="9F7E56"/>
                </a:solidFill>
                <a:latin typeface="Arial"/>
                <a:ea typeface="Arial"/>
                <a:cs typeface="Arial"/>
              </a:rPr>
              <a:t>HTTP Semantics</a:t>
            </a:r>
          </a:p>
        </p:txBody>
      </p:sp>
      <p:sp>
        <p:nvSpPr>
          <p:cNvPr id="33" name="Rectangle 32">
            <a:extLst>
              <a:ext uri="{FF2B5EF4-FFF2-40B4-BE49-F238E27FC236}">
                <a16:creationId xmlns:a16="http://schemas.microsoft.com/office/drawing/2014/main" id="{92C7C444-95F4-437A-82BF-4CC19764BD71}"/>
              </a:ext>
            </a:extLst>
          </p:cNvPr>
          <p:cNvSpPr>
            <a:spLocks noGrp="1"/>
          </p:cNvSpPr>
          <p:nvPr/>
        </p:nvSpPr>
        <p:spPr>
          <a:xfrm>
            <a:off x="4324350" y="4076700"/>
            <a:ext cx="3314700" cy="876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a:ea typeface="Arial"/>
                <a:cs typeface="Arial"/>
              </a:rPr>
              <a:t>Status, method, schema behavior</a:t>
            </a:r>
          </a:p>
        </p:txBody>
      </p:sp>
      <p:sp>
        <p:nvSpPr>
          <p:cNvPr id="34" name="Rounded Rectangle 33">
            <a:extLst>
              <a:ext uri="{FF2B5EF4-FFF2-40B4-BE49-F238E27FC236}">
                <a16:creationId xmlns:a16="http://schemas.microsoft.com/office/drawing/2014/main" id="{7A8766C7-5CF7-44DF-8215-A452131D74FB}"/>
              </a:ext>
            </a:extLst>
          </p:cNvPr>
          <p:cNvSpPr>
            <a:spLocks noGrp="1"/>
          </p:cNvSpPr>
          <p:nvPr/>
        </p:nvSpPr>
        <p:spPr>
          <a:xfrm>
            <a:off x="8058150" y="3619500"/>
            <a:ext cx="3581400" cy="1428750"/>
          </a:xfrm>
          <a:prstGeom prst="roundRect">
            <a:avLst>
              <a:gd name="adj" fmla="val 5333"/>
            </a:avLst>
          </a:prstGeom>
          <a:solidFill>
            <a:srgbClr val="DED9D3"/>
          </a:solidFill>
          <a:ln w="9525">
            <a:solidFill>
              <a:srgbClr val="AA7862"/>
            </a:solidFill>
          </a:ln>
        </p:spPr>
        <p:txBody>
          <a:bodyPr/>
          <a:lstStyle/>
          <a:p>
            <a:endParaRPr lang="en-US" sz="1600"/>
          </a:p>
        </p:txBody>
      </p:sp>
      <p:sp>
        <p:nvSpPr>
          <p:cNvPr id="35" name="Rectangle 34">
            <a:extLst>
              <a:ext uri="{FF2B5EF4-FFF2-40B4-BE49-F238E27FC236}">
                <a16:creationId xmlns:a16="http://schemas.microsoft.com/office/drawing/2014/main" id="{49458E3F-3C22-44C5-BC0B-382DB64774DA}"/>
              </a:ext>
            </a:extLst>
          </p:cNvPr>
          <p:cNvSpPr>
            <a:spLocks noGrp="1"/>
          </p:cNvSpPr>
          <p:nvPr/>
        </p:nvSpPr>
        <p:spPr>
          <a:xfrm>
            <a:off x="8191500" y="3714750"/>
            <a:ext cx="33147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AA7862"/>
                </a:solidFill>
                <a:latin typeface="Arial"/>
                <a:ea typeface="Arial"/>
                <a:cs typeface="Arial"/>
              </a:defRPr>
            </a:pPr>
            <a:r>
              <a:rPr sz="1600" b="1">
                <a:solidFill>
                  <a:srgbClr val="AA7862"/>
                </a:solidFill>
                <a:latin typeface="Arial"/>
                <a:ea typeface="Arial"/>
                <a:cs typeface="Arial"/>
              </a:rPr>
              <a:t>Business Logic</a:t>
            </a:r>
          </a:p>
        </p:txBody>
      </p:sp>
      <p:sp>
        <p:nvSpPr>
          <p:cNvPr id="36" name="Rectangle 35">
            <a:extLst>
              <a:ext uri="{FF2B5EF4-FFF2-40B4-BE49-F238E27FC236}">
                <a16:creationId xmlns:a16="http://schemas.microsoft.com/office/drawing/2014/main" id="{6898C47D-DEA6-4B72-A45E-49A23C60A7A2}"/>
              </a:ext>
            </a:extLst>
          </p:cNvPr>
          <p:cNvSpPr>
            <a:spLocks noGrp="1"/>
          </p:cNvSpPr>
          <p:nvPr/>
        </p:nvSpPr>
        <p:spPr>
          <a:xfrm>
            <a:off x="8191500" y="4076700"/>
            <a:ext cx="3314700" cy="876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a:ea typeface="Arial"/>
                <a:cs typeface="Arial"/>
              </a:rPr>
              <a:t>Multi-step invariants</a:t>
            </a:r>
          </a:p>
        </p:txBody>
      </p:sp>
      <p:sp>
        <p:nvSpPr>
          <p:cNvPr id="37" name="Rectangle 36">
            <a:extLst>
              <a:ext uri="{FF2B5EF4-FFF2-40B4-BE49-F238E27FC236}">
                <a16:creationId xmlns:a16="http://schemas.microsoft.com/office/drawing/2014/main" id="{DF4869FE-E71D-4D53-9ECD-0036EBEEBB8B}"/>
              </a:ext>
            </a:extLst>
          </p:cNvPr>
          <p:cNvSpPr>
            <a:spLocks noGrp="1"/>
          </p:cNvSpPr>
          <p:nvPr/>
        </p:nvSpPr>
        <p:spPr>
          <a:xfrm>
            <a:off x="533400" y="5600700"/>
            <a:ext cx="11125200" cy="4381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725" b="1">
                <a:solidFill>
                  <a:srgbClr val="9F7E56"/>
                </a:solidFill>
                <a:latin typeface="Arial"/>
                <a:ea typeface="Arial"/>
                <a:cs typeface="Arial"/>
              </a:defRPr>
            </a:pPr>
            <a:r>
              <a:rPr sz="1725" b="1">
                <a:solidFill>
                  <a:srgbClr val="9F7E56"/>
                </a:solidFill>
                <a:latin typeface="Arial"/>
                <a:ea typeface="Arial"/>
                <a:cs typeface="Arial"/>
              </a:rPr>
              <a:t>Multi-stage decomposition  →  mandatory category injection  →  structured reasoning  →  self-review</a:t>
            </a:r>
          </a:p>
        </p:txBody>
      </p:sp>
      <p:sp>
        <p:nvSpPr>
          <p:cNvPr id="3" name="Slide Number Placeholder 2">
            <a:extLst>
              <a:ext uri="{FF2B5EF4-FFF2-40B4-BE49-F238E27FC236}">
                <a16:creationId xmlns:a16="http://schemas.microsoft.com/office/drawing/2014/main" id="{64E411BA-BF20-1560-09F9-D586F46E3334}"/>
              </a:ext>
            </a:extLst>
          </p:cNvPr>
          <p:cNvSpPr>
            <a:spLocks noGrp="1"/>
          </p:cNvSpPr>
          <p:nvPr>
            <p:ph type="sldNum" idx="12"/>
          </p:nvPr>
        </p:nvSpPr>
        <p:spPr/>
        <p:txBody>
          <a:bodyPr/>
          <a:lstStyle/>
          <a:p>
            <a:fld id="{3109D357-8067-4A1F-97B2-93C5160B78D9}" type="slidenum">
              <a:rPr lang="en-CA" smtClean="0"/>
              <a:t>7</a:t>
            </a:fld>
            <a:endParaRPr lang="en-CA"/>
          </a:p>
        </p:txBody>
      </p:sp>
    </p:spTree>
    <p:extLst>
      <p:ext uri="{BB962C8B-B14F-4D97-AF65-F5344CB8AC3E}">
        <p14:creationId xmlns:p14="http://schemas.microsoft.com/office/powerpoint/2010/main" val="1542087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266F25F-92C6-44E7-83F8-2B845AF576EE}"/>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800" b="1" dirty="0">
                <a:solidFill>
                  <a:srgbClr val="2E3A3C"/>
                </a:solidFill>
                <a:latin typeface="Times New Roman"/>
                <a:ea typeface="Times New Roman"/>
                <a:cs typeface="Times New Roman"/>
              </a:rPr>
              <a:t>Design: </a:t>
            </a:r>
            <a:r>
              <a:rPr lang="en-CA" sz="2800" dirty="0">
                <a:latin typeface="Times New Roman" panose="02020603050405020304" pitchFamily="18" charset="0"/>
                <a:ea typeface="Arial"/>
                <a:cs typeface="Times New Roman" panose="02020603050405020304" pitchFamily="18" charset="0"/>
              </a:rPr>
              <a:t>Cache what is common, isolate what can interfere</a:t>
            </a:r>
          </a:p>
        </p:txBody>
      </p:sp>
      <p:sp>
        <p:nvSpPr>
          <p:cNvPr id="16" name="Rectangle 15">
            <a:extLst>
              <a:ext uri="{FF2B5EF4-FFF2-40B4-BE49-F238E27FC236}">
                <a16:creationId xmlns:a16="http://schemas.microsoft.com/office/drawing/2014/main" id="{A5D01D66-04B6-4E60-9FBD-292D479AD881}"/>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1575" b="0">
                <a:solidFill>
                  <a:srgbClr val="777777"/>
                </a:solidFill>
                <a:latin typeface="Arial"/>
                <a:ea typeface="Arial"/>
                <a:cs typeface="Arial"/>
              </a:defRPr>
            </a:pPr>
            <a:r>
              <a:rPr lang="en-CA" sz="2000" dirty="0">
                <a:solidFill>
                  <a:schemeClr val="tx1">
                    <a:lumMod val="50000"/>
                    <a:lumOff val="50000"/>
                  </a:schemeClr>
                </a:solidFill>
                <a:latin typeface="Times New Roman"/>
                <a:ea typeface="Times New Roman"/>
                <a:cs typeface="Times New Roman"/>
              </a:rPr>
              <a:t>Shared discovery reduces setup; isolated batches preserve independence</a:t>
            </a:r>
            <a:endParaRPr sz="2000" dirty="0">
              <a:solidFill>
                <a:schemeClr val="tx1">
                  <a:lumMod val="50000"/>
                  <a:lumOff val="50000"/>
                </a:schemeClr>
              </a:solidFill>
              <a:latin typeface="Arial"/>
              <a:ea typeface="Arial"/>
              <a:cs typeface="Arial"/>
            </a:endParaRPr>
          </a:p>
        </p:txBody>
      </p:sp>
      <p:sp>
        <p:nvSpPr>
          <p:cNvPr id="17" name="Rectangle 16">
            <a:extLst>
              <a:ext uri="{FF2B5EF4-FFF2-40B4-BE49-F238E27FC236}">
                <a16:creationId xmlns:a16="http://schemas.microsoft.com/office/drawing/2014/main" id="{7DD9A616-CA89-4996-9F3B-7F9A77AD1AB9}"/>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BF77D443-7BD4-4FE9-8134-3521E615E35F}"/>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19" name="Rounded Rectangle 18">
            <a:extLst>
              <a:ext uri="{FF2B5EF4-FFF2-40B4-BE49-F238E27FC236}">
                <a16:creationId xmlns:a16="http://schemas.microsoft.com/office/drawing/2014/main" id="{06D338C9-6316-43B2-BB58-1622C8D77B42}"/>
              </a:ext>
            </a:extLst>
          </p:cNvPr>
          <p:cNvSpPr>
            <a:spLocks noGrp="1"/>
          </p:cNvSpPr>
          <p:nvPr/>
        </p:nvSpPr>
        <p:spPr>
          <a:xfrm>
            <a:off x="361950" y="1809750"/>
            <a:ext cx="2857500" cy="3676650"/>
          </a:xfrm>
          <a:prstGeom prst="roundRect">
            <a:avLst>
              <a:gd name="adj" fmla="val 2667"/>
            </a:avLst>
          </a:prstGeom>
          <a:solidFill>
            <a:srgbClr val="DCE8BF"/>
          </a:solidFill>
          <a:ln w="9525">
            <a:solidFill>
              <a:srgbClr val="7A8773"/>
            </a:solidFill>
          </a:ln>
        </p:spPr>
        <p:txBody>
          <a:bodyPr/>
          <a:lstStyle/>
          <a:p>
            <a:endParaRPr lang="en-US"/>
          </a:p>
        </p:txBody>
      </p:sp>
      <p:sp>
        <p:nvSpPr>
          <p:cNvPr id="20" name="Rectangle 19">
            <a:extLst>
              <a:ext uri="{FF2B5EF4-FFF2-40B4-BE49-F238E27FC236}">
                <a16:creationId xmlns:a16="http://schemas.microsoft.com/office/drawing/2014/main" id="{D4FE04D7-B421-4712-959E-2FDF581AF5AB}"/>
              </a:ext>
            </a:extLst>
          </p:cNvPr>
          <p:cNvSpPr>
            <a:spLocks noGrp="1"/>
          </p:cNvSpPr>
          <p:nvPr/>
        </p:nvSpPr>
        <p:spPr>
          <a:xfrm>
            <a:off x="495300" y="1905000"/>
            <a:ext cx="2590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575" b="1">
                <a:solidFill>
                  <a:srgbClr val="7A8773"/>
                </a:solidFill>
                <a:latin typeface="Arial"/>
                <a:ea typeface="Arial"/>
                <a:cs typeface="Arial"/>
              </a:rPr>
              <a:t>API PROBE</a:t>
            </a:r>
          </a:p>
        </p:txBody>
      </p:sp>
      <p:sp>
        <p:nvSpPr>
          <p:cNvPr id="21" name="Rectangle 20">
            <a:extLst>
              <a:ext uri="{FF2B5EF4-FFF2-40B4-BE49-F238E27FC236}">
                <a16:creationId xmlns:a16="http://schemas.microsoft.com/office/drawing/2014/main" id="{B01AB87C-8D11-4EF2-86C4-EA4A35246307}"/>
              </a:ext>
            </a:extLst>
          </p:cNvPr>
          <p:cNvSpPr>
            <a:spLocks noGrp="1"/>
          </p:cNvSpPr>
          <p:nvPr/>
        </p:nvSpPr>
        <p:spPr>
          <a:xfrm>
            <a:off x="495300" y="2266950"/>
            <a:ext cx="2590800" cy="31242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Discovers once:</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 auth flows and credentials</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working endpoints</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response shapes</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useful IDs and constraints</a:t>
            </a:r>
          </a:p>
        </p:txBody>
      </p:sp>
      <p:sp>
        <p:nvSpPr>
          <p:cNvPr id="24" name="Rounded Rectangle 23">
            <a:extLst>
              <a:ext uri="{FF2B5EF4-FFF2-40B4-BE49-F238E27FC236}">
                <a16:creationId xmlns:a16="http://schemas.microsoft.com/office/drawing/2014/main" id="{E0B4C371-B9B9-45C1-92D1-A07487CEC79D}"/>
              </a:ext>
            </a:extLst>
          </p:cNvPr>
          <p:cNvSpPr>
            <a:spLocks noGrp="1"/>
          </p:cNvSpPr>
          <p:nvPr/>
        </p:nvSpPr>
        <p:spPr>
          <a:xfrm>
            <a:off x="4171950" y="1809750"/>
            <a:ext cx="3238500" cy="3676650"/>
          </a:xfrm>
          <a:prstGeom prst="roundRect">
            <a:avLst>
              <a:gd name="adj" fmla="val 2353"/>
            </a:avLst>
          </a:prstGeom>
          <a:solidFill>
            <a:srgbClr val="DDD7C7"/>
          </a:solidFill>
          <a:ln w="9525">
            <a:solidFill>
              <a:srgbClr val="9F7E56"/>
            </a:solidFill>
          </a:ln>
        </p:spPr>
        <p:txBody>
          <a:bodyPr/>
          <a:lstStyle/>
          <a:p>
            <a:endParaRPr lang="en-US"/>
          </a:p>
        </p:txBody>
      </p:sp>
      <p:sp>
        <p:nvSpPr>
          <p:cNvPr id="25" name="Rectangle 24">
            <a:extLst>
              <a:ext uri="{FF2B5EF4-FFF2-40B4-BE49-F238E27FC236}">
                <a16:creationId xmlns:a16="http://schemas.microsoft.com/office/drawing/2014/main" id="{7177C6A9-1547-4958-B996-A0502EAB58C6}"/>
              </a:ext>
            </a:extLst>
          </p:cNvPr>
          <p:cNvSpPr>
            <a:spLocks noGrp="1"/>
          </p:cNvSpPr>
          <p:nvPr/>
        </p:nvSpPr>
        <p:spPr>
          <a:xfrm>
            <a:off x="4305300" y="1905000"/>
            <a:ext cx="2971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575" b="1">
                <a:solidFill>
                  <a:srgbClr val="9F7E56"/>
                </a:solidFill>
                <a:latin typeface="Arial"/>
                <a:ea typeface="Arial"/>
                <a:cs typeface="Arial"/>
              </a:rPr>
              <a:t>CACHED PLAYBOOK</a:t>
            </a:r>
          </a:p>
        </p:txBody>
      </p:sp>
      <p:sp>
        <p:nvSpPr>
          <p:cNvPr id="26" name="Rectangle 25">
            <a:extLst>
              <a:ext uri="{FF2B5EF4-FFF2-40B4-BE49-F238E27FC236}">
                <a16:creationId xmlns:a16="http://schemas.microsoft.com/office/drawing/2014/main" id="{556AC430-E968-4E98-B670-A8D9C8C68ABF}"/>
              </a:ext>
            </a:extLst>
          </p:cNvPr>
          <p:cNvSpPr>
            <a:spLocks noGrp="1"/>
          </p:cNvSpPr>
          <p:nvPr/>
        </p:nvSpPr>
        <p:spPr>
          <a:xfrm>
            <a:off x="4305300" y="2266950"/>
            <a:ext cx="2971800" cy="31242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Injected as a shared prompt prefix across executors.</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Avoids repeated API discovery and enables prompt-cache reuse.</a:t>
            </a:r>
          </a:p>
        </p:txBody>
      </p:sp>
      <p:sp>
        <p:nvSpPr>
          <p:cNvPr id="29" name="Rounded Rectangle 28">
            <a:extLst>
              <a:ext uri="{FF2B5EF4-FFF2-40B4-BE49-F238E27FC236}">
                <a16:creationId xmlns:a16="http://schemas.microsoft.com/office/drawing/2014/main" id="{0B950D80-E788-4A31-8F50-EBD792CB869F}"/>
              </a:ext>
            </a:extLst>
          </p:cNvPr>
          <p:cNvSpPr>
            <a:spLocks noGrp="1"/>
          </p:cNvSpPr>
          <p:nvPr/>
        </p:nvSpPr>
        <p:spPr>
          <a:xfrm>
            <a:off x="8362950" y="1809750"/>
            <a:ext cx="3467100" cy="3676650"/>
          </a:xfrm>
          <a:prstGeom prst="roundRect">
            <a:avLst>
              <a:gd name="adj" fmla="val 2198"/>
            </a:avLst>
          </a:prstGeom>
          <a:solidFill>
            <a:srgbClr val="DED9D3"/>
          </a:solidFill>
          <a:ln w="9525">
            <a:solidFill>
              <a:srgbClr val="898470"/>
            </a:solidFill>
          </a:ln>
        </p:spPr>
        <p:txBody>
          <a:bodyPr/>
          <a:lstStyle/>
          <a:p>
            <a:endParaRPr lang="en-US"/>
          </a:p>
        </p:txBody>
      </p:sp>
      <p:sp>
        <p:nvSpPr>
          <p:cNvPr id="30" name="Rectangle 29">
            <a:extLst>
              <a:ext uri="{FF2B5EF4-FFF2-40B4-BE49-F238E27FC236}">
                <a16:creationId xmlns:a16="http://schemas.microsoft.com/office/drawing/2014/main" id="{1E7789D7-3A2D-4C6D-9101-CA9D4150FF7E}"/>
              </a:ext>
            </a:extLst>
          </p:cNvPr>
          <p:cNvSpPr>
            <a:spLocks noGrp="1"/>
          </p:cNvSpPr>
          <p:nvPr/>
        </p:nvSpPr>
        <p:spPr>
          <a:xfrm>
            <a:off x="8496300" y="1905000"/>
            <a:ext cx="32004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898470"/>
                </a:solidFill>
                <a:latin typeface="Arial"/>
                <a:ea typeface="Arial"/>
                <a:cs typeface="Arial"/>
              </a:defRPr>
            </a:pPr>
            <a:r>
              <a:rPr sz="1575" b="1">
                <a:solidFill>
                  <a:srgbClr val="898470"/>
                </a:solidFill>
                <a:latin typeface="Arial"/>
                <a:ea typeface="Arial"/>
                <a:cs typeface="Arial"/>
              </a:rPr>
              <a:t>PARALLEL BATCHES</a:t>
            </a:r>
          </a:p>
        </p:txBody>
      </p:sp>
      <p:sp>
        <p:nvSpPr>
          <p:cNvPr id="31" name="Rectangle 30">
            <a:extLst>
              <a:ext uri="{FF2B5EF4-FFF2-40B4-BE49-F238E27FC236}">
                <a16:creationId xmlns:a16="http://schemas.microsoft.com/office/drawing/2014/main" id="{361F3029-4523-4A70-A22F-DFBB99D05DF3}"/>
              </a:ext>
            </a:extLst>
          </p:cNvPr>
          <p:cNvSpPr>
            <a:spLocks noGrp="1"/>
          </p:cNvSpPr>
          <p:nvPr/>
        </p:nvSpPr>
        <p:spPr>
          <a:xfrm>
            <a:off x="8496300" y="2266950"/>
            <a:ext cx="3200400" cy="31242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Each executor receives the same playbook but maintains:</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 its own session pool</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its own turn budget</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its own evidence log</a:t>
            </a:r>
          </a:p>
        </p:txBody>
      </p:sp>
      <p:sp>
        <p:nvSpPr>
          <p:cNvPr id="3" name="Right Arrow 2">
            <a:extLst>
              <a:ext uri="{FF2B5EF4-FFF2-40B4-BE49-F238E27FC236}">
                <a16:creationId xmlns:a16="http://schemas.microsoft.com/office/drawing/2014/main" id="{AC1ED1C5-6DAE-808B-79DF-1D261E6124B9}"/>
              </a:ext>
            </a:extLst>
          </p:cNvPr>
          <p:cNvSpPr/>
          <p:nvPr/>
        </p:nvSpPr>
        <p:spPr>
          <a:xfrm>
            <a:off x="3292751" y="3429000"/>
            <a:ext cx="805898" cy="4141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93F30AC2-9ADB-0EBB-2B76-16077CD96F3C}"/>
              </a:ext>
            </a:extLst>
          </p:cNvPr>
          <p:cNvSpPr/>
          <p:nvPr/>
        </p:nvSpPr>
        <p:spPr>
          <a:xfrm>
            <a:off x="7483751" y="3441010"/>
            <a:ext cx="805898" cy="4141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13D3A50B-4E4D-CA1C-A3AE-120BCE847579}"/>
              </a:ext>
            </a:extLst>
          </p:cNvPr>
          <p:cNvSpPr>
            <a:spLocks noGrp="1"/>
          </p:cNvSpPr>
          <p:nvPr>
            <p:ph type="sldNum" idx="12"/>
          </p:nvPr>
        </p:nvSpPr>
        <p:spPr/>
        <p:txBody>
          <a:bodyPr/>
          <a:lstStyle/>
          <a:p>
            <a:fld id="{3109D357-8067-4A1F-97B2-93C5160B78D9}" type="slidenum">
              <a:rPr lang="en-CA" smtClean="0"/>
              <a:t>8</a:t>
            </a:fld>
            <a:endParaRPr lang="en-CA"/>
          </a:p>
        </p:txBody>
      </p:sp>
    </p:spTree>
    <p:extLst>
      <p:ext uri="{BB962C8B-B14F-4D97-AF65-F5344CB8AC3E}">
        <p14:creationId xmlns:p14="http://schemas.microsoft.com/office/powerpoint/2010/main" val="1542087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A6BE5-B552-4226-B887-FCDE99A10463}"/>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3000" b="1" dirty="0">
                <a:solidFill>
                  <a:srgbClr val="2E3A3C"/>
                </a:solidFill>
                <a:latin typeface="Times New Roman"/>
                <a:ea typeface="Times New Roman"/>
                <a:cs typeface="Times New Roman"/>
              </a:rPr>
              <a:t>Design: </a:t>
            </a:r>
            <a:r>
              <a:rPr sz="3000" b="1" dirty="0">
                <a:solidFill>
                  <a:srgbClr val="2E3A3C"/>
                </a:solidFill>
                <a:latin typeface="Times New Roman"/>
                <a:ea typeface="Times New Roman"/>
                <a:cs typeface="Times New Roman"/>
              </a:rPr>
              <a:t>The model chooses the race; the tool guarantees the overlap</a:t>
            </a:r>
          </a:p>
        </p:txBody>
      </p:sp>
      <p:sp>
        <p:nvSpPr>
          <p:cNvPr id="16" name="Rectangle 15">
            <a:extLst>
              <a:ext uri="{FF2B5EF4-FFF2-40B4-BE49-F238E27FC236}">
                <a16:creationId xmlns:a16="http://schemas.microsoft.com/office/drawing/2014/main" id="{D4879CDD-2C0A-4A20-AC21-8E7DE4ED8A83}"/>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000" dirty="0">
                <a:solidFill>
                  <a:srgbClr val="777777"/>
                </a:solidFill>
                <a:latin typeface="Times New Roman" panose="02020603050405020304" pitchFamily="18" charset="0"/>
                <a:ea typeface="Arial"/>
                <a:cs typeface="Times New Roman" panose="02020603050405020304" pitchFamily="18" charset="0"/>
              </a:rPr>
              <a:t>Concurrency is exposed as a first-class agent capability.</a:t>
            </a:r>
          </a:p>
        </p:txBody>
      </p:sp>
      <p:sp>
        <p:nvSpPr>
          <p:cNvPr id="17" name="Rectangle 16">
            <a:extLst>
              <a:ext uri="{FF2B5EF4-FFF2-40B4-BE49-F238E27FC236}">
                <a16:creationId xmlns:a16="http://schemas.microsoft.com/office/drawing/2014/main" id="{84B0B2F9-6696-4103-9411-45BE88B863AE}"/>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8BA36D0F-6EF2-439B-BA83-6AF9787CD66A}"/>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19" name="Rounded Rectangle 18">
            <a:extLst>
              <a:ext uri="{FF2B5EF4-FFF2-40B4-BE49-F238E27FC236}">
                <a16:creationId xmlns:a16="http://schemas.microsoft.com/office/drawing/2014/main" id="{D153BF70-4B89-46B5-9F27-5848037BBDB5}"/>
              </a:ext>
            </a:extLst>
          </p:cNvPr>
          <p:cNvSpPr>
            <a:spLocks noGrp="1"/>
          </p:cNvSpPr>
          <p:nvPr/>
        </p:nvSpPr>
        <p:spPr>
          <a:xfrm>
            <a:off x="457200" y="1847850"/>
            <a:ext cx="5219700" cy="3390900"/>
          </a:xfrm>
          <a:prstGeom prst="roundRect">
            <a:avLst>
              <a:gd name="adj" fmla="val 2247"/>
            </a:avLst>
          </a:prstGeom>
          <a:solidFill>
            <a:srgbClr val="DCE8BF"/>
          </a:solidFill>
          <a:ln w="9525">
            <a:solidFill>
              <a:srgbClr val="7A8773"/>
            </a:solidFill>
          </a:ln>
        </p:spPr>
        <p:txBody>
          <a:bodyPr/>
          <a:lstStyle/>
          <a:p>
            <a:endParaRPr lang="en-US"/>
          </a:p>
        </p:txBody>
      </p:sp>
      <p:sp>
        <p:nvSpPr>
          <p:cNvPr id="20" name="Rectangle 19">
            <a:extLst>
              <a:ext uri="{FF2B5EF4-FFF2-40B4-BE49-F238E27FC236}">
                <a16:creationId xmlns:a16="http://schemas.microsoft.com/office/drawing/2014/main" id="{45C19A34-AC1D-4D3C-9A8A-5B9AB39A00A4}"/>
              </a:ext>
            </a:extLst>
          </p:cNvPr>
          <p:cNvSpPr>
            <a:spLocks noGrp="1"/>
          </p:cNvSpPr>
          <p:nvPr/>
        </p:nvSpPr>
        <p:spPr>
          <a:xfrm>
            <a:off x="590550" y="1943100"/>
            <a:ext cx="49530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575" b="1">
                <a:solidFill>
                  <a:srgbClr val="7A8773"/>
                </a:solidFill>
                <a:latin typeface="Arial"/>
                <a:ea typeface="Arial"/>
                <a:cs typeface="Arial"/>
              </a:rPr>
              <a:t>race_pair</a:t>
            </a:r>
          </a:p>
        </p:txBody>
      </p:sp>
      <p:sp>
        <p:nvSpPr>
          <p:cNvPr id="21" name="Rectangle 20">
            <a:extLst>
              <a:ext uri="{FF2B5EF4-FFF2-40B4-BE49-F238E27FC236}">
                <a16:creationId xmlns:a16="http://schemas.microsoft.com/office/drawing/2014/main" id="{91E91777-9DF6-4679-A07C-B9C5D9653A63}"/>
              </a:ext>
            </a:extLst>
          </p:cNvPr>
          <p:cNvSpPr>
            <a:spLocks noGrp="1"/>
          </p:cNvSpPr>
          <p:nvPr/>
        </p:nvSpPr>
        <p:spPr>
          <a:xfrm>
            <a:off x="590550" y="2305050"/>
            <a:ext cx="4953000" cy="2838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Two prepared HTTP actions are released together with configurable microsecond-level skew.</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Best for:</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add + add</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pay + add-item</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delete + update</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Every action names an explicit session ID.</a:t>
            </a:r>
          </a:p>
        </p:txBody>
      </p:sp>
      <p:sp>
        <p:nvSpPr>
          <p:cNvPr id="22" name="Rounded Rectangle 21">
            <a:extLst>
              <a:ext uri="{FF2B5EF4-FFF2-40B4-BE49-F238E27FC236}">
                <a16:creationId xmlns:a16="http://schemas.microsoft.com/office/drawing/2014/main" id="{0A3EBC47-4BD8-466E-A79C-CE5233854C68}"/>
              </a:ext>
            </a:extLst>
          </p:cNvPr>
          <p:cNvSpPr>
            <a:spLocks noGrp="1"/>
          </p:cNvSpPr>
          <p:nvPr/>
        </p:nvSpPr>
        <p:spPr>
          <a:xfrm>
            <a:off x="6515100" y="1847850"/>
            <a:ext cx="5219700" cy="3390900"/>
          </a:xfrm>
          <a:prstGeom prst="roundRect">
            <a:avLst>
              <a:gd name="adj" fmla="val 2247"/>
            </a:avLst>
          </a:prstGeom>
          <a:solidFill>
            <a:srgbClr val="DDD7C7"/>
          </a:solidFill>
          <a:ln w="9525">
            <a:solidFill>
              <a:srgbClr val="9F7E56"/>
            </a:solidFill>
          </a:ln>
        </p:spPr>
        <p:txBody>
          <a:bodyPr/>
          <a:lstStyle/>
          <a:p>
            <a:endParaRPr lang="en-US"/>
          </a:p>
        </p:txBody>
      </p:sp>
      <p:sp>
        <p:nvSpPr>
          <p:cNvPr id="23" name="Rectangle 22">
            <a:extLst>
              <a:ext uri="{FF2B5EF4-FFF2-40B4-BE49-F238E27FC236}">
                <a16:creationId xmlns:a16="http://schemas.microsoft.com/office/drawing/2014/main" id="{349C92B1-9313-41FC-86A0-373E0DBAD322}"/>
              </a:ext>
            </a:extLst>
          </p:cNvPr>
          <p:cNvSpPr>
            <a:spLocks noGrp="1"/>
          </p:cNvSpPr>
          <p:nvPr/>
        </p:nvSpPr>
        <p:spPr>
          <a:xfrm>
            <a:off x="6648450" y="1943100"/>
            <a:ext cx="49530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575" b="1">
                <a:solidFill>
                  <a:srgbClr val="9F7E56"/>
                </a:solidFill>
                <a:latin typeface="Arial"/>
                <a:ea typeface="Arial"/>
                <a:cs typeface="Arial"/>
              </a:rPr>
              <a:t>barrier_concurrent</a:t>
            </a:r>
          </a:p>
        </p:txBody>
      </p:sp>
      <p:sp>
        <p:nvSpPr>
          <p:cNvPr id="24" name="Rectangle 23">
            <a:extLst>
              <a:ext uri="{FF2B5EF4-FFF2-40B4-BE49-F238E27FC236}">
                <a16:creationId xmlns:a16="http://schemas.microsoft.com/office/drawing/2014/main" id="{A59A524A-5644-451B-A74F-3182DB7DED9D}"/>
              </a:ext>
            </a:extLst>
          </p:cNvPr>
          <p:cNvSpPr>
            <a:spLocks noGrp="1"/>
          </p:cNvSpPr>
          <p:nvPr/>
        </p:nvSpPr>
        <p:spPr>
          <a:xfrm>
            <a:off x="6648450" y="2305050"/>
            <a:ext cx="4953000" cy="2838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N prepared requests wait at a shared barrier, then release simultaneously.</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Best for:</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duplicate registrations</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role/permission races</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multi-user contention</a:t>
            </a:r>
          </a:p>
          <a:p>
            <a:endParaRPr sz="1600" b="0" dirty="0">
              <a:solidFill>
                <a:srgbClr val="2E3A3C"/>
              </a:solidFill>
              <a:latin typeface="Arial"/>
              <a:ea typeface="Arial"/>
              <a:cs typeface="Arial"/>
            </a:endParaRPr>
          </a:p>
          <a:p>
            <a:pPr algn="l">
              <a:defRPr sz="1350" b="0">
                <a:solidFill>
                  <a:srgbClr val="2E3A3C"/>
                </a:solidFill>
                <a:latin typeface="Arial"/>
                <a:ea typeface="Arial"/>
                <a:cs typeface="Arial"/>
              </a:defRPr>
            </a:pPr>
            <a:r>
              <a:rPr sz="1600" b="0" dirty="0">
                <a:solidFill>
                  <a:srgbClr val="2E3A3C"/>
                </a:solidFill>
                <a:latin typeface="Arial"/>
                <a:ea typeface="Arial"/>
                <a:cs typeface="Arial"/>
              </a:rPr>
              <a:t>Returns all responses and timing together.</a:t>
            </a:r>
          </a:p>
        </p:txBody>
      </p:sp>
      <p:sp>
        <p:nvSpPr>
          <p:cNvPr id="3" name="Rounded Rectangle 2">
            <a:extLst>
              <a:ext uri="{FF2B5EF4-FFF2-40B4-BE49-F238E27FC236}">
                <a16:creationId xmlns:a16="http://schemas.microsoft.com/office/drawing/2014/main" id="{B042202B-81DB-A054-5177-125CB291FB6A}"/>
              </a:ext>
            </a:extLst>
          </p:cNvPr>
          <p:cNvSpPr/>
          <p:nvPr/>
        </p:nvSpPr>
        <p:spPr>
          <a:xfrm>
            <a:off x="3583263" y="5505450"/>
            <a:ext cx="1577423" cy="1028700"/>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solidFill>
                  <a:srgbClr val="777777"/>
                </a:solidFill>
                <a:latin typeface="Arial"/>
                <a:ea typeface="Arial"/>
                <a:cs typeface="Arial"/>
              </a:rPr>
              <a:t>Sequential agent loop</a:t>
            </a:r>
          </a:p>
        </p:txBody>
      </p:sp>
      <p:sp>
        <p:nvSpPr>
          <p:cNvPr id="4" name="Rounded Rectangle 3">
            <a:extLst>
              <a:ext uri="{FF2B5EF4-FFF2-40B4-BE49-F238E27FC236}">
                <a16:creationId xmlns:a16="http://schemas.microsoft.com/office/drawing/2014/main" id="{3FC579B6-7FCE-2244-BAEA-6DA8AAE6846E}"/>
              </a:ext>
            </a:extLst>
          </p:cNvPr>
          <p:cNvSpPr/>
          <p:nvPr/>
        </p:nvSpPr>
        <p:spPr>
          <a:xfrm>
            <a:off x="7177709" y="5505450"/>
            <a:ext cx="1577423" cy="10287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sz="1425" b="1">
                <a:solidFill>
                  <a:srgbClr val="9F7E56"/>
                </a:solidFill>
                <a:latin typeface="Arial"/>
                <a:ea typeface="Arial"/>
                <a:cs typeface="Arial"/>
              </a:defRPr>
            </a:pPr>
            <a:r>
              <a:rPr lang="en-CA" b="1" dirty="0">
                <a:solidFill>
                  <a:schemeClr val="bg1"/>
                </a:solidFill>
                <a:latin typeface="Arial"/>
                <a:ea typeface="Arial"/>
                <a:cs typeface="Arial"/>
              </a:rPr>
              <a:t>OS-level synchronized execution</a:t>
            </a:r>
          </a:p>
        </p:txBody>
      </p:sp>
      <p:cxnSp>
        <p:nvCxnSpPr>
          <p:cNvPr id="6" name="Straight Arrow Connector 5">
            <a:extLst>
              <a:ext uri="{FF2B5EF4-FFF2-40B4-BE49-F238E27FC236}">
                <a16:creationId xmlns:a16="http://schemas.microsoft.com/office/drawing/2014/main" id="{B0E575C3-62F2-7ED3-68A0-4E1841AB8C92}"/>
              </a:ext>
            </a:extLst>
          </p:cNvPr>
          <p:cNvCxnSpPr>
            <a:stCxn id="3" idx="3"/>
            <a:endCxn id="4" idx="1"/>
          </p:cNvCxnSpPr>
          <p:nvPr/>
        </p:nvCxnSpPr>
        <p:spPr>
          <a:xfrm>
            <a:off x="5160686" y="6019800"/>
            <a:ext cx="20170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541D1DAC-F4E7-9D9A-4042-4E6A5DF9E24B}"/>
              </a:ext>
            </a:extLst>
          </p:cNvPr>
          <p:cNvSpPr>
            <a:spLocks noGrp="1"/>
          </p:cNvSpPr>
          <p:nvPr>
            <p:ph type="sldNum" idx="12"/>
          </p:nvPr>
        </p:nvSpPr>
        <p:spPr/>
        <p:txBody>
          <a:bodyPr/>
          <a:lstStyle/>
          <a:p>
            <a:fld id="{3109D357-8067-4A1F-97B2-93C5160B78D9}" type="slidenum">
              <a:rPr lang="en-CA" smtClean="0"/>
              <a:t>9</a:t>
            </a:fld>
            <a:endParaRPr lang="en-CA"/>
          </a:p>
        </p:txBody>
      </p:sp>
    </p:spTree>
    <p:extLst>
      <p:ext uri="{BB962C8B-B14F-4D97-AF65-F5344CB8AC3E}">
        <p14:creationId xmlns:p14="http://schemas.microsoft.com/office/powerpoint/2010/main" val="1542087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640BF2C-D962-4332-8E5E-AE01629411D8}"/>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3000" b="1" dirty="0">
                <a:solidFill>
                  <a:srgbClr val="2E3A3C"/>
                </a:solidFill>
                <a:latin typeface="Times New Roman"/>
                <a:ea typeface="Times New Roman"/>
                <a:cs typeface="Times New Roman"/>
              </a:rPr>
              <a:t>Design: </a:t>
            </a:r>
            <a:r>
              <a:rPr sz="3000" b="1" dirty="0">
                <a:solidFill>
                  <a:srgbClr val="2E3A3C"/>
                </a:solidFill>
                <a:latin typeface="Times New Roman"/>
                <a:ea typeface="Times New Roman"/>
                <a:cs typeface="Times New Roman"/>
              </a:rPr>
              <a:t>Evaluation design isolates architecture effects</a:t>
            </a:r>
          </a:p>
        </p:txBody>
      </p:sp>
      <p:sp>
        <p:nvSpPr>
          <p:cNvPr id="16" name="Rectangle 15">
            <a:extLst>
              <a:ext uri="{FF2B5EF4-FFF2-40B4-BE49-F238E27FC236}">
                <a16:creationId xmlns:a16="http://schemas.microsoft.com/office/drawing/2014/main" id="{B0C6635D-D21D-4AD6-A778-D33FEE2DF43F}"/>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1600" b="0" dirty="0">
                <a:solidFill>
                  <a:srgbClr val="777777"/>
                </a:solidFill>
                <a:latin typeface="Times New Roman" panose="02020603050405020304" pitchFamily="18" charset="0"/>
                <a:ea typeface="Arial"/>
                <a:cs typeface="Times New Roman" panose="02020603050405020304" pitchFamily="18" charset="0"/>
              </a:rPr>
              <a:t>Three auth-diverse services, clean resets, concrete HTTP evidence, and matched-model comparison.</a:t>
            </a:r>
          </a:p>
        </p:txBody>
      </p:sp>
      <p:sp>
        <p:nvSpPr>
          <p:cNvPr id="17" name="Rectangle 16">
            <a:extLst>
              <a:ext uri="{FF2B5EF4-FFF2-40B4-BE49-F238E27FC236}">
                <a16:creationId xmlns:a16="http://schemas.microsoft.com/office/drawing/2014/main" id="{02414D1C-2CA3-4C2F-951C-E003E825C7CD}"/>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6DA0FC7C-C9FD-4ED1-B3C8-341372F5594F}"/>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p:cNvPicPr>
            <a:picLocks noChangeAspect="1"/>
          </p:cNvPicPr>
          <p:nvPr/>
        </p:nvPicPr>
        <p:blipFill>
          <a:blip r:embed="rId3"/>
          <a:stretch/>
        </p:blipFill>
        <p:spPr>
          <a:xfrm>
            <a:off x="2401128" y="1572683"/>
            <a:ext cx="6896100" cy="1532467"/>
          </a:xfrm>
          <a:prstGeom prst="rect">
            <a:avLst/>
          </a:prstGeom>
        </p:spPr>
      </p:pic>
      <p:sp>
        <p:nvSpPr>
          <p:cNvPr id="20" name="Rounded Rectangle 19">
            <a:extLst>
              <a:ext uri="{FF2B5EF4-FFF2-40B4-BE49-F238E27FC236}">
                <a16:creationId xmlns:a16="http://schemas.microsoft.com/office/drawing/2014/main" id="{357B51B5-840D-4BFB-BE4E-009D85DE90D8}"/>
              </a:ext>
            </a:extLst>
          </p:cNvPr>
          <p:cNvSpPr>
            <a:spLocks noGrp="1"/>
          </p:cNvSpPr>
          <p:nvPr/>
        </p:nvSpPr>
        <p:spPr>
          <a:xfrm>
            <a:off x="1133889" y="3524250"/>
            <a:ext cx="4191000" cy="1657350"/>
          </a:xfrm>
          <a:prstGeom prst="roundRect">
            <a:avLst>
              <a:gd name="adj" fmla="val 4598"/>
            </a:avLst>
          </a:prstGeom>
          <a:solidFill>
            <a:srgbClr val="DCE8BF"/>
          </a:solidFill>
          <a:ln w="9525">
            <a:solidFill>
              <a:srgbClr val="7A8773"/>
            </a:solidFill>
          </a:ln>
        </p:spPr>
        <p:txBody>
          <a:bodyPr/>
          <a:lstStyle/>
          <a:p>
            <a:endParaRPr lang="en-US"/>
          </a:p>
        </p:txBody>
      </p:sp>
      <p:sp>
        <p:nvSpPr>
          <p:cNvPr id="21" name="Rectangle 20">
            <a:extLst>
              <a:ext uri="{FF2B5EF4-FFF2-40B4-BE49-F238E27FC236}">
                <a16:creationId xmlns:a16="http://schemas.microsoft.com/office/drawing/2014/main" id="{1A03E9F3-7338-4761-AFDA-EE06D0DDE08B}"/>
              </a:ext>
            </a:extLst>
          </p:cNvPr>
          <p:cNvSpPr>
            <a:spLocks noGrp="1"/>
          </p:cNvSpPr>
          <p:nvPr/>
        </p:nvSpPr>
        <p:spPr>
          <a:xfrm>
            <a:off x="1267239" y="3619500"/>
            <a:ext cx="39243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575" b="1" dirty="0">
                <a:solidFill>
                  <a:srgbClr val="7A8773"/>
                </a:solidFill>
                <a:latin typeface="Arial"/>
                <a:ea typeface="Arial"/>
                <a:cs typeface="Arial"/>
              </a:rPr>
              <a:t>CLAUDE CODE</a:t>
            </a:r>
          </a:p>
        </p:txBody>
      </p:sp>
      <p:sp>
        <p:nvSpPr>
          <p:cNvPr id="22" name="Rectangle 21">
            <a:extLst>
              <a:ext uri="{FF2B5EF4-FFF2-40B4-BE49-F238E27FC236}">
                <a16:creationId xmlns:a16="http://schemas.microsoft.com/office/drawing/2014/main" id="{A5A04F2F-1FD0-4E4A-8DDB-407F02279DCB}"/>
              </a:ext>
            </a:extLst>
          </p:cNvPr>
          <p:cNvSpPr>
            <a:spLocks noGrp="1"/>
          </p:cNvSpPr>
          <p:nvPr/>
        </p:nvSpPr>
        <p:spPr>
          <a:xfrm>
            <a:off x="1267239" y="3981450"/>
            <a:ext cx="3924300" cy="1104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350" b="0" dirty="0">
                <a:solidFill>
                  <a:srgbClr val="2E3A3C"/>
                </a:solidFill>
                <a:latin typeface="Arial"/>
                <a:ea typeface="Arial"/>
                <a:cs typeface="Arial"/>
              </a:rPr>
              <a:t>Same service information</a:t>
            </a:r>
          </a:p>
          <a:p>
            <a:pPr algn="l">
              <a:defRPr sz="1350" b="0">
                <a:solidFill>
                  <a:srgbClr val="2E3A3C"/>
                </a:solidFill>
                <a:latin typeface="Arial"/>
                <a:ea typeface="Arial"/>
                <a:cs typeface="Arial"/>
              </a:defRPr>
            </a:pPr>
            <a:r>
              <a:rPr sz="1350" b="0" dirty="0">
                <a:solidFill>
                  <a:srgbClr val="2E3A3C"/>
                </a:solidFill>
                <a:latin typeface="Arial"/>
                <a:ea typeface="Arial"/>
                <a:cs typeface="Arial"/>
              </a:rPr>
              <a:t>Same Sonnet 4.6 model family</a:t>
            </a:r>
          </a:p>
          <a:p>
            <a:pPr algn="l">
              <a:defRPr sz="1350" b="0">
                <a:solidFill>
                  <a:srgbClr val="2E3A3C"/>
                </a:solidFill>
                <a:latin typeface="Arial"/>
                <a:ea typeface="Arial"/>
                <a:cs typeface="Arial"/>
              </a:defRPr>
            </a:pPr>
            <a:r>
              <a:rPr sz="1350" b="0" dirty="0">
                <a:solidFill>
                  <a:srgbClr val="2E3A3C"/>
                </a:solidFill>
                <a:latin typeface="Arial"/>
                <a:ea typeface="Arial"/>
                <a:cs typeface="Arial"/>
              </a:rPr>
              <a:t>Isolates architecture effects</a:t>
            </a:r>
          </a:p>
        </p:txBody>
      </p:sp>
      <p:sp>
        <p:nvSpPr>
          <p:cNvPr id="23" name="Rounded Rectangle 22">
            <a:extLst>
              <a:ext uri="{FF2B5EF4-FFF2-40B4-BE49-F238E27FC236}">
                <a16:creationId xmlns:a16="http://schemas.microsoft.com/office/drawing/2014/main" id="{8436D2E1-C0E8-4382-BA48-188C1AE0D1DD}"/>
              </a:ext>
            </a:extLst>
          </p:cNvPr>
          <p:cNvSpPr>
            <a:spLocks noGrp="1"/>
          </p:cNvSpPr>
          <p:nvPr/>
        </p:nvSpPr>
        <p:spPr>
          <a:xfrm>
            <a:off x="6408254" y="3530048"/>
            <a:ext cx="4191000" cy="1657350"/>
          </a:xfrm>
          <a:prstGeom prst="roundRect">
            <a:avLst>
              <a:gd name="adj" fmla="val 4598"/>
            </a:avLst>
          </a:prstGeom>
          <a:solidFill>
            <a:srgbClr val="DDD7C7"/>
          </a:solidFill>
          <a:ln w="9525">
            <a:solidFill>
              <a:srgbClr val="9F7E56"/>
            </a:solidFill>
          </a:ln>
        </p:spPr>
        <p:txBody>
          <a:bodyPr/>
          <a:lstStyle/>
          <a:p>
            <a:endParaRPr lang="en-US"/>
          </a:p>
        </p:txBody>
      </p:sp>
      <p:sp>
        <p:nvSpPr>
          <p:cNvPr id="24" name="Rectangle 23">
            <a:extLst>
              <a:ext uri="{FF2B5EF4-FFF2-40B4-BE49-F238E27FC236}">
                <a16:creationId xmlns:a16="http://schemas.microsoft.com/office/drawing/2014/main" id="{F447A29D-59F5-47C6-9AE0-8139236AC5FA}"/>
              </a:ext>
            </a:extLst>
          </p:cNvPr>
          <p:cNvSpPr>
            <a:spLocks noGrp="1"/>
          </p:cNvSpPr>
          <p:nvPr/>
        </p:nvSpPr>
        <p:spPr>
          <a:xfrm>
            <a:off x="6541604" y="3625298"/>
            <a:ext cx="39243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575" b="1" dirty="0">
                <a:solidFill>
                  <a:srgbClr val="9F7E56"/>
                </a:solidFill>
                <a:latin typeface="Arial"/>
                <a:ea typeface="Arial"/>
                <a:cs typeface="Arial"/>
              </a:rPr>
              <a:t>AUTORESTTEST</a:t>
            </a:r>
          </a:p>
        </p:txBody>
      </p:sp>
      <p:sp>
        <p:nvSpPr>
          <p:cNvPr id="25" name="Rectangle 24">
            <a:extLst>
              <a:ext uri="{FF2B5EF4-FFF2-40B4-BE49-F238E27FC236}">
                <a16:creationId xmlns:a16="http://schemas.microsoft.com/office/drawing/2014/main" id="{B9EEBC37-E1B0-485D-9BC5-DF851BF5C40C}"/>
              </a:ext>
            </a:extLst>
          </p:cNvPr>
          <p:cNvSpPr>
            <a:spLocks noGrp="1"/>
          </p:cNvSpPr>
          <p:nvPr/>
        </p:nvSpPr>
        <p:spPr>
          <a:xfrm>
            <a:off x="6541604" y="3987248"/>
            <a:ext cx="3924300" cy="1104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350" b="0" dirty="0" err="1">
                <a:solidFill>
                  <a:srgbClr val="2E3A3C"/>
                </a:solidFill>
                <a:latin typeface="Arial"/>
                <a:ea typeface="Arial"/>
                <a:cs typeface="Arial"/>
              </a:rPr>
              <a:t>OpenAPI</a:t>
            </a:r>
            <a:r>
              <a:rPr sz="1350" b="0" dirty="0">
                <a:solidFill>
                  <a:srgbClr val="2E3A3C"/>
                </a:solidFill>
                <a:latin typeface="Arial"/>
                <a:ea typeface="Arial"/>
                <a:cs typeface="Arial"/>
              </a:rPr>
              <a:t>-based </a:t>
            </a:r>
            <a:r>
              <a:rPr sz="1350" b="0" dirty="0" err="1">
                <a:solidFill>
                  <a:srgbClr val="2E3A3C"/>
                </a:solidFill>
                <a:latin typeface="Arial"/>
                <a:ea typeface="Arial"/>
                <a:cs typeface="Arial"/>
              </a:rPr>
              <a:t>fuzzer</a:t>
            </a:r>
            <a:r>
              <a:rPr sz="1350" b="0" dirty="0">
                <a:solidFill>
                  <a:srgbClr val="2E3A3C"/>
                </a:solidFill>
                <a:latin typeface="Arial"/>
                <a:ea typeface="Arial"/>
                <a:cs typeface="Arial"/>
              </a:rPr>
              <a:t> baseline</a:t>
            </a:r>
          </a:p>
          <a:p>
            <a:pPr algn="l">
              <a:defRPr sz="1350" b="0">
                <a:solidFill>
                  <a:srgbClr val="2E3A3C"/>
                </a:solidFill>
                <a:latin typeface="Arial"/>
                <a:ea typeface="Arial"/>
                <a:cs typeface="Arial"/>
              </a:defRPr>
            </a:pPr>
            <a:r>
              <a:rPr sz="1350" b="0" dirty="0">
                <a:solidFill>
                  <a:srgbClr val="2E3A3C"/>
                </a:solidFill>
                <a:latin typeface="Arial"/>
                <a:ea typeface="Arial"/>
                <a:cs typeface="Arial"/>
              </a:rPr>
              <a:t>Compared for raw failures and operation coverage</a:t>
            </a:r>
          </a:p>
          <a:p>
            <a:pPr algn="l">
              <a:defRPr sz="1350" b="0">
                <a:solidFill>
                  <a:srgbClr val="2E3A3C"/>
                </a:solidFill>
                <a:latin typeface="Arial"/>
                <a:ea typeface="Arial"/>
                <a:cs typeface="Arial"/>
              </a:defRPr>
            </a:pPr>
            <a:r>
              <a:rPr sz="1350" b="0" dirty="0">
                <a:solidFill>
                  <a:srgbClr val="2E3A3C"/>
                </a:solidFill>
                <a:latin typeface="Arial"/>
                <a:ea typeface="Arial"/>
                <a:cs typeface="Arial"/>
              </a:rPr>
              <a:t>Excluded from semantic category/severity counts</a:t>
            </a:r>
          </a:p>
        </p:txBody>
      </p:sp>
      <p:sp>
        <p:nvSpPr>
          <p:cNvPr id="26" name="Rectangle 25">
            <a:extLst>
              <a:ext uri="{FF2B5EF4-FFF2-40B4-BE49-F238E27FC236}">
                <a16:creationId xmlns:a16="http://schemas.microsoft.com/office/drawing/2014/main" id="{97638DF7-31C1-46CC-AE3E-F807F2E67B80}"/>
              </a:ext>
            </a:extLst>
          </p:cNvPr>
          <p:cNvSpPr>
            <a:spLocks noGrp="1"/>
          </p:cNvSpPr>
          <p:nvPr/>
        </p:nvSpPr>
        <p:spPr>
          <a:xfrm>
            <a:off x="666750" y="5953125"/>
            <a:ext cx="1085850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575" b="1">
                <a:solidFill>
                  <a:srgbClr val="AA7862"/>
                </a:solidFill>
                <a:latin typeface="Arial"/>
                <a:ea typeface="Arial"/>
                <a:cs typeface="Arial"/>
              </a:defRPr>
            </a:pPr>
            <a:r>
              <a:rPr sz="1575" b="1" dirty="0">
                <a:solidFill>
                  <a:srgbClr val="AA7862"/>
                </a:solidFill>
                <a:latin typeface="Arial"/>
                <a:ea typeface="Arial"/>
                <a:cs typeface="Arial"/>
              </a:rPr>
              <a:t>Services are reset before every run. A bug counts only with exact HTTP request/response evidence.</a:t>
            </a:r>
          </a:p>
        </p:txBody>
      </p:sp>
      <p:sp>
        <p:nvSpPr>
          <p:cNvPr id="4" name="TextBox 3">
            <a:extLst>
              <a:ext uri="{FF2B5EF4-FFF2-40B4-BE49-F238E27FC236}">
                <a16:creationId xmlns:a16="http://schemas.microsoft.com/office/drawing/2014/main" id="{2575A478-2797-30BA-AF8C-C993B00DCE3B}"/>
              </a:ext>
            </a:extLst>
          </p:cNvPr>
          <p:cNvSpPr txBox="1"/>
          <p:nvPr/>
        </p:nvSpPr>
        <p:spPr>
          <a:xfrm>
            <a:off x="1276350" y="5312592"/>
            <a:ext cx="9554560" cy="646331"/>
          </a:xfrm>
          <a:prstGeom prst="rect">
            <a:avLst/>
          </a:prstGeom>
          <a:noFill/>
        </p:spPr>
        <p:txBody>
          <a:bodyPr wrap="square">
            <a:spAutoFit/>
          </a:bodyPr>
          <a:lstStyle/>
          <a:p>
            <a:r>
              <a:rPr lang="en-CA" sz="1800" b="1" i="0" dirty="0">
                <a:solidFill>
                  <a:srgbClr val="767676"/>
                </a:solidFill>
                <a:effectLst/>
                <a:latin typeface="Arial" panose="020B0604020202020204" pitchFamily="34" charset="0"/>
              </a:rPr>
              <a:t>WFD (Web Fuzzing Commons)</a:t>
            </a:r>
            <a:r>
              <a:rPr lang="en-CA" sz="1800" b="0" i="0" dirty="0">
                <a:solidFill>
                  <a:srgbClr val="474747"/>
                </a:solidFill>
                <a:effectLst/>
                <a:latin typeface="Arial" panose="020B0604020202020204" pitchFamily="34" charset="0"/>
              </a:rPr>
              <a:t> is a collection of 36 open-source APIs with all necessary scaffolding to easily run experiments with </a:t>
            </a:r>
            <a:r>
              <a:rPr lang="en-CA" sz="1800" b="0" i="0" dirty="0" err="1">
                <a:solidFill>
                  <a:srgbClr val="474747"/>
                </a:solidFill>
                <a:effectLst/>
                <a:latin typeface="Arial" panose="020B0604020202020204" pitchFamily="34" charset="0"/>
              </a:rPr>
              <a:t>fuzzers</a:t>
            </a:r>
            <a:r>
              <a:rPr lang="en-CA" sz="1800" b="0" i="0" dirty="0">
                <a:solidFill>
                  <a:srgbClr val="474747"/>
                </a:solidFill>
                <a:effectLst/>
                <a:latin typeface="Arial" panose="020B0604020202020204" pitchFamily="34" charset="0"/>
              </a:rPr>
              <a:t>.</a:t>
            </a:r>
            <a:endParaRPr lang="en-US" dirty="0"/>
          </a:p>
        </p:txBody>
      </p:sp>
      <p:sp>
        <p:nvSpPr>
          <p:cNvPr id="5" name="Slide Number Placeholder 4">
            <a:extLst>
              <a:ext uri="{FF2B5EF4-FFF2-40B4-BE49-F238E27FC236}">
                <a16:creationId xmlns:a16="http://schemas.microsoft.com/office/drawing/2014/main" id="{967489B2-89ED-5A2D-B41C-4CEF789C1F3C}"/>
              </a:ext>
            </a:extLst>
          </p:cNvPr>
          <p:cNvSpPr>
            <a:spLocks noGrp="1"/>
          </p:cNvSpPr>
          <p:nvPr>
            <p:ph type="sldNum" idx="12"/>
          </p:nvPr>
        </p:nvSpPr>
        <p:spPr/>
        <p:txBody>
          <a:bodyPr/>
          <a:lstStyle/>
          <a:p>
            <a:fld id="{3109D357-8067-4A1F-97B2-93C5160B78D9}" type="slidenum">
              <a:rPr lang="en-CA" smtClean="0"/>
              <a:t>10</a:t>
            </a:fld>
            <a:endParaRPr lang="en-CA"/>
          </a:p>
        </p:txBody>
      </p:sp>
    </p:spTree>
    <p:extLst>
      <p:ext uri="{BB962C8B-B14F-4D97-AF65-F5344CB8AC3E}">
        <p14:creationId xmlns:p14="http://schemas.microsoft.com/office/powerpoint/2010/main" val="1542087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61DF71-2C20-452C-A7BA-9F5BD045BF89}"/>
              </a:ext>
            </a:extLst>
          </p:cNvPr>
          <p:cNvSpPr>
            <a:spLocks noGrp="1"/>
          </p:cNvSpPr>
          <p:nvPr/>
        </p:nvSpPr>
        <p:spPr>
          <a:xfrm>
            <a:off x="419100" y="22860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Evaluation: </a:t>
            </a:r>
            <a:r>
              <a:rPr sz="2600" b="1" dirty="0">
                <a:solidFill>
                  <a:srgbClr val="2E3A3C"/>
                </a:solidFill>
                <a:latin typeface="Times New Roman"/>
                <a:ea typeface="Times New Roman"/>
                <a:cs typeface="Times New Roman"/>
              </a:rPr>
              <a:t>The tools find complementary failures—not the same bug set</a:t>
            </a:r>
          </a:p>
        </p:txBody>
      </p:sp>
      <p:sp>
        <p:nvSpPr>
          <p:cNvPr id="16" name="Rectangle 15">
            <a:extLst>
              <a:ext uri="{FF2B5EF4-FFF2-40B4-BE49-F238E27FC236}">
                <a16:creationId xmlns:a16="http://schemas.microsoft.com/office/drawing/2014/main" id="{E3096157-420A-420D-9099-813FF85635A0}"/>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000" b="0" dirty="0">
                <a:solidFill>
                  <a:srgbClr val="777777"/>
                </a:solidFill>
                <a:latin typeface="Times New Roman" panose="02020603050405020304" pitchFamily="18" charset="0"/>
                <a:ea typeface="Arial"/>
                <a:cs typeface="Times New Roman" panose="02020603050405020304" pitchFamily="18" charset="0"/>
              </a:rPr>
              <a:t>Only 18 of 84 confirmed findings overlap.</a:t>
            </a:r>
          </a:p>
        </p:txBody>
      </p:sp>
      <p:sp>
        <p:nvSpPr>
          <p:cNvPr id="17" name="Rectangle 16">
            <a:extLst>
              <a:ext uri="{FF2B5EF4-FFF2-40B4-BE49-F238E27FC236}">
                <a16:creationId xmlns:a16="http://schemas.microsoft.com/office/drawing/2014/main" id="{3759D866-AF55-4943-9CCF-BBB0B9F0218C}"/>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53BBD592-6BCA-451B-BE85-AED92FA25A48}"/>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p:cNvPicPr>
            <a:picLocks noChangeAspect="1"/>
          </p:cNvPicPr>
          <p:nvPr/>
        </p:nvPicPr>
        <p:blipFill>
          <a:blip r:embed="rId3"/>
          <a:stretch/>
        </p:blipFill>
        <p:spPr>
          <a:xfrm>
            <a:off x="419100" y="1863725"/>
            <a:ext cx="5334000" cy="2444750"/>
          </a:xfrm>
          <a:prstGeom prst="rect">
            <a:avLst/>
          </a:prstGeom>
        </p:spPr>
      </p:pic>
      <p:pic>
        <p:nvPicPr>
          <p:cNvPr id="20" name="Picture 19"/>
          <p:cNvPicPr>
            <a:picLocks noChangeAspect="1"/>
          </p:cNvPicPr>
          <p:nvPr/>
        </p:nvPicPr>
        <p:blipFill>
          <a:blip r:embed="rId4"/>
          <a:stretch/>
        </p:blipFill>
        <p:spPr>
          <a:xfrm>
            <a:off x="7049748" y="1619250"/>
            <a:ext cx="3502704" cy="3238500"/>
          </a:xfrm>
          <a:prstGeom prst="rect">
            <a:avLst/>
          </a:prstGeom>
        </p:spPr>
      </p:pic>
      <p:sp>
        <p:nvSpPr>
          <p:cNvPr id="4" name="TextBox 3">
            <a:extLst>
              <a:ext uri="{FF2B5EF4-FFF2-40B4-BE49-F238E27FC236}">
                <a16:creationId xmlns:a16="http://schemas.microsoft.com/office/drawing/2014/main" id="{29543CFB-D766-E325-C9AB-4098167A8B25}"/>
              </a:ext>
            </a:extLst>
          </p:cNvPr>
          <p:cNvSpPr txBox="1"/>
          <p:nvPr/>
        </p:nvSpPr>
        <p:spPr>
          <a:xfrm>
            <a:off x="951166" y="4833534"/>
            <a:ext cx="5144834" cy="1477328"/>
          </a:xfrm>
          <a:prstGeom prst="rect">
            <a:avLst/>
          </a:prstGeom>
          <a:noFill/>
        </p:spPr>
        <p:txBody>
          <a:bodyPr wrap="square">
            <a:spAutoFit/>
          </a:bodyPr>
          <a:lstStyle/>
          <a:p>
            <a:r>
              <a:rPr lang="en-CA" sz="1800" b="1" i="0" dirty="0">
                <a:solidFill>
                  <a:schemeClr val="accent1"/>
                </a:solidFill>
                <a:effectLst/>
                <a:latin typeface="Times New Roman" panose="02020603050405020304" pitchFamily="18" charset="0"/>
                <a:cs typeface="Times New Roman" panose="02020603050405020304" pitchFamily="18" charset="0"/>
              </a:rPr>
              <a:t>What happens to ART?</a:t>
            </a:r>
          </a:p>
          <a:p>
            <a:pPr marL="342900" indent="-342900">
              <a:buAutoNum type="arabicPeriod"/>
            </a:pPr>
            <a:r>
              <a:rPr lang="en-CA" sz="1800" b="1" i="0" dirty="0">
                <a:solidFill>
                  <a:schemeClr val="accent1"/>
                </a:solidFill>
                <a:effectLst/>
                <a:latin typeface="Times New Roman" panose="02020603050405020304" pitchFamily="18" charset="0"/>
                <a:cs typeface="Times New Roman" panose="02020603050405020304" pitchFamily="18" charset="0"/>
              </a:rPr>
              <a:t>It's a </a:t>
            </a:r>
            <a:r>
              <a:rPr lang="en-CA" sz="1800" b="1" i="0" dirty="0" err="1">
                <a:solidFill>
                  <a:schemeClr val="accent1"/>
                </a:solidFill>
                <a:effectLst/>
                <a:latin typeface="Times New Roman" panose="02020603050405020304" pitchFamily="18" charset="0"/>
                <a:cs typeface="Times New Roman" panose="02020603050405020304" pitchFamily="18" charset="0"/>
              </a:rPr>
              <a:t>fuzzer</a:t>
            </a:r>
            <a:r>
              <a:rPr lang="en-CA" sz="1800" b="1" i="0" dirty="0">
                <a:solidFill>
                  <a:schemeClr val="accent1"/>
                </a:solidFill>
                <a:effectLst/>
                <a:latin typeface="Times New Roman" panose="02020603050405020304" pitchFamily="18" charset="0"/>
                <a:cs typeface="Times New Roman" panose="02020603050405020304" pitchFamily="18" charset="0"/>
              </a:rPr>
              <a:t>, not a reasoner.</a:t>
            </a:r>
          </a:p>
          <a:p>
            <a:pPr marL="342900" indent="-342900">
              <a:buAutoNum type="arabicPeriod"/>
            </a:pPr>
            <a:r>
              <a:rPr lang="en-CA" b="1" dirty="0">
                <a:solidFill>
                  <a:schemeClr val="accent1"/>
                </a:solidFill>
                <a:latin typeface="Times New Roman" panose="02020603050405020304" pitchFamily="18" charset="0"/>
                <a:cs typeface="Times New Roman" panose="02020603050405020304" pitchFamily="18" charset="0"/>
              </a:rPr>
              <a:t>No semantic classification.</a:t>
            </a:r>
          </a:p>
          <a:p>
            <a:pPr marL="342900" indent="-342900">
              <a:buAutoNum type="arabicPeriod"/>
            </a:pPr>
            <a:r>
              <a:rPr lang="en-CA" b="1" dirty="0">
                <a:solidFill>
                  <a:schemeClr val="accent1"/>
                </a:solidFill>
                <a:latin typeface="Times New Roman" panose="02020603050405020304" pitchFamily="18" charset="0"/>
                <a:cs typeface="Times New Roman" panose="02020603050405020304" pitchFamily="18" charset="0"/>
              </a:rPr>
              <a:t>No multi-session or concurrency capability.</a:t>
            </a:r>
          </a:p>
          <a:p>
            <a:pPr marL="342900" indent="-342900">
              <a:buAutoNum type="arabicPeriod"/>
            </a:pPr>
            <a:r>
              <a:rPr lang="en-CA" b="1" dirty="0">
                <a:solidFill>
                  <a:schemeClr val="accent1"/>
                </a:solidFill>
                <a:latin typeface="Times New Roman" panose="02020603050405020304" pitchFamily="18" charset="0"/>
                <a:cs typeface="Times New Roman" panose="02020603050405020304" pitchFamily="18" charset="0"/>
              </a:rPr>
              <a:t>High noise drowns signal.</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7FF15FF-150D-CCDA-3D8A-CD1D7DD103A7}"/>
              </a:ext>
            </a:extLst>
          </p:cNvPr>
          <p:cNvSpPr>
            <a:spLocks noGrp="1"/>
          </p:cNvSpPr>
          <p:nvPr>
            <p:ph type="sldNum" idx="12"/>
          </p:nvPr>
        </p:nvSpPr>
        <p:spPr/>
        <p:txBody>
          <a:bodyPr/>
          <a:lstStyle/>
          <a:p>
            <a:fld id="{3109D357-8067-4A1F-97B2-93C5160B78D9}" type="slidenum">
              <a:rPr lang="en-CA" smtClean="0"/>
              <a:t>11</a:t>
            </a:fld>
            <a:endParaRPr lang="en-CA"/>
          </a:p>
        </p:txBody>
      </p:sp>
    </p:spTree>
    <p:extLst>
      <p:ext uri="{BB962C8B-B14F-4D97-AF65-F5344CB8AC3E}">
        <p14:creationId xmlns:p14="http://schemas.microsoft.com/office/powerpoint/2010/main" val="1542087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FC2EE6C-10BC-49FC-8B4C-E4D4CCE8BA6D}"/>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Evaluation: </a:t>
            </a:r>
            <a:r>
              <a:rPr sz="2600" b="1" dirty="0">
                <a:solidFill>
                  <a:srgbClr val="2E3A3C"/>
                </a:solidFill>
                <a:latin typeface="Times New Roman"/>
                <a:ea typeface="Times New Roman"/>
                <a:cs typeface="Times New Roman"/>
              </a:rPr>
              <a:t>ChaosArena shifts coverage toward concurrency and authorization</a:t>
            </a:r>
          </a:p>
        </p:txBody>
      </p:sp>
      <p:sp>
        <p:nvSpPr>
          <p:cNvPr id="16" name="Rectangle 15">
            <a:extLst>
              <a:ext uri="{FF2B5EF4-FFF2-40B4-BE49-F238E27FC236}">
                <a16:creationId xmlns:a16="http://schemas.microsoft.com/office/drawing/2014/main" id="{72ABEB9E-F374-48B7-BDDE-A2E5C92DE62B}"/>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000" b="0" dirty="0">
                <a:solidFill>
                  <a:srgbClr val="777777"/>
                </a:solidFill>
                <a:latin typeface="Times New Roman" panose="02020603050405020304" pitchFamily="18" charset="0"/>
                <a:ea typeface="Arial"/>
                <a:cs typeface="Times New Roman" panose="02020603050405020304" pitchFamily="18" charset="0"/>
              </a:rPr>
              <a:t>Claude Code remains stronger on open-ended HTTP semantics.</a:t>
            </a:r>
          </a:p>
        </p:txBody>
      </p:sp>
      <p:sp>
        <p:nvSpPr>
          <p:cNvPr id="17" name="Rectangle 16">
            <a:extLst>
              <a:ext uri="{FF2B5EF4-FFF2-40B4-BE49-F238E27FC236}">
                <a16:creationId xmlns:a16="http://schemas.microsoft.com/office/drawing/2014/main" id="{FFAE70C0-16B1-4989-A46B-7353159B0E26}"/>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777B0366-BE05-4BB1-86CF-5A08A28B730D}"/>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p:cNvPicPr>
            <a:picLocks noChangeAspect="1"/>
          </p:cNvPicPr>
          <p:nvPr/>
        </p:nvPicPr>
        <p:blipFill>
          <a:blip r:embed="rId3"/>
          <a:stretch/>
        </p:blipFill>
        <p:spPr>
          <a:xfrm>
            <a:off x="886309" y="4320048"/>
            <a:ext cx="5334000" cy="2150806"/>
          </a:xfrm>
          <a:prstGeom prst="rect">
            <a:avLst/>
          </a:prstGeom>
        </p:spPr>
      </p:pic>
      <p:pic>
        <p:nvPicPr>
          <p:cNvPr id="20" name="Picture 19"/>
          <p:cNvPicPr>
            <a:picLocks noChangeAspect="1"/>
          </p:cNvPicPr>
          <p:nvPr/>
        </p:nvPicPr>
        <p:blipFill>
          <a:blip r:embed="rId4"/>
          <a:stretch/>
        </p:blipFill>
        <p:spPr>
          <a:xfrm>
            <a:off x="1490743" y="1416537"/>
            <a:ext cx="8118206" cy="2788070"/>
          </a:xfrm>
          <a:prstGeom prst="rect">
            <a:avLst/>
          </a:prstGeom>
        </p:spPr>
      </p:pic>
      <p:sp>
        <p:nvSpPr>
          <p:cNvPr id="21" name="Rectangle 20">
            <a:extLst>
              <a:ext uri="{FF2B5EF4-FFF2-40B4-BE49-F238E27FC236}">
                <a16:creationId xmlns:a16="http://schemas.microsoft.com/office/drawing/2014/main" id="{3DFFED1A-7FD6-41D4-8394-0CB4D8CE82AA}"/>
              </a:ext>
            </a:extLst>
          </p:cNvPr>
          <p:cNvSpPr>
            <a:spLocks noGrp="1"/>
          </p:cNvSpPr>
          <p:nvPr/>
        </p:nvSpPr>
        <p:spPr>
          <a:xfrm>
            <a:off x="6720453" y="4531480"/>
            <a:ext cx="3880388" cy="1800916"/>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marL="285750" indent="-285750">
              <a:buFont typeface="Arial" panose="020B0604020202020204" pitchFamily="34" charset="0"/>
              <a:buChar char="•"/>
            </a:pPr>
            <a:r>
              <a:rPr lang="en-CA" dirty="0">
                <a:solidFill>
                  <a:schemeClr val="accent4"/>
                </a:solidFill>
                <a:latin typeface="Times New Roman" panose="02020603050405020304" pitchFamily="18" charset="0"/>
                <a:cs typeface="Times New Roman" panose="02020603050405020304" pitchFamily="18" charset="0"/>
              </a:rPr>
              <a:t>ChaosArena is stronger on multi-session and concurrency-driven issues</a:t>
            </a:r>
          </a:p>
          <a:p>
            <a:pPr marL="285750" indent="-285750">
              <a:buFont typeface="Arial" panose="020B0604020202020204" pitchFamily="34" charset="0"/>
              <a:buChar char="•"/>
            </a:pPr>
            <a:r>
              <a:rPr lang="en-CA" dirty="0">
                <a:solidFill>
                  <a:schemeClr val="accent4"/>
                </a:solidFill>
                <a:latin typeface="Times New Roman" panose="02020603050405020304" pitchFamily="18" charset="0"/>
                <a:cs typeface="Times New Roman" panose="02020603050405020304" pitchFamily="18" charset="0"/>
              </a:rPr>
              <a:t>Claude Code is stronger on open-ended HTTP-semantics exploration</a:t>
            </a:r>
          </a:p>
          <a:p>
            <a:pPr marL="285750" indent="-285750" algn="ctr">
              <a:buFont typeface="Arial" panose="020B0604020202020204" pitchFamily="34" charset="0"/>
              <a:buChar char="•"/>
              <a:defRPr sz="1650" b="1">
                <a:solidFill>
                  <a:srgbClr val="9F7E56"/>
                </a:solidFill>
                <a:latin typeface="Arial"/>
                <a:ea typeface="Arial"/>
                <a:cs typeface="Arial"/>
              </a:defRPr>
            </a:pPr>
            <a:endParaRPr b="1" dirty="0">
              <a:solidFill>
                <a:schemeClr val="accent4"/>
              </a:solidFill>
              <a:latin typeface="Times New Roman" panose="02020603050405020304" pitchFamily="18" charset="0"/>
              <a:ea typeface="Arial"/>
              <a:cs typeface="Times New Roman" panose="02020603050405020304" pitchFamily="18" charset="0"/>
            </a:endParaRPr>
          </a:p>
        </p:txBody>
      </p:sp>
      <p:sp>
        <p:nvSpPr>
          <p:cNvPr id="3" name="Slide Number Placeholder 2">
            <a:extLst>
              <a:ext uri="{FF2B5EF4-FFF2-40B4-BE49-F238E27FC236}">
                <a16:creationId xmlns:a16="http://schemas.microsoft.com/office/drawing/2014/main" id="{D030FCC1-1681-452E-3F81-8D8B61D627CB}"/>
              </a:ext>
            </a:extLst>
          </p:cNvPr>
          <p:cNvSpPr>
            <a:spLocks noGrp="1"/>
          </p:cNvSpPr>
          <p:nvPr>
            <p:ph type="sldNum" idx="12"/>
          </p:nvPr>
        </p:nvSpPr>
        <p:spPr/>
        <p:txBody>
          <a:bodyPr/>
          <a:lstStyle/>
          <a:p>
            <a:fld id="{3109D357-8067-4A1F-97B2-93C5160B78D9}" type="slidenum">
              <a:rPr lang="en-CA" smtClean="0"/>
              <a:t>12</a:t>
            </a:fld>
            <a:endParaRPr lang="en-CA"/>
          </a:p>
        </p:txBody>
      </p:sp>
    </p:spTree>
    <p:extLst>
      <p:ext uri="{BB962C8B-B14F-4D97-AF65-F5344CB8AC3E}">
        <p14:creationId xmlns:p14="http://schemas.microsoft.com/office/powerpoint/2010/main" val="1542087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435B73D-58EF-430A-B551-9BB9B69A5EF2}"/>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Evaluation: </a:t>
            </a:r>
            <a:r>
              <a:rPr sz="2600" b="1" dirty="0">
                <a:solidFill>
                  <a:srgbClr val="2E3A3C"/>
                </a:solidFill>
                <a:latin typeface="Times New Roman"/>
                <a:ea typeface="Times New Roman"/>
                <a:cs typeface="Times New Roman"/>
              </a:rPr>
              <a:t>All 11 concurrency findings were exclusive to ChaosArena</a:t>
            </a:r>
          </a:p>
        </p:txBody>
      </p:sp>
      <p:sp>
        <p:nvSpPr>
          <p:cNvPr id="16" name="Rectangle 15">
            <a:extLst>
              <a:ext uri="{FF2B5EF4-FFF2-40B4-BE49-F238E27FC236}">
                <a16:creationId xmlns:a16="http://schemas.microsoft.com/office/drawing/2014/main" id="{78166047-D882-4647-A738-D148888E8FB2}"/>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000" b="0" dirty="0">
                <a:solidFill>
                  <a:srgbClr val="777777"/>
                </a:solidFill>
                <a:latin typeface="Times New Roman" panose="02020603050405020304" pitchFamily="18" charset="0"/>
                <a:ea typeface="Arial"/>
                <a:cs typeface="Times New Roman" panose="02020603050405020304" pitchFamily="18" charset="0"/>
              </a:rPr>
              <a:t>Seven expose internal constraint failures; four corrupt or retain stale state.</a:t>
            </a:r>
          </a:p>
        </p:txBody>
      </p:sp>
      <p:sp>
        <p:nvSpPr>
          <p:cNvPr id="17" name="Rectangle 16">
            <a:extLst>
              <a:ext uri="{FF2B5EF4-FFF2-40B4-BE49-F238E27FC236}">
                <a16:creationId xmlns:a16="http://schemas.microsoft.com/office/drawing/2014/main" id="{FC0BF0D4-987F-4D33-8D7A-B7DC1B917BED}"/>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33F04557-9AFB-4F52-A7AD-650439B688CE}"/>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p:cNvPicPr>
            <a:picLocks noChangeAspect="1"/>
          </p:cNvPicPr>
          <p:nvPr/>
        </p:nvPicPr>
        <p:blipFill>
          <a:blip r:embed="rId3"/>
          <a:stretch/>
        </p:blipFill>
        <p:spPr>
          <a:xfrm>
            <a:off x="400050" y="1638829"/>
            <a:ext cx="11391900" cy="4113742"/>
          </a:xfrm>
          <a:prstGeom prst="rect">
            <a:avLst/>
          </a:prstGeom>
        </p:spPr>
      </p:pic>
      <p:sp>
        <p:nvSpPr>
          <p:cNvPr id="20" name="Rectangle 19">
            <a:extLst>
              <a:ext uri="{FF2B5EF4-FFF2-40B4-BE49-F238E27FC236}">
                <a16:creationId xmlns:a16="http://schemas.microsoft.com/office/drawing/2014/main" id="{1CE289A3-A95D-4618-93FB-BC4F61215BBE}"/>
              </a:ext>
            </a:extLst>
          </p:cNvPr>
          <p:cNvSpPr>
            <a:spLocks noGrp="1"/>
          </p:cNvSpPr>
          <p:nvPr/>
        </p:nvSpPr>
        <p:spPr>
          <a:xfrm>
            <a:off x="1333500" y="5810250"/>
            <a:ext cx="95250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575" b="1">
                <a:solidFill>
                  <a:srgbClr val="9F7E56"/>
                </a:solidFill>
                <a:latin typeface="Arial"/>
                <a:ea typeface="Arial"/>
                <a:cs typeface="Arial"/>
              </a:defRPr>
            </a:pPr>
            <a:r>
              <a:rPr sz="1575" b="1">
                <a:solidFill>
                  <a:srgbClr val="9F7E56"/>
                </a:solidFill>
                <a:latin typeface="Arial"/>
                <a:ea typeface="Arial"/>
                <a:cs typeface="Arial"/>
              </a:rPr>
              <a:t>Failure modes: silent data corruption and unhandled internal exceptions.</a:t>
            </a:r>
          </a:p>
        </p:txBody>
      </p:sp>
      <p:sp>
        <p:nvSpPr>
          <p:cNvPr id="3" name="Slide Number Placeholder 2">
            <a:extLst>
              <a:ext uri="{FF2B5EF4-FFF2-40B4-BE49-F238E27FC236}">
                <a16:creationId xmlns:a16="http://schemas.microsoft.com/office/drawing/2014/main" id="{5F4361AF-1976-9C84-7C9D-88B2933D2C61}"/>
              </a:ext>
            </a:extLst>
          </p:cNvPr>
          <p:cNvSpPr>
            <a:spLocks noGrp="1"/>
          </p:cNvSpPr>
          <p:nvPr>
            <p:ph type="sldNum" idx="12"/>
          </p:nvPr>
        </p:nvSpPr>
        <p:spPr/>
        <p:txBody>
          <a:bodyPr/>
          <a:lstStyle/>
          <a:p>
            <a:fld id="{3109D357-8067-4A1F-97B2-93C5160B78D9}" type="slidenum">
              <a:rPr lang="en-CA" smtClean="0"/>
              <a:t>13</a:t>
            </a:fld>
            <a:endParaRPr lang="en-CA"/>
          </a:p>
        </p:txBody>
      </p:sp>
    </p:spTree>
    <p:extLst>
      <p:ext uri="{BB962C8B-B14F-4D97-AF65-F5344CB8AC3E}">
        <p14:creationId xmlns:p14="http://schemas.microsoft.com/office/powerpoint/2010/main" val="1542087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C6B9B94-BBBB-4E1B-9DAA-587924E1831F}"/>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Evaluation: </a:t>
            </a:r>
            <a:r>
              <a:rPr sz="2600" b="1" dirty="0">
                <a:solidFill>
                  <a:srgbClr val="2E3A3C"/>
                </a:solidFill>
                <a:latin typeface="Times New Roman"/>
                <a:ea typeface="Times New Roman"/>
                <a:cs typeface="Times New Roman"/>
              </a:rPr>
              <a:t>ChaosArena finds higher-impact failures faster—but costs more</a:t>
            </a:r>
          </a:p>
        </p:txBody>
      </p:sp>
      <p:sp>
        <p:nvSpPr>
          <p:cNvPr id="16" name="Rectangle 15">
            <a:extLst>
              <a:ext uri="{FF2B5EF4-FFF2-40B4-BE49-F238E27FC236}">
                <a16:creationId xmlns:a16="http://schemas.microsoft.com/office/drawing/2014/main" id="{7662135F-CCBC-4C85-8E40-62BF46072A5E}"/>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000" b="0" dirty="0">
                <a:solidFill>
                  <a:srgbClr val="777777"/>
                </a:solidFill>
                <a:latin typeface="Times New Roman" panose="02020603050405020304" pitchFamily="18" charset="0"/>
                <a:ea typeface="Arial"/>
                <a:cs typeface="Times New Roman" panose="02020603050405020304" pitchFamily="18" charset="0"/>
              </a:rPr>
              <a:t>Required coverage nearly matches Claude Code's total count before exploration.</a:t>
            </a:r>
          </a:p>
        </p:txBody>
      </p:sp>
      <p:sp>
        <p:nvSpPr>
          <p:cNvPr id="17" name="Rectangle 16">
            <a:extLst>
              <a:ext uri="{FF2B5EF4-FFF2-40B4-BE49-F238E27FC236}">
                <a16:creationId xmlns:a16="http://schemas.microsoft.com/office/drawing/2014/main" id="{9CEA75F0-3C64-40CC-AAF7-315619D7975C}"/>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E9820975-4B43-4172-A129-7CE018BF3BAF}"/>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p:cNvPicPr>
            <a:picLocks noChangeAspect="1"/>
          </p:cNvPicPr>
          <p:nvPr/>
        </p:nvPicPr>
        <p:blipFill>
          <a:blip r:embed="rId3"/>
          <a:stretch/>
        </p:blipFill>
        <p:spPr>
          <a:xfrm>
            <a:off x="913575" y="1609725"/>
            <a:ext cx="4587815" cy="3211470"/>
          </a:xfrm>
          <a:prstGeom prst="rect">
            <a:avLst/>
          </a:prstGeom>
        </p:spPr>
      </p:pic>
      <p:pic>
        <p:nvPicPr>
          <p:cNvPr id="20" name="Picture 19"/>
          <p:cNvPicPr>
            <a:picLocks noChangeAspect="1"/>
          </p:cNvPicPr>
          <p:nvPr/>
        </p:nvPicPr>
        <p:blipFill>
          <a:blip r:embed="rId4"/>
          <a:stretch/>
        </p:blipFill>
        <p:spPr>
          <a:xfrm>
            <a:off x="6419850" y="1938338"/>
            <a:ext cx="5238750" cy="2619375"/>
          </a:xfrm>
          <a:prstGeom prst="rect">
            <a:avLst/>
          </a:prstGeom>
        </p:spPr>
      </p:pic>
      <p:sp>
        <p:nvSpPr>
          <p:cNvPr id="21" name="Rectangle 20">
            <a:extLst>
              <a:ext uri="{FF2B5EF4-FFF2-40B4-BE49-F238E27FC236}">
                <a16:creationId xmlns:a16="http://schemas.microsoft.com/office/drawing/2014/main" id="{2040F3C8-7DA1-4A7A-A084-89F24B70A44A}"/>
              </a:ext>
            </a:extLst>
          </p:cNvPr>
          <p:cNvSpPr>
            <a:spLocks noGrp="1"/>
          </p:cNvSpPr>
          <p:nvPr/>
        </p:nvSpPr>
        <p:spPr>
          <a:xfrm>
            <a:off x="6399439" y="4940508"/>
            <a:ext cx="5238750" cy="14287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marL="285750" indent="-285750">
              <a:buFont typeface="Arial" panose="020B0604020202020204" pitchFamily="34" charset="0"/>
              <a:buChar char="•"/>
            </a:pPr>
            <a:r>
              <a:rPr lang="en-CA" sz="1575" b="1" dirty="0">
                <a:solidFill>
                  <a:srgbClr val="9F7E56"/>
                </a:solidFill>
                <a:latin typeface="Arial"/>
                <a:cs typeface="Arial"/>
              </a:rPr>
              <a:t>ChaosArena is more expensive per dollar</a:t>
            </a:r>
          </a:p>
          <a:p>
            <a:pPr marL="285750" indent="-285750">
              <a:buFont typeface="Arial" panose="020B0604020202020204" pitchFamily="34" charset="0"/>
              <a:buChar char="•"/>
            </a:pPr>
            <a:r>
              <a:rPr lang="en-CA" sz="1575" b="1" dirty="0">
                <a:solidFill>
                  <a:srgbClr val="9F7E56"/>
                </a:solidFill>
                <a:latin typeface="Arial"/>
                <a:cs typeface="Arial"/>
              </a:rPr>
              <a:t>Required phase alone nearly matches Claude Code's total bug count</a:t>
            </a:r>
          </a:p>
          <a:p>
            <a:pPr marL="285750" indent="-285750">
              <a:buFont typeface="Arial" panose="020B0604020202020204" pitchFamily="34" charset="0"/>
              <a:buChar char="•"/>
            </a:pPr>
            <a:r>
              <a:rPr lang="en-CA" sz="1575" b="1" dirty="0">
                <a:solidFill>
                  <a:srgbClr val="9F7E56"/>
                </a:solidFill>
                <a:latin typeface="Arial"/>
                <a:cs typeface="Arial"/>
              </a:rPr>
              <a:t>Parallel batches reduce wall-clock time</a:t>
            </a:r>
          </a:p>
          <a:p>
            <a:pPr marL="285750" indent="-285750">
              <a:buFont typeface="Arial" panose="020B0604020202020204" pitchFamily="34" charset="0"/>
              <a:buChar char="•"/>
            </a:pPr>
            <a:r>
              <a:rPr lang="en-CA" sz="1575" b="1" dirty="0">
                <a:solidFill>
                  <a:srgbClr val="9F7E56"/>
                </a:solidFill>
                <a:latin typeface="Arial"/>
                <a:cs typeface="Arial"/>
              </a:rPr>
              <a:t>Duplication in exploration is the main inefficiency</a:t>
            </a:r>
          </a:p>
        </p:txBody>
      </p:sp>
      <p:sp>
        <p:nvSpPr>
          <p:cNvPr id="4" name="TextBox 3">
            <a:extLst>
              <a:ext uri="{FF2B5EF4-FFF2-40B4-BE49-F238E27FC236}">
                <a16:creationId xmlns:a16="http://schemas.microsoft.com/office/drawing/2014/main" id="{990A71EB-C04D-7172-822C-F08AF52236CE}"/>
              </a:ext>
            </a:extLst>
          </p:cNvPr>
          <p:cNvSpPr txBox="1"/>
          <p:nvPr/>
        </p:nvSpPr>
        <p:spPr>
          <a:xfrm>
            <a:off x="767988" y="5054718"/>
            <a:ext cx="4878987" cy="1200329"/>
          </a:xfrm>
          <a:prstGeom prst="rect">
            <a:avLst/>
          </a:prstGeom>
          <a:noFill/>
        </p:spPr>
        <p:txBody>
          <a:bodyPr wrap="square">
            <a:spAutoFit/>
          </a:bodyPr>
          <a:lstStyle/>
          <a:p>
            <a:pPr marL="285750" indent="-285750">
              <a:buFont typeface="Arial" panose="020B0604020202020204" pitchFamily="34" charset="0"/>
              <a:buChar char="•"/>
            </a:pPr>
            <a:r>
              <a:rPr lang="en-CA" sz="1800" b="0" i="0" dirty="0">
                <a:effectLst/>
                <a:latin typeface="Times New Roman" panose="02020603050405020304" pitchFamily="18" charset="0"/>
                <a:cs typeface="Times New Roman" panose="02020603050405020304" pitchFamily="18" charset="0"/>
              </a:rPr>
              <a:t>HIGH for data corruption, internal exceptions, and serious state inconsistency; </a:t>
            </a:r>
          </a:p>
          <a:p>
            <a:pPr marL="285750" indent="-285750">
              <a:buFont typeface="Arial" panose="020B0604020202020204" pitchFamily="34" charset="0"/>
              <a:buChar char="•"/>
            </a:pPr>
            <a:r>
              <a:rPr lang="en-CA" sz="1800" b="0" i="0" dirty="0">
                <a:effectLst/>
                <a:latin typeface="Times New Roman" panose="02020603050405020304" pitchFamily="18" charset="0"/>
                <a:cs typeface="Times New Roman" panose="02020603050405020304" pitchFamily="18" charset="0"/>
              </a:rPr>
              <a:t>MEDIUM/LOW for status-code or validation deviations with limited security impact.</a:t>
            </a: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9D39D39-1395-ECE2-D960-D3E4C20793C2}"/>
              </a:ext>
            </a:extLst>
          </p:cNvPr>
          <p:cNvSpPr>
            <a:spLocks noGrp="1"/>
          </p:cNvSpPr>
          <p:nvPr>
            <p:ph type="sldNum" idx="12"/>
          </p:nvPr>
        </p:nvSpPr>
        <p:spPr/>
        <p:txBody>
          <a:bodyPr/>
          <a:lstStyle/>
          <a:p>
            <a:fld id="{3109D357-8067-4A1F-97B2-93C5160B78D9}" type="slidenum">
              <a:rPr lang="en-CA" smtClean="0"/>
              <a:t>14</a:t>
            </a:fld>
            <a:endParaRPr lang="en-CA"/>
          </a:p>
        </p:txBody>
      </p:sp>
    </p:spTree>
    <p:extLst>
      <p:ext uri="{BB962C8B-B14F-4D97-AF65-F5344CB8AC3E}">
        <p14:creationId xmlns:p14="http://schemas.microsoft.com/office/powerpoint/2010/main" val="1542087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D6526A3-834D-40D7-9090-0C6569145FFF}"/>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Evaluation: </a:t>
            </a:r>
            <a:r>
              <a:rPr sz="2600" b="1" dirty="0">
                <a:solidFill>
                  <a:srgbClr val="2E3A3C"/>
                </a:solidFill>
                <a:latin typeface="Times New Roman"/>
                <a:ea typeface="Times New Roman"/>
                <a:cs typeface="Times New Roman"/>
              </a:rPr>
              <a:t>Required coverage changes what the agent chooses to investigate</a:t>
            </a:r>
          </a:p>
        </p:txBody>
      </p:sp>
      <p:sp>
        <p:nvSpPr>
          <p:cNvPr id="16" name="Rectangle 15">
            <a:extLst>
              <a:ext uri="{FF2B5EF4-FFF2-40B4-BE49-F238E27FC236}">
                <a16:creationId xmlns:a16="http://schemas.microsoft.com/office/drawing/2014/main" id="{8A9F90D7-644E-480A-AE19-B70653722730}"/>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lang="en-CA" sz="2000" b="0" dirty="0">
                <a:solidFill>
                  <a:srgbClr val="777777"/>
                </a:solidFill>
                <a:latin typeface="Times New Roman" panose="02020603050405020304" pitchFamily="18" charset="0"/>
                <a:ea typeface="Arial"/>
                <a:cs typeface="Times New Roman" panose="02020603050405020304" pitchFamily="18" charset="0"/>
              </a:rPr>
              <a:t>The different findings follow directly from the workflow design.</a:t>
            </a:r>
            <a:endParaRPr sz="2000" b="0" dirty="0">
              <a:solidFill>
                <a:srgbClr val="777777"/>
              </a:solidFill>
              <a:latin typeface="Times New Roman" panose="02020603050405020304" pitchFamily="18" charset="0"/>
              <a:ea typeface="Arial"/>
              <a:cs typeface="Times New Roman" panose="02020603050405020304" pitchFamily="18" charset="0"/>
            </a:endParaRPr>
          </a:p>
        </p:txBody>
      </p:sp>
      <p:sp>
        <p:nvSpPr>
          <p:cNvPr id="17" name="Rectangle 16">
            <a:extLst>
              <a:ext uri="{FF2B5EF4-FFF2-40B4-BE49-F238E27FC236}">
                <a16:creationId xmlns:a16="http://schemas.microsoft.com/office/drawing/2014/main" id="{44084908-BC69-491E-A2CC-7243DA0E7F19}"/>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1CD7277A-4ECC-4202-B2E8-8BE1A911A4B8}"/>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19" name="Rounded Rectangle 18">
            <a:extLst>
              <a:ext uri="{FF2B5EF4-FFF2-40B4-BE49-F238E27FC236}">
                <a16:creationId xmlns:a16="http://schemas.microsoft.com/office/drawing/2014/main" id="{1D3B9071-2814-4708-A77D-7D18B46D1B46}"/>
              </a:ext>
            </a:extLst>
          </p:cNvPr>
          <p:cNvSpPr>
            <a:spLocks noGrp="1"/>
          </p:cNvSpPr>
          <p:nvPr/>
        </p:nvSpPr>
        <p:spPr>
          <a:xfrm>
            <a:off x="381000" y="2152650"/>
            <a:ext cx="2476500" cy="2305050"/>
          </a:xfrm>
          <a:prstGeom prst="roundRect">
            <a:avLst>
              <a:gd name="adj" fmla="val 3306"/>
            </a:avLst>
          </a:prstGeom>
          <a:solidFill>
            <a:srgbClr val="DCE8BF"/>
          </a:solidFill>
          <a:ln w="9525">
            <a:solidFill>
              <a:srgbClr val="7A8773"/>
            </a:solidFill>
          </a:ln>
        </p:spPr>
        <p:txBody>
          <a:bodyPr/>
          <a:lstStyle/>
          <a:p>
            <a:endParaRPr lang="en-US" sz="16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993127DA-11EC-4EE9-81F8-600C77781CB3}"/>
              </a:ext>
            </a:extLst>
          </p:cNvPr>
          <p:cNvSpPr>
            <a:spLocks noGrp="1"/>
          </p:cNvSpPr>
          <p:nvPr/>
        </p:nvSpPr>
        <p:spPr>
          <a:xfrm>
            <a:off x="514350" y="2247900"/>
            <a:ext cx="2209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600" b="1">
                <a:solidFill>
                  <a:srgbClr val="7A8773"/>
                </a:solidFill>
                <a:latin typeface="Arial" panose="020B0604020202020204" pitchFamily="34" charset="0"/>
                <a:ea typeface="Arial"/>
                <a:cs typeface="Arial" panose="020B0604020202020204" pitchFamily="34" charset="0"/>
              </a:rPr>
              <a:t>Coverage contract</a:t>
            </a:r>
          </a:p>
        </p:txBody>
      </p:sp>
      <p:sp>
        <p:nvSpPr>
          <p:cNvPr id="21" name="Rectangle 20">
            <a:extLst>
              <a:ext uri="{FF2B5EF4-FFF2-40B4-BE49-F238E27FC236}">
                <a16:creationId xmlns:a16="http://schemas.microsoft.com/office/drawing/2014/main" id="{7198A608-C0B3-4BCD-B0CF-67353512D59F}"/>
              </a:ext>
            </a:extLst>
          </p:cNvPr>
          <p:cNvSpPr>
            <a:spLocks noGrp="1"/>
          </p:cNvSpPr>
          <p:nvPr/>
        </p:nvSpPr>
        <p:spPr>
          <a:xfrm>
            <a:off x="514350" y="2609850"/>
            <a:ext cx="2209800" cy="1752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panose="020B0604020202020204" pitchFamily="34" charset="0"/>
                <a:ea typeface="Arial"/>
                <a:cs typeface="Arial" panose="020B0604020202020204" pitchFamily="34" charset="0"/>
              </a:rPr>
              <a:t>forces concurrency + auth scenarios</a:t>
            </a:r>
          </a:p>
        </p:txBody>
      </p:sp>
      <p:sp>
        <p:nvSpPr>
          <p:cNvPr id="24" name="Rounded Rectangle 23">
            <a:extLst>
              <a:ext uri="{FF2B5EF4-FFF2-40B4-BE49-F238E27FC236}">
                <a16:creationId xmlns:a16="http://schemas.microsoft.com/office/drawing/2014/main" id="{D14A7DCF-2C3D-4050-844A-E1A16E682935}"/>
              </a:ext>
            </a:extLst>
          </p:cNvPr>
          <p:cNvSpPr>
            <a:spLocks noGrp="1"/>
          </p:cNvSpPr>
          <p:nvPr/>
        </p:nvSpPr>
        <p:spPr>
          <a:xfrm>
            <a:off x="3276600" y="2152650"/>
            <a:ext cx="2476500" cy="2305050"/>
          </a:xfrm>
          <a:prstGeom prst="roundRect">
            <a:avLst>
              <a:gd name="adj" fmla="val 3306"/>
            </a:avLst>
          </a:prstGeom>
          <a:solidFill>
            <a:srgbClr val="DDD7C7"/>
          </a:solidFill>
          <a:ln w="9525">
            <a:solidFill>
              <a:srgbClr val="9F7E56"/>
            </a:solidFill>
          </a:ln>
        </p:spPr>
        <p:txBody>
          <a:bodyPr/>
          <a:lstStyle/>
          <a:p>
            <a:endParaRPr lang="en-US" sz="160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BA7EE499-160D-4684-9D8A-FE1C2D0C115A}"/>
              </a:ext>
            </a:extLst>
          </p:cNvPr>
          <p:cNvSpPr>
            <a:spLocks noGrp="1"/>
          </p:cNvSpPr>
          <p:nvPr/>
        </p:nvSpPr>
        <p:spPr>
          <a:xfrm>
            <a:off x="3409950" y="2247900"/>
            <a:ext cx="2209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600" b="1">
                <a:solidFill>
                  <a:srgbClr val="9F7E56"/>
                </a:solidFill>
                <a:latin typeface="Arial" panose="020B0604020202020204" pitchFamily="34" charset="0"/>
                <a:ea typeface="Arial"/>
                <a:cs typeface="Arial" panose="020B0604020202020204" pitchFamily="34" charset="0"/>
              </a:rPr>
              <a:t>Multiple sessions</a:t>
            </a:r>
          </a:p>
        </p:txBody>
      </p:sp>
      <p:sp>
        <p:nvSpPr>
          <p:cNvPr id="26" name="Rectangle 25">
            <a:extLst>
              <a:ext uri="{FF2B5EF4-FFF2-40B4-BE49-F238E27FC236}">
                <a16:creationId xmlns:a16="http://schemas.microsoft.com/office/drawing/2014/main" id="{D7DB5A49-BBC0-4614-A273-D1F52BA567C5}"/>
              </a:ext>
            </a:extLst>
          </p:cNvPr>
          <p:cNvSpPr>
            <a:spLocks noGrp="1"/>
          </p:cNvSpPr>
          <p:nvPr/>
        </p:nvSpPr>
        <p:spPr>
          <a:xfrm>
            <a:off x="3409950" y="2609850"/>
            <a:ext cx="2209800" cy="1752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panose="020B0604020202020204" pitchFamily="34" charset="0"/>
                <a:ea typeface="Arial"/>
                <a:cs typeface="Arial" panose="020B0604020202020204" pitchFamily="34" charset="0"/>
              </a:rPr>
              <a:t>enables systematic cross-user checks</a:t>
            </a:r>
          </a:p>
        </p:txBody>
      </p:sp>
      <p:sp>
        <p:nvSpPr>
          <p:cNvPr id="29" name="Rounded Rectangle 28">
            <a:extLst>
              <a:ext uri="{FF2B5EF4-FFF2-40B4-BE49-F238E27FC236}">
                <a16:creationId xmlns:a16="http://schemas.microsoft.com/office/drawing/2014/main" id="{AF96E676-2453-409E-A215-63F883F0E330}"/>
              </a:ext>
            </a:extLst>
          </p:cNvPr>
          <p:cNvSpPr>
            <a:spLocks noGrp="1"/>
          </p:cNvSpPr>
          <p:nvPr/>
        </p:nvSpPr>
        <p:spPr>
          <a:xfrm>
            <a:off x="6172200" y="2152650"/>
            <a:ext cx="2476500" cy="2305050"/>
          </a:xfrm>
          <a:prstGeom prst="roundRect">
            <a:avLst>
              <a:gd name="adj" fmla="val 3306"/>
            </a:avLst>
          </a:prstGeom>
          <a:solidFill>
            <a:srgbClr val="DCE8BF"/>
          </a:solidFill>
          <a:ln w="9525">
            <a:solidFill>
              <a:srgbClr val="7A8773"/>
            </a:solidFill>
          </a:ln>
        </p:spPr>
        <p:txBody>
          <a:bodyPr/>
          <a:lstStyle/>
          <a:p>
            <a:endParaRPr lang="en-US" sz="1600">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54DFB1DA-74A6-477A-9CFF-653B814DBB97}"/>
              </a:ext>
            </a:extLst>
          </p:cNvPr>
          <p:cNvSpPr>
            <a:spLocks noGrp="1"/>
          </p:cNvSpPr>
          <p:nvPr/>
        </p:nvSpPr>
        <p:spPr>
          <a:xfrm>
            <a:off x="6305550" y="2247900"/>
            <a:ext cx="2209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600" b="1">
                <a:solidFill>
                  <a:srgbClr val="7A8773"/>
                </a:solidFill>
                <a:latin typeface="Arial" panose="020B0604020202020204" pitchFamily="34" charset="0"/>
                <a:ea typeface="Arial"/>
                <a:cs typeface="Arial" panose="020B0604020202020204" pitchFamily="34" charset="0"/>
              </a:rPr>
              <a:t>Synchronized tools</a:t>
            </a:r>
          </a:p>
        </p:txBody>
      </p:sp>
      <p:sp>
        <p:nvSpPr>
          <p:cNvPr id="31" name="Rectangle 30">
            <a:extLst>
              <a:ext uri="{FF2B5EF4-FFF2-40B4-BE49-F238E27FC236}">
                <a16:creationId xmlns:a16="http://schemas.microsoft.com/office/drawing/2014/main" id="{B526BA2C-DEEF-4B5E-BFB5-65E7B87BC6F1}"/>
              </a:ext>
            </a:extLst>
          </p:cNvPr>
          <p:cNvSpPr>
            <a:spLocks noGrp="1"/>
          </p:cNvSpPr>
          <p:nvPr/>
        </p:nvSpPr>
        <p:spPr>
          <a:xfrm>
            <a:off x="6305550" y="2609850"/>
            <a:ext cx="2209800" cy="1752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panose="020B0604020202020204" pitchFamily="34" charset="0"/>
                <a:ea typeface="Arial"/>
                <a:cs typeface="Arial" panose="020B0604020202020204" pitchFamily="34" charset="0"/>
              </a:rPr>
              <a:t>creates database-level overlap</a:t>
            </a:r>
          </a:p>
        </p:txBody>
      </p:sp>
      <p:sp>
        <p:nvSpPr>
          <p:cNvPr id="34" name="Rounded Rectangle 33">
            <a:extLst>
              <a:ext uri="{FF2B5EF4-FFF2-40B4-BE49-F238E27FC236}">
                <a16:creationId xmlns:a16="http://schemas.microsoft.com/office/drawing/2014/main" id="{C629CB4B-EAD0-496E-A061-5521417C0846}"/>
              </a:ext>
            </a:extLst>
          </p:cNvPr>
          <p:cNvSpPr>
            <a:spLocks noGrp="1"/>
          </p:cNvSpPr>
          <p:nvPr/>
        </p:nvSpPr>
        <p:spPr>
          <a:xfrm>
            <a:off x="9067800" y="2152650"/>
            <a:ext cx="2476500" cy="2305050"/>
          </a:xfrm>
          <a:prstGeom prst="roundRect">
            <a:avLst>
              <a:gd name="adj" fmla="val 3306"/>
            </a:avLst>
          </a:prstGeom>
          <a:solidFill>
            <a:srgbClr val="DDD7C7"/>
          </a:solidFill>
          <a:ln w="9525">
            <a:solidFill>
              <a:srgbClr val="9F7E56"/>
            </a:solidFill>
          </a:ln>
        </p:spPr>
        <p:txBody>
          <a:bodyPr/>
          <a:lstStyle/>
          <a:p>
            <a:endParaRPr lang="en-US" sz="160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2881CE70-8180-4135-9190-32056A8C577C}"/>
              </a:ext>
            </a:extLst>
          </p:cNvPr>
          <p:cNvSpPr>
            <a:spLocks noGrp="1"/>
          </p:cNvSpPr>
          <p:nvPr/>
        </p:nvSpPr>
        <p:spPr>
          <a:xfrm>
            <a:off x="9201150" y="2247900"/>
            <a:ext cx="22098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600" b="1">
                <a:solidFill>
                  <a:srgbClr val="9F7E56"/>
                </a:solidFill>
                <a:latin typeface="Arial" panose="020B0604020202020204" pitchFamily="34" charset="0"/>
                <a:ea typeface="Arial"/>
                <a:cs typeface="Arial" panose="020B0604020202020204" pitchFamily="34" charset="0"/>
              </a:rPr>
              <a:t>Evidence verdicts</a:t>
            </a:r>
          </a:p>
        </p:txBody>
      </p:sp>
      <p:sp>
        <p:nvSpPr>
          <p:cNvPr id="36" name="Rectangle 35">
            <a:extLst>
              <a:ext uri="{FF2B5EF4-FFF2-40B4-BE49-F238E27FC236}">
                <a16:creationId xmlns:a16="http://schemas.microsoft.com/office/drawing/2014/main" id="{344B689C-2AD5-4B92-916A-C30B645218C6}"/>
              </a:ext>
            </a:extLst>
          </p:cNvPr>
          <p:cNvSpPr>
            <a:spLocks noGrp="1"/>
          </p:cNvSpPr>
          <p:nvPr/>
        </p:nvSpPr>
        <p:spPr>
          <a:xfrm>
            <a:off x="9201150" y="2609850"/>
            <a:ext cx="2209800" cy="1752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a:solidFill>
                  <a:srgbClr val="2E3A3C"/>
                </a:solidFill>
                <a:latin typeface="Arial" panose="020B0604020202020204" pitchFamily="34" charset="0"/>
                <a:ea typeface="Arial"/>
                <a:cs typeface="Arial" panose="020B0604020202020204" pitchFamily="34" charset="0"/>
              </a:rPr>
              <a:t>preserves request/response proof</a:t>
            </a:r>
          </a:p>
        </p:txBody>
      </p:sp>
      <p:sp>
        <p:nvSpPr>
          <p:cNvPr id="37" name="Rectangle 36">
            <a:extLst>
              <a:ext uri="{FF2B5EF4-FFF2-40B4-BE49-F238E27FC236}">
                <a16:creationId xmlns:a16="http://schemas.microsoft.com/office/drawing/2014/main" id="{9D8DF042-EBE4-4AEA-BBE2-119A8999950E}"/>
              </a:ext>
            </a:extLst>
          </p:cNvPr>
          <p:cNvSpPr>
            <a:spLocks noGrp="1"/>
          </p:cNvSpPr>
          <p:nvPr/>
        </p:nvSpPr>
        <p:spPr>
          <a:xfrm>
            <a:off x="1066800" y="5086350"/>
            <a:ext cx="4404610" cy="4572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800" b="1">
                <a:solidFill>
                  <a:srgbClr val="898470"/>
                </a:solidFill>
                <a:latin typeface="Arial"/>
                <a:ea typeface="Arial"/>
                <a:cs typeface="Arial"/>
              </a:defRPr>
            </a:pPr>
            <a:r>
              <a:rPr sz="1800" b="1" dirty="0">
                <a:solidFill>
                  <a:srgbClr val="898470"/>
                </a:solidFill>
                <a:latin typeface="Arial"/>
                <a:ea typeface="Arial"/>
                <a:cs typeface="Arial"/>
              </a:rPr>
              <a:t>Result: stronger multi-session and concurrency coverage</a:t>
            </a:r>
          </a:p>
        </p:txBody>
      </p:sp>
      <p:sp>
        <p:nvSpPr>
          <p:cNvPr id="38" name="Rectangle 37">
            <a:extLst>
              <a:ext uri="{FF2B5EF4-FFF2-40B4-BE49-F238E27FC236}">
                <a16:creationId xmlns:a16="http://schemas.microsoft.com/office/drawing/2014/main" id="{8A0697D8-80CE-4E5D-929D-A0CF5B2893DD}"/>
              </a:ext>
            </a:extLst>
          </p:cNvPr>
          <p:cNvSpPr>
            <a:spLocks noGrp="1"/>
          </p:cNvSpPr>
          <p:nvPr/>
        </p:nvSpPr>
        <p:spPr>
          <a:xfrm>
            <a:off x="6286500" y="5086350"/>
            <a:ext cx="4953000" cy="4572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800" b="1">
                <a:solidFill>
                  <a:srgbClr val="7A8773"/>
                </a:solidFill>
                <a:latin typeface="Arial"/>
                <a:ea typeface="Arial"/>
                <a:cs typeface="Arial"/>
              </a:defRPr>
            </a:pPr>
            <a:r>
              <a:rPr sz="1800" b="1">
                <a:solidFill>
                  <a:srgbClr val="7A8773"/>
                </a:solidFill>
                <a:latin typeface="Arial"/>
                <a:ea typeface="Arial"/>
                <a:cs typeface="Arial"/>
              </a:rPr>
              <a:t>Complement: Claude Code explores more HTTP-semantic side effects</a:t>
            </a:r>
          </a:p>
        </p:txBody>
      </p:sp>
      <p:cxnSp>
        <p:nvCxnSpPr>
          <p:cNvPr id="4" name="Straight Arrow Connector 3">
            <a:extLst>
              <a:ext uri="{FF2B5EF4-FFF2-40B4-BE49-F238E27FC236}">
                <a16:creationId xmlns:a16="http://schemas.microsoft.com/office/drawing/2014/main" id="{B62E9F20-9721-2CB2-EBC0-8AAF49BD5F41}"/>
              </a:ext>
            </a:extLst>
          </p:cNvPr>
          <p:cNvCxnSpPr>
            <a:stCxn id="19" idx="3"/>
            <a:endCxn id="24" idx="1"/>
          </p:cNvCxnSpPr>
          <p:nvPr/>
        </p:nvCxnSpPr>
        <p:spPr>
          <a:xfrm>
            <a:off x="2857500" y="3305175"/>
            <a:ext cx="419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A7824153-94F2-7112-0C50-EB7F74C81B49}"/>
              </a:ext>
            </a:extLst>
          </p:cNvPr>
          <p:cNvCxnSpPr>
            <a:cxnSpLocks/>
            <a:stCxn id="24" idx="3"/>
            <a:endCxn id="29" idx="1"/>
          </p:cNvCxnSpPr>
          <p:nvPr/>
        </p:nvCxnSpPr>
        <p:spPr>
          <a:xfrm>
            <a:off x="5753100" y="3305175"/>
            <a:ext cx="419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A836D07-F4A2-8D24-7AB0-D6FF794764C6}"/>
              </a:ext>
            </a:extLst>
          </p:cNvPr>
          <p:cNvCxnSpPr>
            <a:cxnSpLocks/>
            <a:stCxn id="29" idx="3"/>
            <a:endCxn id="34" idx="1"/>
          </p:cNvCxnSpPr>
          <p:nvPr/>
        </p:nvCxnSpPr>
        <p:spPr>
          <a:xfrm>
            <a:off x="8648700" y="3305175"/>
            <a:ext cx="419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Slide Number Placeholder 10">
            <a:extLst>
              <a:ext uri="{FF2B5EF4-FFF2-40B4-BE49-F238E27FC236}">
                <a16:creationId xmlns:a16="http://schemas.microsoft.com/office/drawing/2014/main" id="{B920C0BD-44AF-B2B9-5050-49F4D7475458}"/>
              </a:ext>
            </a:extLst>
          </p:cNvPr>
          <p:cNvSpPr>
            <a:spLocks noGrp="1"/>
          </p:cNvSpPr>
          <p:nvPr>
            <p:ph type="sldNum" idx="12"/>
          </p:nvPr>
        </p:nvSpPr>
        <p:spPr/>
        <p:txBody>
          <a:bodyPr/>
          <a:lstStyle/>
          <a:p>
            <a:fld id="{3109D357-8067-4A1F-97B2-93C5160B78D9}" type="slidenum">
              <a:rPr lang="en-CA" smtClean="0"/>
              <a:t>15</a:t>
            </a:fld>
            <a:endParaRPr lang="en-CA"/>
          </a:p>
        </p:txBody>
      </p:sp>
    </p:spTree>
    <p:extLst>
      <p:ext uri="{BB962C8B-B14F-4D97-AF65-F5344CB8AC3E}">
        <p14:creationId xmlns:p14="http://schemas.microsoft.com/office/powerpoint/2010/main" val="1542087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B2A5855-CA0E-4BBE-959F-196E19D53B95}"/>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Evaluation: </a:t>
            </a:r>
            <a:r>
              <a:rPr sz="2600" b="1" dirty="0">
                <a:solidFill>
                  <a:srgbClr val="2E3A3C"/>
                </a:solidFill>
                <a:latin typeface="Times New Roman"/>
                <a:ea typeface="Times New Roman"/>
                <a:cs typeface="Times New Roman"/>
              </a:rPr>
              <a:t>Can attempt concurrency is not the same as reliably exercising it</a:t>
            </a:r>
          </a:p>
        </p:txBody>
      </p:sp>
      <p:sp>
        <p:nvSpPr>
          <p:cNvPr id="16" name="Rectangle 15">
            <a:extLst>
              <a:ext uri="{FF2B5EF4-FFF2-40B4-BE49-F238E27FC236}">
                <a16:creationId xmlns:a16="http://schemas.microsoft.com/office/drawing/2014/main" id="{2C2ACE38-FA2E-4AD6-A4CB-2A70EC6E1685}"/>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lang="en-CA" sz="1600" b="0" dirty="0">
                <a:solidFill>
                  <a:srgbClr val="777777"/>
                </a:solidFill>
                <a:latin typeface="Times New Roman" panose="02020603050405020304" pitchFamily="18" charset="0"/>
                <a:ea typeface="Arial"/>
                <a:cs typeface="Times New Roman" panose="02020603050405020304" pitchFamily="18" charset="0"/>
              </a:rPr>
              <a:t>Claude Code tried one backgrounded shell loop; ChaosArena makes concurrency mandatory and synchronized.</a:t>
            </a:r>
            <a:endParaRPr sz="1600" b="0" dirty="0">
              <a:solidFill>
                <a:srgbClr val="777777"/>
              </a:solidFill>
              <a:latin typeface="Times New Roman" panose="02020603050405020304" pitchFamily="18" charset="0"/>
              <a:ea typeface="Arial"/>
              <a:cs typeface="Times New Roman" panose="02020603050405020304" pitchFamily="18" charset="0"/>
            </a:endParaRPr>
          </a:p>
        </p:txBody>
      </p:sp>
      <p:sp>
        <p:nvSpPr>
          <p:cNvPr id="17" name="Rectangle 16">
            <a:extLst>
              <a:ext uri="{FF2B5EF4-FFF2-40B4-BE49-F238E27FC236}">
                <a16:creationId xmlns:a16="http://schemas.microsoft.com/office/drawing/2014/main" id="{E54CA391-A512-405C-A5FA-04ECC3070FB8}"/>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CABE6CDF-02AB-4338-A5BB-ED339E111D17}"/>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19" name="Rounded Rectangle 18">
            <a:extLst>
              <a:ext uri="{FF2B5EF4-FFF2-40B4-BE49-F238E27FC236}">
                <a16:creationId xmlns:a16="http://schemas.microsoft.com/office/drawing/2014/main" id="{BBDD0A1B-3102-4D95-9845-38A7914BCF4F}"/>
              </a:ext>
            </a:extLst>
          </p:cNvPr>
          <p:cNvSpPr>
            <a:spLocks noGrp="1"/>
          </p:cNvSpPr>
          <p:nvPr/>
        </p:nvSpPr>
        <p:spPr>
          <a:xfrm>
            <a:off x="419100" y="1809750"/>
            <a:ext cx="5219700" cy="3714750"/>
          </a:xfrm>
          <a:prstGeom prst="roundRect">
            <a:avLst>
              <a:gd name="adj" fmla="val 2051"/>
            </a:avLst>
          </a:prstGeom>
          <a:solidFill>
            <a:srgbClr val="F1C4C2"/>
          </a:solidFill>
          <a:ln w="9525">
            <a:solidFill>
              <a:srgbClr val="AA7862"/>
            </a:solidFill>
          </a:ln>
        </p:spPr>
        <p:txBody>
          <a:bodyPr/>
          <a:lstStyle/>
          <a:p>
            <a:endParaRPr lang="en-US"/>
          </a:p>
        </p:txBody>
      </p:sp>
      <p:sp>
        <p:nvSpPr>
          <p:cNvPr id="20" name="Rectangle 19">
            <a:extLst>
              <a:ext uri="{FF2B5EF4-FFF2-40B4-BE49-F238E27FC236}">
                <a16:creationId xmlns:a16="http://schemas.microsoft.com/office/drawing/2014/main" id="{EA5B5C53-8C4C-4355-B5D7-A639B622036A}"/>
              </a:ext>
            </a:extLst>
          </p:cNvPr>
          <p:cNvSpPr>
            <a:spLocks noGrp="1"/>
          </p:cNvSpPr>
          <p:nvPr/>
        </p:nvSpPr>
        <p:spPr>
          <a:xfrm>
            <a:off x="552450" y="1905000"/>
            <a:ext cx="49530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AA7862"/>
                </a:solidFill>
                <a:latin typeface="Arial"/>
                <a:ea typeface="Arial"/>
                <a:cs typeface="Arial"/>
              </a:defRPr>
            </a:pPr>
            <a:r>
              <a:rPr sz="1575" b="1">
                <a:solidFill>
                  <a:srgbClr val="AA7862"/>
                </a:solidFill>
                <a:latin typeface="Arial"/>
                <a:ea typeface="Arial"/>
                <a:cs typeface="Arial"/>
              </a:rPr>
              <a:t>AD-HOC SCRIPT</a:t>
            </a:r>
          </a:p>
        </p:txBody>
      </p:sp>
      <p:sp>
        <p:nvSpPr>
          <p:cNvPr id="21" name="Rectangle 20">
            <a:extLst>
              <a:ext uri="{FF2B5EF4-FFF2-40B4-BE49-F238E27FC236}">
                <a16:creationId xmlns:a16="http://schemas.microsoft.com/office/drawing/2014/main" id="{8B6B6ED6-8D61-4C8D-A98E-E0E538F231BE}"/>
              </a:ext>
            </a:extLst>
          </p:cNvPr>
          <p:cNvSpPr>
            <a:spLocks noGrp="1"/>
          </p:cNvSpPr>
          <p:nvPr/>
        </p:nvSpPr>
        <p:spPr>
          <a:xfrm>
            <a:off x="552450" y="2266950"/>
            <a:ext cx="4953000" cy="3162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 attempted on 1 of 3 services</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one duplicate-creation pattern</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shell backgrounding, no barrier</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single user session</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depends on exploration choices</a:t>
            </a:r>
          </a:p>
        </p:txBody>
      </p:sp>
      <p:sp>
        <p:nvSpPr>
          <p:cNvPr id="22" name="Rounded Rectangle 21">
            <a:extLst>
              <a:ext uri="{FF2B5EF4-FFF2-40B4-BE49-F238E27FC236}">
                <a16:creationId xmlns:a16="http://schemas.microsoft.com/office/drawing/2014/main" id="{964514A7-D543-4F2F-A77D-7DDCA049963F}"/>
              </a:ext>
            </a:extLst>
          </p:cNvPr>
          <p:cNvSpPr>
            <a:spLocks noGrp="1"/>
          </p:cNvSpPr>
          <p:nvPr/>
        </p:nvSpPr>
        <p:spPr>
          <a:xfrm>
            <a:off x="6553200" y="1809750"/>
            <a:ext cx="5219700" cy="3714750"/>
          </a:xfrm>
          <a:prstGeom prst="roundRect">
            <a:avLst>
              <a:gd name="adj" fmla="val 2051"/>
            </a:avLst>
          </a:prstGeom>
          <a:solidFill>
            <a:srgbClr val="DCE8BF"/>
          </a:solidFill>
          <a:ln w="9525">
            <a:solidFill>
              <a:srgbClr val="7A8773"/>
            </a:solidFill>
          </a:ln>
        </p:spPr>
        <p:txBody>
          <a:bodyPr/>
          <a:lstStyle/>
          <a:p>
            <a:endParaRPr lang="en-US"/>
          </a:p>
        </p:txBody>
      </p:sp>
      <p:sp>
        <p:nvSpPr>
          <p:cNvPr id="23" name="Rectangle 22">
            <a:extLst>
              <a:ext uri="{FF2B5EF4-FFF2-40B4-BE49-F238E27FC236}">
                <a16:creationId xmlns:a16="http://schemas.microsoft.com/office/drawing/2014/main" id="{E387D28D-9EDD-4692-A22C-300DBFA721A6}"/>
              </a:ext>
            </a:extLst>
          </p:cNvPr>
          <p:cNvSpPr>
            <a:spLocks noGrp="1"/>
          </p:cNvSpPr>
          <p:nvPr/>
        </p:nvSpPr>
        <p:spPr>
          <a:xfrm>
            <a:off x="6686550" y="1905000"/>
            <a:ext cx="49530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7A8773"/>
                </a:solidFill>
                <a:latin typeface="Arial"/>
                <a:ea typeface="Arial"/>
                <a:cs typeface="Arial"/>
              </a:defRPr>
            </a:pPr>
            <a:r>
              <a:rPr sz="1575" b="1">
                <a:solidFill>
                  <a:srgbClr val="7A8773"/>
                </a:solidFill>
                <a:latin typeface="Arial"/>
                <a:ea typeface="Arial"/>
                <a:cs typeface="Arial"/>
              </a:rPr>
              <a:t>STRUCTURED CONCURRENCY</a:t>
            </a:r>
          </a:p>
        </p:txBody>
      </p:sp>
      <p:sp>
        <p:nvSpPr>
          <p:cNvPr id="24" name="Rectangle 23">
            <a:extLst>
              <a:ext uri="{FF2B5EF4-FFF2-40B4-BE49-F238E27FC236}">
                <a16:creationId xmlns:a16="http://schemas.microsoft.com/office/drawing/2014/main" id="{D9B6E074-3E21-4341-899A-9CD7FF301B36}"/>
              </a:ext>
            </a:extLst>
          </p:cNvPr>
          <p:cNvSpPr>
            <a:spLocks noGrp="1"/>
          </p:cNvSpPr>
          <p:nvPr/>
        </p:nvSpPr>
        <p:spPr>
          <a:xfrm>
            <a:off x="6686550" y="2266950"/>
            <a:ext cx="4953000" cy="31623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 required on every service</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4–7 race scenarios per service</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microsecond-level release coordination</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explicit multi-user sessions</a:t>
            </a:r>
          </a:p>
          <a:p>
            <a:pPr algn="l">
              <a:defRPr sz="1350" b="0">
                <a:solidFill>
                  <a:srgbClr val="2E3A3C"/>
                </a:solidFill>
                <a:latin typeface="Arial"/>
                <a:ea typeface="Arial"/>
                <a:cs typeface="Arial"/>
              </a:defRPr>
            </a:pPr>
            <a:r>
              <a:rPr sz="1600" b="0" dirty="0">
                <a:solidFill>
                  <a:srgbClr val="2E3A3C"/>
                </a:solidFill>
                <a:latin typeface="Arial"/>
                <a:ea typeface="Arial"/>
                <a:cs typeface="Arial"/>
              </a:rPr>
              <a:t>• evidence returned as one tool result</a:t>
            </a:r>
          </a:p>
        </p:txBody>
      </p:sp>
      <p:sp>
        <p:nvSpPr>
          <p:cNvPr id="25" name="Rectangle 24">
            <a:extLst>
              <a:ext uri="{FF2B5EF4-FFF2-40B4-BE49-F238E27FC236}">
                <a16:creationId xmlns:a16="http://schemas.microsoft.com/office/drawing/2014/main" id="{BE83B385-B088-41C3-A8F9-2646D424BD13}"/>
              </a:ext>
            </a:extLst>
          </p:cNvPr>
          <p:cNvSpPr>
            <a:spLocks noGrp="1"/>
          </p:cNvSpPr>
          <p:nvPr/>
        </p:nvSpPr>
        <p:spPr>
          <a:xfrm>
            <a:off x="1666875" y="5676900"/>
            <a:ext cx="28575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575" b="1">
                <a:solidFill>
                  <a:srgbClr val="AA7862"/>
                </a:solidFill>
                <a:latin typeface="Arial"/>
                <a:ea typeface="Arial"/>
                <a:cs typeface="Arial"/>
              </a:defRPr>
            </a:pPr>
            <a:r>
              <a:rPr sz="1575" b="1">
                <a:solidFill>
                  <a:srgbClr val="AA7862"/>
                </a:solidFill>
                <a:latin typeface="Arial"/>
                <a:ea typeface="Arial"/>
                <a:cs typeface="Arial"/>
              </a:rPr>
              <a:t>optional behavior</a:t>
            </a:r>
          </a:p>
        </p:txBody>
      </p:sp>
      <p:sp>
        <p:nvSpPr>
          <p:cNvPr id="26" name="Rectangle 25">
            <a:extLst>
              <a:ext uri="{FF2B5EF4-FFF2-40B4-BE49-F238E27FC236}">
                <a16:creationId xmlns:a16="http://schemas.microsoft.com/office/drawing/2014/main" id="{4F1E3CFB-E7C3-4DF5-AD74-45640FAA4FDF}"/>
              </a:ext>
            </a:extLst>
          </p:cNvPr>
          <p:cNvSpPr>
            <a:spLocks noGrp="1"/>
          </p:cNvSpPr>
          <p:nvPr/>
        </p:nvSpPr>
        <p:spPr>
          <a:xfrm>
            <a:off x="7810500" y="5676900"/>
            <a:ext cx="285750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575" b="1">
                <a:solidFill>
                  <a:srgbClr val="7A8773"/>
                </a:solidFill>
                <a:latin typeface="Arial"/>
                <a:ea typeface="Arial"/>
                <a:cs typeface="Arial"/>
              </a:defRPr>
            </a:pPr>
            <a:r>
              <a:rPr sz="1575" b="1">
                <a:solidFill>
                  <a:srgbClr val="7A8773"/>
                </a:solidFill>
                <a:latin typeface="Arial"/>
                <a:ea typeface="Arial"/>
                <a:cs typeface="Arial"/>
              </a:rPr>
              <a:t>coverage guarantee</a:t>
            </a:r>
          </a:p>
        </p:txBody>
      </p:sp>
      <p:sp>
        <p:nvSpPr>
          <p:cNvPr id="3" name="Slide Number Placeholder 2">
            <a:extLst>
              <a:ext uri="{FF2B5EF4-FFF2-40B4-BE49-F238E27FC236}">
                <a16:creationId xmlns:a16="http://schemas.microsoft.com/office/drawing/2014/main" id="{324D4EA7-6A39-4A3B-EAB2-D0706BA83B50}"/>
              </a:ext>
            </a:extLst>
          </p:cNvPr>
          <p:cNvSpPr>
            <a:spLocks noGrp="1"/>
          </p:cNvSpPr>
          <p:nvPr>
            <p:ph type="sldNum" idx="12"/>
          </p:nvPr>
        </p:nvSpPr>
        <p:spPr/>
        <p:txBody>
          <a:bodyPr/>
          <a:lstStyle/>
          <a:p>
            <a:fld id="{3109D357-8067-4A1F-97B2-93C5160B78D9}" type="slidenum">
              <a:rPr lang="en-CA" smtClean="0"/>
              <a:t>16</a:t>
            </a:fld>
            <a:endParaRPr lang="en-CA"/>
          </a:p>
        </p:txBody>
      </p:sp>
    </p:spTree>
    <p:extLst>
      <p:ext uri="{BB962C8B-B14F-4D97-AF65-F5344CB8AC3E}">
        <p14:creationId xmlns:p14="http://schemas.microsoft.com/office/powerpoint/2010/main" val="1542087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8D0C76C-E5C4-468B-BB94-BB9D01AE0607}"/>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2325" b="1">
                <a:solidFill>
                  <a:srgbClr val="2E3A3C"/>
                </a:solidFill>
                <a:latin typeface="Times New Roman"/>
                <a:ea typeface="Times New Roman"/>
                <a:cs typeface="Times New Roman"/>
              </a:defRPr>
            </a:pPr>
            <a:r>
              <a:rPr lang="en-US" sz="2600" b="1" dirty="0">
                <a:solidFill>
                  <a:srgbClr val="2E3A3C"/>
                </a:solidFill>
                <a:latin typeface="Times New Roman"/>
                <a:ea typeface="Times New Roman"/>
                <a:cs typeface="Times New Roman"/>
              </a:rPr>
              <a:t>Reflection: </a:t>
            </a:r>
            <a:r>
              <a:rPr sz="2600" b="1" dirty="0">
                <a:solidFill>
                  <a:srgbClr val="2E3A3C"/>
                </a:solidFill>
                <a:latin typeface="Times New Roman"/>
                <a:ea typeface="Times New Roman"/>
                <a:cs typeface="Times New Roman"/>
              </a:rPr>
              <a:t>The current evidence is promising, not yet production-general</a:t>
            </a:r>
          </a:p>
        </p:txBody>
      </p:sp>
      <p:sp>
        <p:nvSpPr>
          <p:cNvPr id="16" name="Rectangle 15">
            <a:extLst>
              <a:ext uri="{FF2B5EF4-FFF2-40B4-BE49-F238E27FC236}">
                <a16:creationId xmlns:a16="http://schemas.microsoft.com/office/drawing/2014/main" id="{6F0A59A8-EA0A-42BD-82D2-521D8C4E5BAF}"/>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sz="2000" b="0" dirty="0">
                <a:solidFill>
                  <a:srgbClr val="777777"/>
                </a:solidFill>
                <a:latin typeface="Times New Roman" panose="02020603050405020304" pitchFamily="18" charset="0"/>
                <a:ea typeface="Arial"/>
                <a:cs typeface="Times New Roman" panose="02020603050405020304" pitchFamily="18" charset="0"/>
              </a:rPr>
              <a:t>Several validity threats remain.</a:t>
            </a:r>
          </a:p>
        </p:txBody>
      </p:sp>
      <p:sp>
        <p:nvSpPr>
          <p:cNvPr id="17" name="Rectangle 16">
            <a:extLst>
              <a:ext uri="{FF2B5EF4-FFF2-40B4-BE49-F238E27FC236}">
                <a16:creationId xmlns:a16="http://schemas.microsoft.com/office/drawing/2014/main" id="{5CC072F1-6CBC-41E2-9622-3C686FAB87D0}"/>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1F4C9759-AF40-47D7-B886-B0801383E6F4}"/>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19" name="Rounded Rectangle 18">
            <a:extLst>
              <a:ext uri="{FF2B5EF4-FFF2-40B4-BE49-F238E27FC236}">
                <a16:creationId xmlns:a16="http://schemas.microsoft.com/office/drawing/2014/main" id="{CBCA1480-87CE-451A-986E-AB5EFD6762C9}"/>
              </a:ext>
            </a:extLst>
          </p:cNvPr>
          <p:cNvSpPr>
            <a:spLocks noGrp="1"/>
          </p:cNvSpPr>
          <p:nvPr/>
        </p:nvSpPr>
        <p:spPr>
          <a:xfrm>
            <a:off x="323850" y="1771650"/>
            <a:ext cx="5505450" cy="1104900"/>
          </a:xfrm>
          <a:prstGeom prst="roundRect">
            <a:avLst>
              <a:gd name="adj" fmla="val 6897"/>
            </a:avLst>
          </a:prstGeom>
          <a:solidFill>
            <a:srgbClr val="E2DEDA"/>
          </a:solidFill>
          <a:ln w="9525">
            <a:solidFill>
              <a:srgbClr val="AA7862"/>
            </a:solidFill>
          </a:ln>
        </p:spPr>
        <p:txBody>
          <a:bodyPr/>
          <a:lstStyle/>
          <a:p>
            <a:endParaRPr lang="en-US"/>
          </a:p>
        </p:txBody>
      </p:sp>
      <p:sp>
        <p:nvSpPr>
          <p:cNvPr id="20" name="Rectangle 19">
            <a:extLst>
              <a:ext uri="{FF2B5EF4-FFF2-40B4-BE49-F238E27FC236}">
                <a16:creationId xmlns:a16="http://schemas.microsoft.com/office/drawing/2014/main" id="{BF17E3C4-9CF6-4088-A5C3-729E3D2ED48F}"/>
              </a:ext>
            </a:extLst>
          </p:cNvPr>
          <p:cNvSpPr>
            <a:spLocks noGrp="1"/>
          </p:cNvSpPr>
          <p:nvPr/>
        </p:nvSpPr>
        <p:spPr>
          <a:xfrm>
            <a:off x="457200" y="1866900"/>
            <a:ext cx="523875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AA7862"/>
                </a:solidFill>
                <a:latin typeface="Arial"/>
                <a:ea typeface="Arial"/>
                <a:cs typeface="Arial"/>
              </a:defRPr>
            </a:pPr>
            <a:r>
              <a:rPr sz="1575" b="1">
                <a:solidFill>
                  <a:srgbClr val="AA7862"/>
                </a:solidFill>
                <a:latin typeface="Arial"/>
                <a:ea typeface="Arial"/>
                <a:cs typeface="Arial"/>
              </a:rPr>
              <a:t>Evaluation scope</a:t>
            </a:r>
          </a:p>
        </p:txBody>
      </p:sp>
      <p:sp>
        <p:nvSpPr>
          <p:cNvPr id="21" name="Rectangle 20">
            <a:extLst>
              <a:ext uri="{FF2B5EF4-FFF2-40B4-BE49-F238E27FC236}">
                <a16:creationId xmlns:a16="http://schemas.microsoft.com/office/drawing/2014/main" id="{E86FD477-C170-40F8-BDEE-CDB2983994BE}"/>
              </a:ext>
            </a:extLst>
          </p:cNvPr>
          <p:cNvSpPr>
            <a:spLocks noGrp="1"/>
          </p:cNvSpPr>
          <p:nvPr/>
        </p:nvSpPr>
        <p:spPr>
          <a:xfrm>
            <a:off x="457200" y="2228850"/>
            <a:ext cx="5238750" cy="552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Three demo-grade Java services</a:t>
            </a:r>
          </a:p>
        </p:txBody>
      </p:sp>
      <p:sp>
        <p:nvSpPr>
          <p:cNvPr id="22" name="Rounded Rectangle 21">
            <a:extLst>
              <a:ext uri="{FF2B5EF4-FFF2-40B4-BE49-F238E27FC236}">
                <a16:creationId xmlns:a16="http://schemas.microsoft.com/office/drawing/2014/main" id="{7CF521AC-0388-4033-AA00-918115700BB7}"/>
              </a:ext>
            </a:extLst>
          </p:cNvPr>
          <p:cNvSpPr>
            <a:spLocks noGrp="1"/>
          </p:cNvSpPr>
          <p:nvPr/>
        </p:nvSpPr>
        <p:spPr>
          <a:xfrm>
            <a:off x="6153150" y="1771650"/>
            <a:ext cx="5505450" cy="1104900"/>
          </a:xfrm>
          <a:prstGeom prst="roundRect">
            <a:avLst>
              <a:gd name="adj" fmla="val 6897"/>
            </a:avLst>
          </a:prstGeom>
          <a:solidFill>
            <a:srgbClr val="DDD7C7"/>
          </a:solidFill>
          <a:ln w="9525">
            <a:solidFill>
              <a:srgbClr val="9F7E56"/>
            </a:solidFill>
          </a:ln>
        </p:spPr>
        <p:txBody>
          <a:bodyPr/>
          <a:lstStyle/>
          <a:p>
            <a:endParaRPr lang="en-US"/>
          </a:p>
        </p:txBody>
      </p:sp>
      <p:sp>
        <p:nvSpPr>
          <p:cNvPr id="23" name="Rectangle 22">
            <a:extLst>
              <a:ext uri="{FF2B5EF4-FFF2-40B4-BE49-F238E27FC236}">
                <a16:creationId xmlns:a16="http://schemas.microsoft.com/office/drawing/2014/main" id="{A29543CD-FC50-4522-8DF5-2D12FB02261F}"/>
              </a:ext>
            </a:extLst>
          </p:cNvPr>
          <p:cNvSpPr>
            <a:spLocks noGrp="1"/>
          </p:cNvSpPr>
          <p:nvPr/>
        </p:nvSpPr>
        <p:spPr>
          <a:xfrm>
            <a:off x="6286500" y="1866900"/>
            <a:ext cx="523875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575" b="1">
                <a:solidFill>
                  <a:srgbClr val="9F7E56"/>
                </a:solidFill>
                <a:latin typeface="Arial"/>
                <a:ea typeface="Arial"/>
                <a:cs typeface="Arial"/>
              </a:rPr>
              <a:t>Authentication</a:t>
            </a:r>
          </a:p>
        </p:txBody>
      </p:sp>
      <p:sp>
        <p:nvSpPr>
          <p:cNvPr id="24" name="Rectangle 23">
            <a:extLst>
              <a:ext uri="{FF2B5EF4-FFF2-40B4-BE49-F238E27FC236}">
                <a16:creationId xmlns:a16="http://schemas.microsoft.com/office/drawing/2014/main" id="{02C8E810-6E63-44D5-A124-34ABB77406DA}"/>
              </a:ext>
            </a:extLst>
          </p:cNvPr>
          <p:cNvSpPr>
            <a:spLocks noGrp="1"/>
          </p:cNvSpPr>
          <p:nvPr/>
        </p:nvSpPr>
        <p:spPr>
          <a:xfrm>
            <a:off x="6286500" y="2228850"/>
            <a:ext cx="5238750" cy="552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No OAuth 2.0 or MFA flows</a:t>
            </a:r>
          </a:p>
        </p:txBody>
      </p:sp>
      <p:sp>
        <p:nvSpPr>
          <p:cNvPr id="25" name="Rounded Rectangle 24">
            <a:extLst>
              <a:ext uri="{FF2B5EF4-FFF2-40B4-BE49-F238E27FC236}">
                <a16:creationId xmlns:a16="http://schemas.microsoft.com/office/drawing/2014/main" id="{B6F96B36-FEA8-4525-A28E-893AFD10C9A0}"/>
              </a:ext>
            </a:extLst>
          </p:cNvPr>
          <p:cNvSpPr>
            <a:spLocks noGrp="1"/>
          </p:cNvSpPr>
          <p:nvPr/>
        </p:nvSpPr>
        <p:spPr>
          <a:xfrm>
            <a:off x="323850" y="3124200"/>
            <a:ext cx="5505450" cy="1104900"/>
          </a:xfrm>
          <a:prstGeom prst="roundRect">
            <a:avLst>
              <a:gd name="adj" fmla="val 6897"/>
            </a:avLst>
          </a:prstGeom>
          <a:solidFill>
            <a:srgbClr val="E2DEDA"/>
          </a:solidFill>
          <a:ln w="9525">
            <a:solidFill>
              <a:srgbClr val="898470"/>
            </a:solidFill>
          </a:ln>
        </p:spPr>
        <p:txBody>
          <a:bodyPr/>
          <a:lstStyle/>
          <a:p>
            <a:endParaRPr lang="en-US"/>
          </a:p>
        </p:txBody>
      </p:sp>
      <p:sp>
        <p:nvSpPr>
          <p:cNvPr id="26" name="Rectangle 25">
            <a:extLst>
              <a:ext uri="{FF2B5EF4-FFF2-40B4-BE49-F238E27FC236}">
                <a16:creationId xmlns:a16="http://schemas.microsoft.com/office/drawing/2014/main" id="{20C21CD1-2957-41BE-B5EE-12C8FBDF88E9}"/>
              </a:ext>
            </a:extLst>
          </p:cNvPr>
          <p:cNvSpPr>
            <a:spLocks noGrp="1"/>
          </p:cNvSpPr>
          <p:nvPr/>
        </p:nvSpPr>
        <p:spPr>
          <a:xfrm>
            <a:off x="457200" y="3219450"/>
            <a:ext cx="523875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898470"/>
                </a:solidFill>
                <a:latin typeface="Arial"/>
                <a:ea typeface="Arial"/>
                <a:cs typeface="Arial"/>
              </a:defRPr>
            </a:pPr>
            <a:r>
              <a:rPr sz="1575" b="1">
                <a:solidFill>
                  <a:srgbClr val="898470"/>
                </a:solidFill>
                <a:latin typeface="Arial"/>
                <a:ea typeface="Arial"/>
                <a:cs typeface="Arial"/>
              </a:rPr>
              <a:t>Duplication</a:t>
            </a:r>
          </a:p>
        </p:txBody>
      </p:sp>
      <p:sp>
        <p:nvSpPr>
          <p:cNvPr id="27" name="Rectangle 26">
            <a:extLst>
              <a:ext uri="{FF2B5EF4-FFF2-40B4-BE49-F238E27FC236}">
                <a16:creationId xmlns:a16="http://schemas.microsoft.com/office/drawing/2014/main" id="{C73BE7B2-C395-4DA1-92EE-FF3156B4713A}"/>
              </a:ext>
            </a:extLst>
          </p:cNvPr>
          <p:cNvSpPr>
            <a:spLocks noGrp="1"/>
          </p:cNvSpPr>
          <p:nvPr/>
        </p:nvSpPr>
        <p:spPr>
          <a:xfrm>
            <a:off x="457200" y="3581400"/>
            <a:ext cx="5238750" cy="552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38–67% exploration restatements</a:t>
            </a:r>
          </a:p>
        </p:txBody>
      </p:sp>
      <p:sp>
        <p:nvSpPr>
          <p:cNvPr id="28" name="Rounded Rectangle 27">
            <a:extLst>
              <a:ext uri="{FF2B5EF4-FFF2-40B4-BE49-F238E27FC236}">
                <a16:creationId xmlns:a16="http://schemas.microsoft.com/office/drawing/2014/main" id="{F80A0D43-4A0A-491E-B5BC-E86A287BE213}"/>
              </a:ext>
            </a:extLst>
          </p:cNvPr>
          <p:cNvSpPr>
            <a:spLocks noGrp="1"/>
          </p:cNvSpPr>
          <p:nvPr/>
        </p:nvSpPr>
        <p:spPr>
          <a:xfrm>
            <a:off x="6153150" y="3124200"/>
            <a:ext cx="5505450" cy="1104900"/>
          </a:xfrm>
          <a:prstGeom prst="roundRect">
            <a:avLst>
              <a:gd name="adj" fmla="val 6897"/>
            </a:avLst>
          </a:prstGeom>
          <a:solidFill>
            <a:srgbClr val="DDD7C7"/>
          </a:solidFill>
          <a:ln w="9525">
            <a:solidFill>
              <a:srgbClr val="AA7862"/>
            </a:solidFill>
          </a:ln>
        </p:spPr>
        <p:txBody>
          <a:bodyPr/>
          <a:lstStyle/>
          <a:p>
            <a:endParaRPr lang="en-US"/>
          </a:p>
        </p:txBody>
      </p:sp>
      <p:sp>
        <p:nvSpPr>
          <p:cNvPr id="29" name="Rectangle 28">
            <a:extLst>
              <a:ext uri="{FF2B5EF4-FFF2-40B4-BE49-F238E27FC236}">
                <a16:creationId xmlns:a16="http://schemas.microsoft.com/office/drawing/2014/main" id="{597482E4-551D-441A-AF15-70E189990871}"/>
              </a:ext>
            </a:extLst>
          </p:cNvPr>
          <p:cNvSpPr>
            <a:spLocks noGrp="1"/>
          </p:cNvSpPr>
          <p:nvPr/>
        </p:nvSpPr>
        <p:spPr>
          <a:xfrm>
            <a:off x="6286500" y="3219450"/>
            <a:ext cx="523875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AA7862"/>
                </a:solidFill>
                <a:latin typeface="Arial"/>
                <a:ea typeface="Arial"/>
                <a:cs typeface="Arial"/>
              </a:defRPr>
            </a:pPr>
            <a:r>
              <a:rPr sz="1575" b="1">
                <a:solidFill>
                  <a:srgbClr val="AA7862"/>
                </a:solidFill>
                <a:latin typeface="Arial"/>
                <a:ea typeface="Arial"/>
                <a:cs typeface="Arial"/>
              </a:rPr>
              <a:t>Deduplication</a:t>
            </a:r>
          </a:p>
        </p:txBody>
      </p:sp>
      <p:sp>
        <p:nvSpPr>
          <p:cNvPr id="30" name="Rectangle 29">
            <a:extLst>
              <a:ext uri="{FF2B5EF4-FFF2-40B4-BE49-F238E27FC236}">
                <a16:creationId xmlns:a16="http://schemas.microsoft.com/office/drawing/2014/main" id="{1B5595DF-97AE-4EA7-A359-1A63E8E57D81}"/>
              </a:ext>
            </a:extLst>
          </p:cNvPr>
          <p:cNvSpPr>
            <a:spLocks noGrp="1"/>
          </p:cNvSpPr>
          <p:nvPr/>
        </p:nvSpPr>
        <p:spPr>
          <a:xfrm>
            <a:off x="6286500" y="3581400"/>
            <a:ext cx="5238750" cy="552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Manual cross-tool matching</a:t>
            </a:r>
          </a:p>
        </p:txBody>
      </p:sp>
      <p:sp>
        <p:nvSpPr>
          <p:cNvPr id="31" name="Rounded Rectangle 30">
            <a:extLst>
              <a:ext uri="{FF2B5EF4-FFF2-40B4-BE49-F238E27FC236}">
                <a16:creationId xmlns:a16="http://schemas.microsoft.com/office/drawing/2014/main" id="{F515BD7B-FD13-4A8C-B4B2-FA60E28D4EC6}"/>
              </a:ext>
            </a:extLst>
          </p:cNvPr>
          <p:cNvSpPr>
            <a:spLocks noGrp="1"/>
          </p:cNvSpPr>
          <p:nvPr/>
        </p:nvSpPr>
        <p:spPr>
          <a:xfrm>
            <a:off x="323850" y="4476750"/>
            <a:ext cx="5505450" cy="1104900"/>
          </a:xfrm>
          <a:prstGeom prst="roundRect">
            <a:avLst>
              <a:gd name="adj" fmla="val 6897"/>
            </a:avLst>
          </a:prstGeom>
          <a:solidFill>
            <a:srgbClr val="E2DEDA"/>
          </a:solidFill>
          <a:ln w="9525">
            <a:solidFill>
              <a:srgbClr val="9F7E56"/>
            </a:solidFill>
          </a:ln>
        </p:spPr>
        <p:txBody>
          <a:bodyPr/>
          <a:lstStyle/>
          <a:p>
            <a:endParaRPr lang="en-US"/>
          </a:p>
        </p:txBody>
      </p:sp>
      <p:sp>
        <p:nvSpPr>
          <p:cNvPr id="32" name="Rectangle 31">
            <a:extLst>
              <a:ext uri="{FF2B5EF4-FFF2-40B4-BE49-F238E27FC236}">
                <a16:creationId xmlns:a16="http://schemas.microsoft.com/office/drawing/2014/main" id="{843B58E7-B7AE-4F81-AF05-12C4F31DB7E0}"/>
              </a:ext>
            </a:extLst>
          </p:cNvPr>
          <p:cNvSpPr>
            <a:spLocks noGrp="1"/>
          </p:cNvSpPr>
          <p:nvPr/>
        </p:nvSpPr>
        <p:spPr>
          <a:xfrm>
            <a:off x="457200" y="4572000"/>
            <a:ext cx="523875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9F7E56"/>
                </a:solidFill>
                <a:latin typeface="Arial"/>
                <a:ea typeface="Arial"/>
                <a:cs typeface="Arial"/>
              </a:defRPr>
            </a:pPr>
            <a:r>
              <a:rPr sz="1575" b="1">
                <a:solidFill>
                  <a:srgbClr val="9F7E56"/>
                </a:solidFill>
                <a:latin typeface="Arial"/>
                <a:ea typeface="Arial"/>
                <a:cs typeface="Arial"/>
              </a:rPr>
              <a:t>Reproducibility</a:t>
            </a:r>
          </a:p>
        </p:txBody>
      </p:sp>
      <p:sp>
        <p:nvSpPr>
          <p:cNvPr id="33" name="Rectangle 32">
            <a:extLst>
              <a:ext uri="{FF2B5EF4-FFF2-40B4-BE49-F238E27FC236}">
                <a16:creationId xmlns:a16="http://schemas.microsoft.com/office/drawing/2014/main" id="{B5265DD8-603D-4F7F-ABCC-969C9C4C0244}"/>
              </a:ext>
            </a:extLst>
          </p:cNvPr>
          <p:cNvSpPr>
            <a:spLocks noGrp="1"/>
          </p:cNvSpPr>
          <p:nvPr/>
        </p:nvSpPr>
        <p:spPr>
          <a:xfrm>
            <a:off x="457200" y="4933950"/>
            <a:ext cx="5238750" cy="552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LLM outputs remain non-deterministic</a:t>
            </a:r>
          </a:p>
        </p:txBody>
      </p:sp>
      <p:sp>
        <p:nvSpPr>
          <p:cNvPr id="34" name="Rounded Rectangle 33">
            <a:extLst>
              <a:ext uri="{FF2B5EF4-FFF2-40B4-BE49-F238E27FC236}">
                <a16:creationId xmlns:a16="http://schemas.microsoft.com/office/drawing/2014/main" id="{4126E543-81F8-4F3F-A5DC-49684978A3DC}"/>
              </a:ext>
            </a:extLst>
          </p:cNvPr>
          <p:cNvSpPr>
            <a:spLocks noGrp="1"/>
          </p:cNvSpPr>
          <p:nvPr/>
        </p:nvSpPr>
        <p:spPr>
          <a:xfrm>
            <a:off x="6153150" y="4476750"/>
            <a:ext cx="5505450" cy="1104900"/>
          </a:xfrm>
          <a:prstGeom prst="roundRect">
            <a:avLst>
              <a:gd name="adj" fmla="val 6897"/>
            </a:avLst>
          </a:prstGeom>
          <a:solidFill>
            <a:srgbClr val="DDD7C7"/>
          </a:solidFill>
          <a:ln w="9525">
            <a:solidFill>
              <a:srgbClr val="898470"/>
            </a:solidFill>
          </a:ln>
        </p:spPr>
        <p:txBody>
          <a:bodyPr/>
          <a:lstStyle/>
          <a:p>
            <a:endParaRPr lang="en-US"/>
          </a:p>
        </p:txBody>
      </p:sp>
      <p:sp>
        <p:nvSpPr>
          <p:cNvPr id="35" name="Rectangle 34">
            <a:extLst>
              <a:ext uri="{FF2B5EF4-FFF2-40B4-BE49-F238E27FC236}">
                <a16:creationId xmlns:a16="http://schemas.microsoft.com/office/drawing/2014/main" id="{55F94F47-54B7-4448-9E59-80CE18353355}"/>
              </a:ext>
            </a:extLst>
          </p:cNvPr>
          <p:cNvSpPr>
            <a:spLocks noGrp="1"/>
          </p:cNvSpPr>
          <p:nvPr/>
        </p:nvSpPr>
        <p:spPr>
          <a:xfrm>
            <a:off x="6286500" y="4572000"/>
            <a:ext cx="5238750" cy="3238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1">
                <a:solidFill>
                  <a:srgbClr val="898470"/>
                </a:solidFill>
                <a:latin typeface="Arial"/>
                <a:ea typeface="Arial"/>
                <a:cs typeface="Arial"/>
              </a:defRPr>
            </a:pPr>
            <a:r>
              <a:rPr sz="1575" b="1">
                <a:solidFill>
                  <a:srgbClr val="898470"/>
                </a:solidFill>
                <a:latin typeface="Arial"/>
                <a:ea typeface="Arial"/>
                <a:cs typeface="Arial"/>
              </a:rPr>
              <a:t>System boundary</a:t>
            </a:r>
          </a:p>
        </p:txBody>
      </p:sp>
      <p:sp>
        <p:nvSpPr>
          <p:cNvPr id="36" name="Rectangle 35">
            <a:extLst>
              <a:ext uri="{FF2B5EF4-FFF2-40B4-BE49-F238E27FC236}">
                <a16:creationId xmlns:a16="http://schemas.microsoft.com/office/drawing/2014/main" id="{C63187A0-F834-43ED-87C9-AC8FCC7F43A4}"/>
              </a:ext>
            </a:extLst>
          </p:cNvPr>
          <p:cNvSpPr>
            <a:spLocks noGrp="1"/>
          </p:cNvSpPr>
          <p:nvPr/>
        </p:nvSpPr>
        <p:spPr>
          <a:xfrm>
            <a:off x="6286500" y="4933950"/>
            <a:ext cx="5238750" cy="5524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350" b="0">
                <a:solidFill>
                  <a:srgbClr val="2E3A3C"/>
                </a:solidFill>
                <a:latin typeface="Arial"/>
                <a:ea typeface="Arial"/>
                <a:cs typeface="Arial"/>
              </a:defRPr>
            </a:pPr>
            <a:r>
              <a:rPr sz="1600" b="0" dirty="0">
                <a:solidFill>
                  <a:srgbClr val="2E3A3C"/>
                </a:solidFill>
                <a:latin typeface="Arial"/>
                <a:ea typeface="Arial"/>
                <a:cs typeface="Arial"/>
              </a:rPr>
              <a:t>No inter-service scheduling instrumentation</a:t>
            </a:r>
          </a:p>
        </p:txBody>
      </p:sp>
      <p:sp>
        <p:nvSpPr>
          <p:cNvPr id="3" name="Slide Number Placeholder 2">
            <a:extLst>
              <a:ext uri="{FF2B5EF4-FFF2-40B4-BE49-F238E27FC236}">
                <a16:creationId xmlns:a16="http://schemas.microsoft.com/office/drawing/2014/main" id="{2B1B280F-C7D9-C295-B8E5-9801B446C186}"/>
              </a:ext>
            </a:extLst>
          </p:cNvPr>
          <p:cNvSpPr>
            <a:spLocks noGrp="1"/>
          </p:cNvSpPr>
          <p:nvPr>
            <p:ph type="sldNum" idx="12"/>
          </p:nvPr>
        </p:nvSpPr>
        <p:spPr/>
        <p:txBody>
          <a:bodyPr/>
          <a:lstStyle/>
          <a:p>
            <a:fld id="{3109D357-8067-4A1F-97B2-93C5160B78D9}" type="slidenum">
              <a:rPr lang="en-CA" smtClean="0"/>
              <a:t>17</a:t>
            </a:fld>
            <a:endParaRPr lang="en-CA"/>
          </a:p>
        </p:txBody>
      </p:sp>
    </p:spTree>
    <p:extLst>
      <p:ext uri="{BB962C8B-B14F-4D97-AF65-F5344CB8AC3E}">
        <p14:creationId xmlns:p14="http://schemas.microsoft.com/office/powerpoint/2010/main" val="1542087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397A450-7A84-41D5-BDFD-15C9680F1217}"/>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2325" b="1">
                <a:solidFill>
                  <a:srgbClr val="2E3A3C"/>
                </a:solidFill>
                <a:latin typeface="Times New Roman"/>
                <a:ea typeface="Times New Roman"/>
                <a:cs typeface="Times New Roman"/>
              </a:defRPr>
            </a:pPr>
            <a:r>
              <a:rPr lang="en-CA" sz="3000" b="1" dirty="0">
                <a:solidFill>
                  <a:srgbClr val="2E3A3C"/>
                </a:solidFill>
                <a:latin typeface="Times New Roman"/>
                <a:ea typeface="Times New Roman"/>
                <a:cs typeface="Times New Roman"/>
              </a:rPr>
              <a:t>Real Limitation: This is (possibly) a nice tool, but……</a:t>
            </a:r>
            <a:endParaRPr sz="3000" b="1" dirty="0">
              <a:solidFill>
                <a:srgbClr val="2E3A3C"/>
              </a:solidFill>
              <a:latin typeface="Times New Roman"/>
              <a:ea typeface="Times New Roman"/>
              <a:cs typeface="Times New Roman"/>
            </a:endParaRPr>
          </a:p>
        </p:txBody>
      </p:sp>
      <p:sp>
        <p:nvSpPr>
          <p:cNvPr id="16" name="Rectangle 15">
            <a:extLst>
              <a:ext uri="{FF2B5EF4-FFF2-40B4-BE49-F238E27FC236}">
                <a16:creationId xmlns:a16="http://schemas.microsoft.com/office/drawing/2014/main" id="{0095B65E-3C3A-4E49-828D-EC75F95A24E9}"/>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575" b="0">
                <a:solidFill>
                  <a:srgbClr val="777777"/>
                </a:solidFill>
                <a:latin typeface="Arial"/>
                <a:ea typeface="Arial"/>
                <a:cs typeface="Arial"/>
              </a:defRPr>
            </a:pPr>
            <a:r>
              <a:rPr lang="en-US" sz="2000" b="0" dirty="0">
                <a:solidFill>
                  <a:srgbClr val="777777"/>
                </a:solidFill>
                <a:latin typeface="Times New Roman" panose="02020603050405020304" pitchFamily="18" charset="0"/>
                <a:ea typeface="Arial"/>
                <a:cs typeface="Times New Roman" panose="02020603050405020304" pitchFamily="18" charset="0"/>
              </a:rPr>
              <a:t>Lacking Novelty</a:t>
            </a:r>
            <a:endParaRPr sz="2000" b="0" dirty="0">
              <a:solidFill>
                <a:srgbClr val="777777"/>
              </a:solidFill>
              <a:latin typeface="Times New Roman" panose="02020603050405020304" pitchFamily="18" charset="0"/>
              <a:ea typeface="Arial"/>
              <a:cs typeface="Times New Roman" panose="02020603050405020304" pitchFamily="18" charset="0"/>
            </a:endParaRPr>
          </a:p>
        </p:txBody>
      </p:sp>
      <p:sp>
        <p:nvSpPr>
          <p:cNvPr id="17" name="Rectangle 16">
            <a:extLst>
              <a:ext uri="{FF2B5EF4-FFF2-40B4-BE49-F238E27FC236}">
                <a16:creationId xmlns:a16="http://schemas.microsoft.com/office/drawing/2014/main" id="{500752C6-A6E2-45EF-B34E-4417FB2F3014}"/>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C077D2C9-DE0E-4330-B319-F5B8A3C07DA4}"/>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sp>
        <p:nvSpPr>
          <p:cNvPr id="28" name="Rounded Rectangle 27">
            <a:extLst>
              <a:ext uri="{FF2B5EF4-FFF2-40B4-BE49-F238E27FC236}">
                <a16:creationId xmlns:a16="http://schemas.microsoft.com/office/drawing/2014/main" id="{4171B2A2-F5C4-4450-935D-EF25DA9F29B2}"/>
              </a:ext>
            </a:extLst>
          </p:cNvPr>
          <p:cNvSpPr>
            <a:spLocks noGrp="1"/>
          </p:cNvSpPr>
          <p:nvPr/>
        </p:nvSpPr>
        <p:spPr>
          <a:xfrm>
            <a:off x="400050" y="2071455"/>
            <a:ext cx="4741576" cy="2079738"/>
          </a:xfrm>
          <a:prstGeom prst="roundRect">
            <a:avLst>
              <a:gd name="adj" fmla="val 8511"/>
            </a:avLst>
          </a:prstGeom>
          <a:solidFill>
            <a:schemeClr val="tx2">
              <a:lumMod val="20000"/>
              <a:lumOff val="80000"/>
            </a:schemeClr>
          </a:solidFill>
          <a:ln w="0">
            <a:solidFill>
              <a:srgbClr val="898470"/>
            </a:solidFill>
          </a:ln>
        </p:spPr>
        <p:txBody>
          <a:bodyPr/>
          <a:lstStyle/>
          <a:p>
            <a:r>
              <a:rPr lang="en-CA" sz="2000" dirty="0">
                <a:latin typeface="Times New Roman" panose="02020603050405020304" pitchFamily="18" charset="0"/>
                <a:cs typeface="Times New Roman" panose="02020603050405020304" pitchFamily="18" charset="0"/>
              </a:rPr>
              <a:t>Current:</a:t>
            </a:r>
          </a:p>
          <a:p>
            <a:r>
              <a:rPr lang="en-CA" sz="2000" dirty="0">
                <a:latin typeface="Times New Roman" panose="02020603050405020304" pitchFamily="18" charset="0"/>
                <a:cs typeface="Times New Roman" panose="02020603050405020304" pitchFamily="18" charset="0"/>
              </a:rPr>
              <a:t>ChaosArena is best described as an </a:t>
            </a:r>
            <a:r>
              <a:rPr lang="en-CA" sz="2000" b="1" dirty="0">
                <a:latin typeface="Times New Roman" panose="02020603050405020304" pitchFamily="18" charset="0"/>
                <a:cs typeface="Times New Roman" panose="02020603050405020304" pitchFamily="18" charset="0"/>
              </a:rPr>
              <a:t>LLM-orchestrated, multi-turn black-box REST API testing workflow with explicit support for concurrency testing</a:t>
            </a:r>
            <a:r>
              <a:rPr lang="en-CA"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B7F4313C-E603-6579-478D-A1CF70C99227}"/>
              </a:ext>
            </a:extLst>
          </p:cNvPr>
          <p:cNvSpPr>
            <a:spLocks noGrp="1"/>
          </p:cNvSpPr>
          <p:nvPr/>
        </p:nvSpPr>
        <p:spPr>
          <a:xfrm>
            <a:off x="1095222" y="5066526"/>
            <a:ext cx="3887137" cy="953274"/>
          </a:xfrm>
          <a:prstGeom prst="roundRect">
            <a:avLst>
              <a:gd name="adj" fmla="val 8511"/>
            </a:avLst>
          </a:prstGeom>
          <a:solidFill>
            <a:srgbClr val="E5ACC4"/>
          </a:solidFill>
          <a:ln w="0">
            <a:solidFill>
              <a:srgbClr val="898470"/>
            </a:solidFill>
          </a:ln>
        </p:spPr>
        <p:txBody>
          <a:bodyPr/>
          <a:lstStyle/>
          <a:p>
            <a:r>
              <a:rPr lang="en-CA" sz="2400" dirty="0">
                <a:latin typeface="Times New Roman" panose="02020603050405020304" pitchFamily="18" charset="0"/>
                <a:cs typeface="Times New Roman" panose="02020603050405020304" pitchFamily="18" charset="0"/>
              </a:rPr>
              <a:t>well-engineered multi-agent, multi-turn testing agent</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7BD4047-F4FA-60DB-A1FA-9370734BBB0F}"/>
              </a:ext>
            </a:extLst>
          </p:cNvPr>
          <p:cNvSpPr txBox="1"/>
          <p:nvPr/>
        </p:nvSpPr>
        <p:spPr>
          <a:xfrm>
            <a:off x="5404581" y="5138872"/>
            <a:ext cx="667063" cy="707886"/>
          </a:xfrm>
          <a:prstGeom prst="rect">
            <a:avLst/>
          </a:prstGeom>
          <a:noFill/>
        </p:spPr>
        <p:txBody>
          <a:bodyPr wrap="square">
            <a:spAutoFit/>
          </a:bodyPr>
          <a:lstStyle/>
          <a:p>
            <a:r>
              <a:rPr lang="en-CA" sz="4000" b="1" dirty="0">
                <a:solidFill>
                  <a:srgbClr val="FF0000"/>
                </a:solidFill>
                <a:latin typeface="Times New Roman" panose="02020603050405020304" pitchFamily="18" charset="0"/>
                <a:cs typeface="Times New Roman" panose="02020603050405020304" pitchFamily="18" charset="0"/>
              </a:rPr>
              <a:t>!= </a:t>
            </a:r>
          </a:p>
        </p:txBody>
      </p:sp>
      <p:sp>
        <p:nvSpPr>
          <p:cNvPr id="6" name="Rounded Rectangle 5">
            <a:extLst>
              <a:ext uri="{FF2B5EF4-FFF2-40B4-BE49-F238E27FC236}">
                <a16:creationId xmlns:a16="http://schemas.microsoft.com/office/drawing/2014/main" id="{FEE6D063-C4D1-9FFA-4A5F-C3E854380FD6}"/>
              </a:ext>
            </a:extLst>
          </p:cNvPr>
          <p:cNvSpPr>
            <a:spLocks noGrp="1"/>
          </p:cNvSpPr>
          <p:nvPr/>
        </p:nvSpPr>
        <p:spPr>
          <a:xfrm>
            <a:off x="6493866" y="5066526"/>
            <a:ext cx="3887137" cy="934224"/>
          </a:xfrm>
          <a:prstGeom prst="roundRect">
            <a:avLst>
              <a:gd name="adj" fmla="val 8511"/>
            </a:avLst>
          </a:prstGeom>
          <a:solidFill>
            <a:srgbClr val="E5ACC4"/>
          </a:solidFill>
          <a:ln w="0">
            <a:solidFill>
              <a:srgbClr val="898470"/>
            </a:solidFill>
          </a:ln>
        </p:spPr>
        <p:txBody>
          <a:bodyPr/>
          <a:lstStyle/>
          <a:p>
            <a:r>
              <a:rPr lang="en-CA" sz="2400" dirty="0">
                <a:latin typeface="Times New Roman" panose="02020603050405020304" pitchFamily="18" charset="0"/>
                <a:cs typeface="Times New Roman" panose="02020603050405020304" pitchFamily="18" charset="0"/>
              </a:rPr>
              <a:t>fundamentally new concurrency-testing method</a:t>
            </a:r>
            <a:endParaRPr lang="en-US" sz="2400" dirty="0">
              <a:latin typeface="Times New Roman" panose="02020603050405020304" pitchFamily="18" charset="0"/>
              <a:cs typeface="Times New Roman" panose="02020603050405020304" pitchFamily="18" charset="0"/>
            </a:endParaRPr>
          </a:p>
        </p:txBody>
      </p:sp>
      <p:sp>
        <p:nvSpPr>
          <p:cNvPr id="9" name="Rounded Rectangle 8">
            <a:extLst>
              <a:ext uri="{FF2B5EF4-FFF2-40B4-BE49-F238E27FC236}">
                <a16:creationId xmlns:a16="http://schemas.microsoft.com/office/drawing/2014/main" id="{B63A1BCC-DCAB-01C3-7302-472A279A2647}"/>
              </a:ext>
            </a:extLst>
          </p:cNvPr>
          <p:cNvSpPr>
            <a:spLocks noGrp="1"/>
          </p:cNvSpPr>
          <p:nvPr/>
        </p:nvSpPr>
        <p:spPr>
          <a:xfrm>
            <a:off x="6479963" y="1997588"/>
            <a:ext cx="4741576" cy="2079738"/>
          </a:xfrm>
          <a:prstGeom prst="roundRect">
            <a:avLst>
              <a:gd name="adj" fmla="val 8511"/>
            </a:avLst>
          </a:prstGeom>
          <a:solidFill>
            <a:schemeClr val="tx2">
              <a:lumMod val="20000"/>
              <a:lumOff val="80000"/>
            </a:schemeClr>
          </a:solidFill>
          <a:ln w="0">
            <a:solidFill>
              <a:srgbClr val="898470"/>
            </a:solidFill>
          </a:ln>
        </p:spPr>
        <p:txBody>
          <a:bodyPr/>
          <a:lstStyle/>
          <a:p>
            <a:r>
              <a:rPr lang="en-CA" sz="2000" dirty="0">
                <a:latin typeface="Times New Roman" panose="02020603050405020304" pitchFamily="18" charset="0"/>
                <a:cs typeface="Times New Roman" panose="02020603050405020304" pitchFamily="18" charset="0"/>
              </a:rPr>
              <a:t>Ideal:</a:t>
            </a:r>
          </a:p>
          <a:p>
            <a:r>
              <a:rPr lang="en-CA" sz="2000" dirty="0">
                <a:latin typeface="Times New Roman" panose="02020603050405020304" pitchFamily="18" charset="0"/>
                <a:cs typeface="Times New Roman" panose="02020603050405020304" pitchFamily="18" charset="0"/>
              </a:rPr>
              <a:t>A novel ChaosArena would</a:t>
            </a:r>
            <a:r>
              <a:rPr lang="en-CA" sz="2000" b="1" dirty="0">
                <a:latin typeface="Times New Roman" panose="02020603050405020304" pitchFamily="18" charset="0"/>
                <a:cs typeface="Times New Roman" panose="02020603050405020304" pitchFamily="18" charset="0"/>
              </a:rPr>
              <a:t> infer shared state and identity constraints from black-box interactions</a:t>
            </a:r>
            <a:r>
              <a:rPr lang="en-CA" sz="2000" dirty="0">
                <a:latin typeface="Times New Roman" panose="02020603050405020304" pitchFamily="18" charset="0"/>
                <a:cs typeface="Times New Roman" panose="02020603050405020304" pitchFamily="18" charset="0"/>
              </a:rPr>
              <a:t>, generate cross-endpoint race tests, and verify whether concurrent outcomes are serializable.</a:t>
            </a:r>
            <a:endParaRPr lang="en-US" sz="2000" dirty="0">
              <a:latin typeface="Times New Roman" panose="02020603050405020304" pitchFamily="18" charset="0"/>
              <a:cs typeface="Times New Roman" panose="02020603050405020304" pitchFamily="18" charset="0"/>
            </a:endParaRPr>
          </a:p>
        </p:txBody>
      </p:sp>
      <p:sp>
        <p:nvSpPr>
          <p:cNvPr id="10" name="Right Arrow 9">
            <a:extLst>
              <a:ext uri="{FF2B5EF4-FFF2-40B4-BE49-F238E27FC236}">
                <a16:creationId xmlns:a16="http://schemas.microsoft.com/office/drawing/2014/main" id="{5ED9663C-C0E4-3FAF-632F-8E315C64DB0A}"/>
              </a:ext>
            </a:extLst>
          </p:cNvPr>
          <p:cNvSpPr/>
          <p:nvPr/>
        </p:nvSpPr>
        <p:spPr>
          <a:xfrm>
            <a:off x="5404581" y="2863121"/>
            <a:ext cx="691419" cy="3897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0D3EE619-81C7-4B45-2A01-076C03D05740}"/>
              </a:ext>
            </a:extLst>
          </p:cNvPr>
          <p:cNvSpPr>
            <a:spLocks noGrp="1"/>
          </p:cNvSpPr>
          <p:nvPr>
            <p:ph type="sldNum" idx="12"/>
          </p:nvPr>
        </p:nvSpPr>
        <p:spPr/>
        <p:txBody>
          <a:bodyPr/>
          <a:lstStyle/>
          <a:p>
            <a:fld id="{3109D357-8067-4A1F-97B2-93C5160B78D9}" type="slidenum">
              <a:rPr lang="en-CA" smtClean="0"/>
              <a:t>18</a:t>
            </a:fld>
            <a:endParaRPr lang="en-CA"/>
          </a:p>
        </p:txBody>
      </p:sp>
    </p:spTree>
    <p:extLst>
      <p:ext uri="{BB962C8B-B14F-4D97-AF65-F5344CB8AC3E}">
        <p14:creationId xmlns:p14="http://schemas.microsoft.com/office/powerpoint/2010/main" val="1542087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36C24-2D74-04C3-2F98-000D6BF13F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76827B-66B7-3B86-519B-297553D0DC34}"/>
              </a:ext>
            </a:extLst>
          </p:cNvPr>
          <p:cNvSpPr txBox="1"/>
          <p:nvPr/>
        </p:nvSpPr>
        <p:spPr>
          <a:xfrm>
            <a:off x="320039" y="283464"/>
            <a:ext cx="6850781" cy="553998"/>
          </a:xfrm>
          <a:prstGeom prst="rect">
            <a:avLst/>
          </a:prstGeom>
          <a:noFill/>
        </p:spPr>
        <p:txBody>
          <a:bodyPr wrap="square">
            <a:spAutoFit/>
          </a:bodyPr>
          <a:lstStyle/>
          <a:p>
            <a:pPr algn="l"/>
            <a:r>
              <a:rPr lang="en-US" sz="3000" b="1" dirty="0">
                <a:solidFill>
                  <a:srgbClr val="2E3A3C"/>
                </a:solidFill>
                <a:latin typeface="Times New Roman"/>
              </a:rPr>
              <a:t>How it evolves?</a:t>
            </a:r>
            <a:endParaRPr sz="3000" b="1" i="0" dirty="0">
              <a:solidFill>
                <a:srgbClr val="2E3A3C"/>
              </a:solidFill>
              <a:latin typeface="Times New Roman"/>
            </a:endParaRPr>
          </a:p>
        </p:txBody>
      </p:sp>
      <p:sp>
        <p:nvSpPr>
          <p:cNvPr id="3" name="TextBox 2">
            <a:extLst>
              <a:ext uri="{FF2B5EF4-FFF2-40B4-BE49-F238E27FC236}">
                <a16:creationId xmlns:a16="http://schemas.microsoft.com/office/drawing/2014/main" id="{78B4E253-59F4-1847-3198-22D47ED0A9DF}"/>
              </a:ext>
            </a:extLst>
          </p:cNvPr>
          <p:cNvSpPr txBox="1"/>
          <p:nvPr/>
        </p:nvSpPr>
        <p:spPr>
          <a:xfrm>
            <a:off x="320040" y="795528"/>
            <a:ext cx="10991088" cy="461665"/>
          </a:xfrm>
          <a:prstGeom prst="rect">
            <a:avLst/>
          </a:prstGeom>
          <a:noFill/>
        </p:spPr>
        <p:txBody>
          <a:bodyPr wrap="square">
            <a:spAutoFit/>
          </a:bodyPr>
          <a:lstStyle/>
          <a:p>
            <a:r>
              <a:rPr lang="en-US" sz="2400" b="0" i="0" dirty="0">
                <a:solidFill>
                  <a:schemeClr val="tx1">
                    <a:lumMod val="50000"/>
                    <a:lumOff val="50000"/>
                  </a:schemeClr>
                </a:solidFill>
                <a:latin typeface="Times New Roman" panose="02020603050405020304" pitchFamily="18" charset="0"/>
                <a:cs typeface="Times New Roman" panose="02020603050405020304" pitchFamily="18" charset="0"/>
              </a:rPr>
              <a:t>Some trade-offs </a:t>
            </a:r>
            <a:endParaRPr sz="2400" b="0" i="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cxnSp>
        <p:nvCxnSpPr>
          <p:cNvPr id="4" name="Connector 3">
            <a:extLst>
              <a:ext uri="{FF2B5EF4-FFF2-40B4-BE49-F238E27FC236}">
                <a16:creationId xmlns:a16="http://schemas.microsoft.com/office/drawing/2014/main" id="{ADA103C6-896F-77E9-3C7E-BCC1EC2D5B21}"/>
              </a:ext>
            </a:extLst>
          </p:cNvPr>
          <p:cNvCxnSpPr/>
          <p:nvPr/>
        </p:nvCxnSpPr>
        <p:spPr>
          <a:xfrm>
            <a:off x="0" y="1435608"/>
            <a:ext cx="12188952" cy="0"/>
          </a:xfrm>
          <a:prstGeom prst="line">
            <a:avLst/>
          </a:prstGeom>
          <a:ln w="19050">
            <a:solidFill>
              <a:srgbClr val="898470"/>
            </a:solidFill>
          </a:ln>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C5459236-3569-2B10-9ED9-207034727231}"/>
              </a:ext>
            </a:extLst>
          </p:cNvPr>
          <p:cNvSpPr/>
          <p:nvPr/>
        </p:nvSpPr>
        <p:spPr>
          <a:xfrm>
            <a:off x="1537457" y="1568089"/>
            <a:ext cx="1541730" cy="402336"/>
          </a:xfrm>
          <a:prstGeom prst="roundRect">
            <a:avLst/>
          </a:prstGeom>
          <a:solidFill>
            <a:schemeClr val="bg1">
              <a:lumMod val="85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NL Description</a:t>
            </a:r>
          </a:p>
        </p:txBody>
      </p:sp>
      <p:sp>
        <p:nvSpPr>
          <p:cNvPr id="18" name="Rounded Rectangle 17">
            <a:extLst>
              <a:ext uri="{FF2B5EF4-FFF2-40B4-BE49-F238E27FC236}">
                <a16:creationId xmlns:a16="http://schemas.microsoft.com/office/drawing/2014/main" id="{2ABF1BD9-C7B5-B94B-D040-D968D4041D7C}"/>
              </a:ext>
            </a:extLst>
          </p:cNvPr>
          <p:cNvSpPr/>
          <p:nvPr/>
        </p:nvSpPr>
        <p:spPr>
          <a:xfrm>
            <a:off x="1501042" y="3234249"/>
            <a:ext cx="1614559" cy="381529"/>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Structured </a:t>
            </a:r>
            <a:r>
              <a:rPr sz="1400" b="0" i="0" dirty="0" err="1">
                <a:solidFill>
                  <a:srgbClr val="2E3A3C"/>
                </a:solidFill>
                <a:latin typeface="Times New Roman"/>
              </a:rPr>
              <a:t>spec.md</a:t>
            </a:r>
            <a:endParaRPr sz="1400" b="0" i="0" dirty="0">
              <a:solidFill>
                <a:srgbClr val="2E3A3C"/>
              </a:solidFill>
              <a:latin typeface="Times New Roman"/>
            </a:endParaRPr>
          </a:p>
        </p:txBody>
      </p:sp>
      <p:sp>
        <p:nvSpPr>
          <p:cNvPr id="19" name="Rounded Rectangle 18">
            <a:extLst>
              <a:ext uri="{FF2B5EF4-FFF2-40B4-BE49-F238E27FC236}">
                <a16:creationId xmlns:a16="http://schemas.microsoft.com/office/drawing/2014/main" id="{265390DE-AEA6-2D24-4BA7-B72EA27215E6}"/>
              </a:ext>
            </a:extLst>
          </p:cNvPr>
          <p:cNvSpPr/>
          <p:nvPr/>
        </p:nvSpPr>
        <p:spPr>
          <a:xfrm>
            <a:off x="1610435" y="6280353"/>
            <a:ext cx="1395774" cy="347472"/>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0" i="0" dirty="0">
                <a:solidFill>
                  <a:srgbClr val="2E3A3C"/>
                </a:solidFill>
                <a:latin typeface="Times New Roman"/>
              </a:rPr>
              <a:t>Outputs</a:t>
            </a:r>
            <a:r>
              <a:rPr lang="en-US" sz="1400" b="0" i="0" dirty="0">
                <a:solidFill>
                  <a:srgbClr val="2E3A3C"/>
                </a:solidFill>
                <a:latin typeface="Times New Roman"/>
              </a:rPr>
              <a:t>: Report</a:t>
            </a:r>
            <a:endParaRPr sz="1400" b="0" i="0" dirty="0">
              <a:solidFill>
                <a:srgbClr val="2E3A3C"/>
              </a:solidFill>
              <a:latin typeface="Times New Roman"/>
            </a:endParaRPr>
          </a:p>
        </p:txBody>
      </p:sp>
      <p:grpSp>
        <p:nvGrpSpPr>
          <p:cNvPr id="20" name="Group 19">
            <a:extLst>
              <a:ext uri="{FF2B5EF4-FFF2-40B4-BE49-F238E27FC236}">
                <a16:creationId xmlns:a16="http://schemas.microsoft.com/office/drawing/2014/main" id="{75B736BA-C900-B3D5-6A1D-85F21065DF48}"/>
              </a:ext>
            </a:extLst>
          </p:cNvPr>
          <p:cNvGrpSpPr/>
          <p:nvPr/>
        </p:nvGrpSpPr>
        <p:grpSpPr>
          <a:xfrm>
            <a:off x="853806" y="3934309"/>
            <a:ext cx="2919106" cy="2031793"/>
            <a:chOff x="320040" y="3390563"/>
            <a:chExt cx="2919106" cy="2031793"/>
          </a:xfrm>
        </p:grpSpPr>
        <p:sp>
          <p:nvSpPr>
            <p:cNvPr id="21" name="Rounded Rectangle 20">
              <a:extLst>
                <a:ext uri="{FF2B5EF4-FFF2-40B4-BE49-F238E27FC236}">
                  <a16:creationId xmlns:a16="http://schemas.microsoft.com/office/drawing/2014/main" id="{E544C589-C95C-BFFF-4620-AE78E0FC001D}"/>
                </a:ext>
              </a:extLst>
            </p:cNvPr>
            <p:cNvSpPr/>
            <p:nvPr/>
          </p:nvSpPr>
          <p:spPr>
            <a:xfrm>
              <a:off x="320040" y="3390563"/>
              <a:ext cx="2919106" cy="2031793"/>
            </a:xfrm>
            <a:prstGeom prst="roundRect">
              <a:avLst/>
            </a:prstGeom>
            <a:no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i="0" dirty="0">
                  <a:ln w="0"/>
                  <a:solidFill>
                    <a:schemeClr val="tx1"/>
                  </a:solidFill>
                  <a:effectLst>
                    <a:outerShdw blurRad="38100" dist="19050" dir="2700000" algn="tl" rotWithShape="0">
                      <a:schemeClr val="dk1">
                        <a:alpha val="40000"/>
                      </a:schemeClr>
                    </a:outerShdw>
                  </a:effectLst>
                  <a:latin typeface="Times New Roman"/>
                </a:rPr>
                <a:t>Agent Runner  (multi-turn loop)</a:t>
              </a:r>
            </a:p>
          </p:txBody>
        </p:sp>
        <p:sp>
          <p:nvSpPr>
            <p:cNvPr id="22" name="Rounded Rectangle 21">
              <a:extLst>
                <a:ext uri="{FF2B5EF4-FFF2-40B4-BE49-F238E27FC236}">
                  <a16:creationId xmlns:a16="http://schemas.microsoft.com/office/drawing/2014/main" id="{4A00910E-20BD-6654-A1AD-A45517560990}"/>
                </a:ext>
              </a:extLst>
            </p:cNvPr>
            <p:cNvSpPr/>
            <p:nvPr/>
          </p:nvSpPr>
          <p:spPr>
            <a:xfrm>
              <a:off x="772594" y="3828237"/>
              <a:ext cx="2011678" cy="402336"/>
            </a:xfrm>
            <a:prstGeom prst="roundRect">
              <a:avLst/>
            </a:prstGeom>
            <a:solidFill>
              <a:srgbClr val="9F7E56"/>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err="1">
                  <a:solidFill>
                    <a:srgbClr val="FFFFFF"/>
                  </a:solidFill>
                  <a:latin typeface="Times New Roman"/>
                </a:rPr>
                <a:t>Tool</a:t>
              </a:r>
              <a:r>
                <a:rPr lang="en-US" sz="1400" b="0" i="0" dirty="0" err="1">
                  <a:solidFill>
                    <a:srgbClr val="FFFFFF"/>
                  </a:solidFill>
                  <a:latin typeface="Times New Roman"/>
                </a:rPr>
                <a:t>.py</a:t>
              </a:r>
              <a:r>
                <a:rPr sz="1400" b="0" i="0" dirty="0">
                  <a:solidFill>
                    <a:srgbClr val="FFFFFF"/>
                  </a:solidFill>
                  <a:latin typeface="Times New Roman"/>
                </a:rPr>
                <a:t>  (in-process)</a:t>
              </a:r>
            </a:p>
          </p:txBody>
        </p:sp>
        <p:sp>
          <p:nvSpPr>
            <p:cNvPr id="23" name="Rounded Rectangle 22">
              <a:extLst>
                <a:ext uri="{FF2B5EF4-FFF2-40B4-BE49-F238E27FC236}">
                  <a16:creationId xmlns:a16="http://schemas.microsoft.com/office/drawing/2014/main" id="{553EC114-41FB-B8A2-8E5B-731CF4195CA0}"/>
                </a:ext>
              </a:extLst>
            </p:cNvPr>
            <p:cNvSpPr/>
            <p:nvPr/>
          </p:nvSpPr>
          <p:spPr>
            <a:xfrm>
              <a:off x="772594" y="4779677"/>
              <a:ext cx="2011678"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dirty="0">
                  <a:solidFill>
                    <a:srgbClr val="2E3A3C"/>
                  </a:solidFill>
                  <a:latin typeface="Times New Roman"/>
                </a:rPr>
                <a:t>Previous Conversations</a:t>
              </a:r>
            </a:p>
          </p:txBody>
        </p:sp>
        <p:sp>
          <p:nvSpPr>
            <p:cNvPr id="25" name="Rounded Rectangle 24">
              <a:extLst>
                <a:ext uri="{FF2B5EF4-FFF2-40B4-BE49-F238E27FC236}">
                  <a16:creationId xmlns:a16="http://schemas.microsoft.com/office/drawing/2014/main" id="{1AA450B1-E7C5-E954-8C01-BD60E3EC548C}"/>
                </a:ext>
              </a:extLst>
            </p:cNvPr>
            <p:cNvSpPr/>
            <p:nvPr/>
          </p:nvSpPr>
          <p:spPr>
            <a:xfrm>
              <a:off x="1898548" y="4285437"/>
              <a:ext cx="877976"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a:solidFill>
                    <a:srgbClr val="2E3A3C"/>
                  </a:solidFill>
                  <a:latin typeface="Times New Roman"/>
                </a:rPr>
                <a:t>System Prompt</a:t>
              </a:r>
              <a:endParaRPr sz="1200" b="0" i="0" dirty="0">
                <a:solidFill>
                  <a:srgbClr val="2E3A3C"/>
                </a:solidFill>
                <a:latin typeface="Times New Roman"/>
              </a:endParaRPr>
            </a:p>
          </p:txBody>
        </p:sp>
        <p:sp>
          <p:nvSpPr>
            <p:cNvPr id="26" name="Rounded Rectangle 25">
              <a:extLst>
                <a:ext uri="{FF2B5EF4-FFF2-40B4-BE49-F238E27FC236}">
                  <a16:creationId xmlns:a16="http://schemas.microsoft.com/office/drawing/2014/main" id="{C9130A3B-2D5C-23E5-4F9D-3EEB3D5609A3}"/>
                </a:ext>
              </a:extLst>
            </p:cNvPr>
            <p:cNvSpPr/>
            <p:nvPr/>
          </p:nvSpPr>
          <p:spPr>
            <a:xfrm>
              <a:off x="772593" y="4286675"/>
              <a:ext cx="939969"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a:solidFill>
                    <a:srgbClr val="2E3A3C"/>
                  </a:solidFill>
                  <a:latin typeface="Times New Roman"/>
                </a:rPr>
                <a:t>Tool Schema</a:t>
              </a:r>
              <a:endParaRPr sz="1200" b="0" i="0" dirty="0">
                <a:solidFill>
                  <a:srgbClr val="2E3A3C"/>
                </a:solidFill>
                <a:latin typeface="Times New Roman"/>
              </a:endParaRPr>
            </a:p>
          </p:txBody>
        </p:sp>
      </p:grpSp>
      <p:grpSp>
        <p:nvGrpSpPr>
          <p:cNvPr id="27" name="Group 26">
            <a:extLst>
              <a:ext uri="{FF2B5EF4-FFF2-40B4-BE49-F238E27FC236}">
                <a16:creationId xmlns:a16="http://schemas.microsoft.com/office/drawing/2014/main" id="{2150A05E-A610-D6E9-336C-FB918A73BA4D}"/>
              </a:ext>
            </a:extLst>
          </p:cNvPr>
          <p:cNvGrpSpPr/>
          <p:nvPr/>
        </p:nvGrpSpPr>
        <p:grpSpPr>
          <a:xfrm>
            <a:off x="853805" y="2152180"/>
            <a:ext cx="2919107" cy="864524"/>
            <a:chOff x="740826" y="2200768"/>
            <a:chExt cx="2919107" cy="864524"/>
          </a:xfrm>
        </p:grpSpPr>
        <p:sp>
          <p:nvSpPr>
            <p:cNvPr id="28" name="Rounded Rectangle 27">
              <a:extLst>
                <a:ext uri="{FF2B5EF4-FFF2-40B4-BE49-F238E27FC236}">
                  <a16:creationId xmlns:a16="http://schemas.microsoft.com/office/drawing/2014/main" id="{1D9219D1-E0DF-59B9-9696-4816928CEFDD}"/>
                </a:ext>
              </a:extLst>
            </p:cNvPr>
            <p:cNvSpPr/>
            <p:nvPr/>
          </p:nvSpPr>
          <p:spPr>
            <a:xfrm>
              <a:off x="740826" y="2200768"/>
              <a:ext cx="2919107" cy="864524"/>
            </a:xfrm>
            <a:prstGeom prst="roundRect">
              <a:avLst/>
            </a:prstGeom>
            <a:no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i="0">
                  <a:ln w="0"/>
                  <a:solidFill>
                    <a:schemeClr val="tx1"/>
                  </a:solidFill>
                  <a:effectLst>
                    <a:outerShdw blurRad="38100" dist="19050" dir="2700000" algn="tl" rotWithShape="0">
                      <a:schemeClr val="dk1">
                        <a:alpha val="40000"/>
                      </a:schemeClr>
                    </a:outerShdw>
                  </a:effectLst>
                  <a:latin typeface="Times New Roman"/>
                </a:rPr>
                <a:t>Spec Drafter  (1 LLM call)</a:t>
              </a:r>
            </a:p>
          </p:txBody>
        </p:sp>
        <p:sp>
          <p:nvSpPr>
            <p:cNvPr id="29" name="Rounded Rectangle 28">
              <a:extLst>
                <a:ext uri="{FF2B5EF4-FFF2-40B4-BE49-F238E27FC236}">
                  <a16:creationId xmlns:a16="http://schemas.microsoft.com/office/drawing/2014/main" id="{0C2F7AD2-4859-8983-770D-547D7E5A5642}"/>
                </a:ext>
              </a:extLst>
            </p:cNvPr>
            <p:cNvSpPr/>
            <p:nvPr/>
          </p:nvSpPr>
          <p:spPr>
            <a:xfrm>
              <a:off x="1193380" y="2581960"/>
              <a:ext cx="2011678"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err="1">
                  <a:solidFill>
                    <a:srgbClr val="2E3A3C"/>
                  </a:solidFill>
                  <a:latin typeface="Times New Roman"/>
                </a:rPr>
                <a:t>Drafter_prompt</a:t>
              </a:r>
              <a:endParaRPr sz="1200" b="0" i="0" dirty="0">
                <a:solidFill>
                  <a:srgbClr val="2E3A3C"/>
                </a:solidFill>
                <a:latin typeface="Times New Roman"/>
              </a:endParaRPr>
            </a:p>
          </p:txBody>
        </p:sp>
      </p:grpSp>
      <p:cxnSp>
        <p:nvCxnSpPr>
          <p:cNvPr id="30" name="Straight Arrow Connector 29">
            <a:extLst>
              <a:ext uri="{FF2B5EF4-FFF2-40B4-BE49-F238E27FC236}">
                <a16:creationId xmlns:a16="http://schemas.microsoft.com/office/drawing/2014/main" id="{20B85645-7BC6-BB16-D98B-9FFE4D6C009F}"/>
              </a:ext>
            </a:extLst>
          </p:cNvPr>
          <p:cNvCxnSpPr>
            <a:cxnSpLocks/>
            <a:stCxn id="17" idx="2"/>
            <a:endCxn id="28" idx="0"/>
          </p:cNvCxnSpPr>
          <p:nvPr/>
        </p:nvCxnSpPr>
        <p:spPr>
          <a:xfrm>
            <a:off x="2308322" y="1970425"/>
            <a:ext cx="5037" cy="181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BBD42C-B4C7-ACBC-57DE-842F550E225C}"/>
              </a:ext>
            </a:extLst>
          </p:cNvPr>
          <p:cNvCxnSpPr>
            <a:cxnSpLocks/>
            <a:stCxn id="28" idx="2"/>
            <a:endCxn id="18" idx="0"/>
          </p:cNvCxnSpPr>
          <p:nvPr/>
        </p:nvCxnSpPr>
        <p:spPr>
          <a:xfrm flipH="1">
            <a:off x="2308322" y="3016704"/>
            <a:ext cx="5037" cy="217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34EFEC2-61EE-1A26-4D33-73CE498C54D3}"/>
              </a:ext>
            </a:extLst>
          </p:cNvPr>
          <p:cNvCxnSpPr>
            <a:cxnSpLocks/>
            <a:stCxn id="18" idx="2"/>
            <a:endCxn id="21" idx="0"/>
          </p:cNvCxnSpPr>
          <p:nvPr/>
        </p:nvCxnSpPr>
        <p:spPr>
          <a:xfrm>
            <a:off x="2308322" y="3615778"/>
            <a:ext cx="5037" cy="318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FDD71A7-ABE7-B3DC-5577-2A735FC51016}"/>
              </a:ext>
            </a:extLst>
          </p:cNvPr>
          <p:cNvCxnSpPr>
            <a:cxnSpLocks/>
            <a:stCxn id="21" idx="2"/>
            <a:endCxn id="19" idx="0"/>
          </p:cNvCxnSpPr>
          <p:nvPr/>
        </p:nvCxnSpPr>
        <p:spPr>
          <a:xfrm flipH="1">
            <a:off x="2308322" y="5966102"/>
            <a:ext cx="5037" cy="314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ight Arrow 41">
            <a:extLst>
              <a:ext uri="{FF2B5EF4-FFF2-40B4-BE49-F238E27FC236}">
                <a16:creationId xmlns:a16="http://schemas.microsoft.com/office/drawing/2014/main" id="{60D60C51-26C9-35B6-FA78-103C789DCF8C}"/>
              </a:ext>
            </a:extLst>
          </p:cNvPr>
          <p:cNvSpPr/>
          <p:nvPr/>
        </p:nvSpPr>
        <p:spPr>
          <a:xfrm>
            <a:off x="4300296" y="3435009"/>
            <a:ext cx="968699" cy="99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D731463-0FF3-C19F-CBFC-41F5C4516037}"/>
              </a:ext>
            </a:extLst>
          </p:cNvPr>
          <p:cNvPicPr>
            <a:picLocks noChangeAspect="1"/>
          </p:cNvPicPr>
          <p:nvPr/>
        </p:nvPicPr>
        <p:blipFill>
          <a:blip r:embed="rId2"/>
          <a:stretch/>
        </p:blipFill>
        <p:spPr>
          <a:xfrm>
            <a:off x="5351420" y="2013975"/>
            <a:ext cx="6760279" cy="3711761"/>
          </a:xfrm>
          <a:prstGeom prst="rect">
            <a:avLst/>
          </a:prstGeom>
        </p:spPr>
      </p:pic>
      <p:sp>
        <p:nvSpPr>
          <p:cNvPr id="8" name="Slide Number Placeholder 7">
            <a:extLst>
              <a:ext uri="{FF2B5EF4-FFF2-40B4-BE49-F238E27FC236}">
                <a16:creationId xmlns:a16="http://schemas.microsoft.com/office/drawing/2014/main" id="{1F613615-7D7A-ED5F-87F1-315ECA2B1C66}"/>
              </a:ext>
            </a:extLst>
          </p:cNvPr>
          <p:cNvSpPr>
            <a:spLocks noGrp="1"/>
          </p:cNvSpPr>
          <p:nvPr>
            <p:ph type="sldNum" idx="12"/>
          </p:nvPr>
        </p:nvSpPr>
        <p:spPr/>
        <p:txBody>
          <a:bodyPr/>
          <a:lstStyle/>
          <a:p>
            <a:fld id="{3109D357-8067-4A1F-97B2-93C5160B78D9}" type="slidenum">
              <a:rPr lang="en-CA" smtClean="0"/>
              <a:t>19</a:t>
            </a:fld>
            <a:endParaRPr lang="en-CA"/>
          </a:p>
        </p:txBody>
      </p:sp>
    </p:spTree>
    <p:extLst>
      <p:ext uri="{BB962C8B-B14F-4D97-AF65-F5344CB8AC3E}">
        <p14:creationId xmlns:p14="http://schemas.microsoft.com/office/powerpoint/2010/main" val="3591332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BF40C-BFCC-175C-E555-BCDED4BA40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A533F4-E4E7-E755-3D46-D753ADE1FA5B}"/>
              </a:ext>
            </a:extLst>
          </p:cNvPr>
          <p:cNvSpPr txBox="1"/>
          <p:nvPr/>
        </p:nvSpPr>
        <p:spPr>
          <a:xfrm>
            <a:off x="320039" y="283464"/>
            <a:ext cx="6850781" cy="553998"/>
          </a:xfrm>
          <a:prstGeom prst="rect">
            <a:avLst/>
          </a:prstGeom>
          <a:noFill/>
        </p:spPr>
        <p:txBody>
          <a:bodyPr wrap="square">
            <a:spAutoFit/>
          </a:bodyPr>
          <a:lstStyle/>
          <a:p>
            <a:pPr algn="l"/>
            <a:r>
              <a:rPr lang="en-US" sz="3000" b="1" dirty="0">
                <a:solidFill>
                  <a:srgbClr val="2E3A3C"/>
                </a:solidFill>
                <a:latin typeface="Times New Roman"/>
              </a:rPr>
              <a:t>ULTIMATE GOAL: CUT THE COST!!!</a:t>
            </a:r>
            <a:endParaRPr sz="3000" b="1" i="0" dirty="0">
              <a:solidFill>
                <a:srgbClr val="2E3A3C"/>
              </a:solidFill>
              <a:latin typeface="Times New Roman"/>
            </a:endParaRPr>
          </a:p>
        </p:txBody>
      </p:sp>
      <p:sp>
        <p:nvSpPr>
          <p:cNvPr id="3" name="TextBox 2">
            <a:extLst>
              <a:ext uri="{FF2B5EF4-FFF2-40B4-BE49-F238E27FC236}">
                <a16:creationId xmlns:a16="http://schemas.microsoft.com/office/drawing/2014/main" id="{ABECA93F-872F-44EA-CEA3-FB0AF4AA6D58}"/>
              </a:ext>
            </a:extLst>
          </p:cNvPr>
          <p:cNvSpPr txBox="1"/>
          <p:nvPr/>
        </p:nvSpPr>
        <p:spPr>
          <a:xfrm>
            <a:off x="320040" y="795528"/>
            <a:ext cx="10991088" cy="461665"/>
          </a:xfrm>
          <a:prstGeom prst="rect">
            <a:avLst/>
          </a:prstGeom>
          <a:noFill/>
        </p:spPr>
        <p:txBody>
          <a:bodyPr wrap="square">
            <a:spAutoFit/>
          </a:bodyPr>
          <a:lstStyle/>
          <a:p>
            <a:r>
              <a:rPr lang="en-US" sz="2400" dirty="0">
                <a:solidFill>
                  <a:schemeClr val="tx1">
                    <a:lumMod val="50000"/>
                    <a:lumOff val="50000"/>
                  </a:schemeClr>
                </a:solidFill>
                <a:latin typeface="Times New Roman" panose="02020603050405020304" pitchFamily="18" charset="0"/>
                <a:cs typeface="Times New Roman" panose="02020603050405020304" pitchFamily="18" charset="0"/>
              </a:rPr>
              <a:t>I</a:t>
            </a:r>
            <a:r>
              <a:rPr lang="en-US" sz="2400" b="0" i="0" dirty="0">
                <a:solidFill>
                  <a:schemeClr val="tx1">
                    <a:lumMod val="50000"/>
                    <a:lumOff val="50000"/>
                  </a:schemeClr>
                </a:solidFill>
                <a:latin typeface="Times New Roman" panose="02020603050405020304" pitchFamily="18" charset="0"/>
                <a:cs typeface="Times New Roman" panose="02020603050405020304" pitchFamily="18" charset="0"/>
              </a:rPr>
              <a:t> introduced a solution, and brought in several new problems</a:t>
            </a:r>
            <a:endParaRPr sz="2400" b="0" i="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cxnSp>
        <p:nvCxnSpPr>
          <p:cNvPr id="4" name="Connector 3">
            <a:extLst>
              <a:ext uri="{FF2B5EF4-FFF2-40B4-BE49-F238E27FC236}">
                <a16:creationId xmlns:a16="http://schemas.microsoft.com/office/drawing/2014/main" id="{B8263030-29E8-0E3D-5D1E-BD8667F47DA7}"/>
              </a:ext>
            </a:extLst>
          </p:cNvPr>
          <p:cNvCxnSpPr/>
          <p:nvPr/>
        </p:nvCxnSpPr>
        <p:spPr>
          <a:xfrm>
            <a:off x="0" y="1435608"/>
            <a:ext cx="12188952" cy="0"/>
          </a:xfrm>
          <a:prstGeom prst="line">
            <a:avLst/>
          </a:prstGeom>
          <a:ln w="19050">
            <a:solidFill>
              <a:srgbClr val="898470"/>
            </a:solidFill>
          </a:ln>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BA1B91C9-54B5-5532-D6C9-EE91C60DD8C8}"/>
              </a:ext>
            </a:extLst>
          </p:cNvPr>
          <p:cNvSpPr/>
          <p:nvPr/>
        </p:nvSpPr>
        <p:spPr>
          <a:xfrm>
            <a:off x="1537457" y="1568089"/>
            <a:ext cx="1541730" cy="402336"/>
          </a:xfrm>
          <a:prstGeom prst="roundRect">
            <a:avLst/>
          </a:prstGeom>
          <a:solidFill>
            <a:schemeClr val="bg1">
              <a:lumMod val="85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NL Description</a:t>
            </a:r>
          </a:p>
        </p:txBody>
      </p:sp>
      <p:sp>
        <p:nvSpPr>
          <p:cNvPr id="18" name="Rounded Rectangle 17">
            <a:extLst>
              <a:ext uri="{FF2B5EF4-FFF2-40B4-BE49-F238E27FC236}">
                <a16:creationId xmlns:a16="http://schemas.microsoft.com/office/drawing/2014/main" id="{115BDAF8-25BA-BCAB-9744-32D0DFEC653A}"/>
              </a:ext>
            </a:extLst>
          </p:cNvPr>
          <p:cNvSpPr/>
          <p:nvPr/>
        </p:nvSpPr>
        <p:spPr>
          <a:xfrm>
            <a:off x="1501042" y="3234249"/>
            <a:ext cx="1614559" cy="381529"/>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Structured </a:t>
            </a:r>
            <a:r>
              <a:rPr sz="1400" b="0" i="0" dirty="0" err="1">
                <a:solidFill>
                  <a:srgbClr val="2E3A3C"/>
                </a:solidFill>
                <a:latin typeface="Times New Roman"/>
              </a:rPr>
              <a:t>spec.md</a:t>
            </a:r>
            <a:endParaRPr sz="1400" b="0" i="0" dirty="0">
              <a:solidFill>
                <a:srgbClr val="2E3A3C"/>
              </a:solidFill>
              <a:latin typeface="Times New Roman"/>
            </a:endParaRPr>
          </a:p>
        </p:txBody>
      </p:sp>
      <p:sp>
        <p:nvSpPr>
          <p:cNvPr id="19" name="Rounded Rectangle 18">
            <a:extLst>
              <a:ext uri="{FF2B5EF4-FFF2-40B4-BE49-F238E27FC236}">
                <a16:creationId xmlns:a16="http://schemas.microsoft.com/office/drawing/2014/main" id="{4A889D32-913C-7847-9DB0-E59F2E2BE852}"/>
              </a:ext>
            </a:extLst>
          </p:cNvPr>
          <p:cNvSpPr/>
          <p:nvPr/>
        </p:nvSpPr>
        <p:spPr>
          <a:xfrm>
            <a:off x="1610435" y="6280353"/>
            <a:ext cx="1395774" cy="347472"/>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0" i="0" dirty="0">
                <a:solidFill>
                  <a:srgbClr val="2E3A3C"/>
                </a:solidFill>
                <a:latin typeface="Times New Roman"/>
              </a:rPr>
              <a:t>Outputs</a:t>
            </a:r>
            <a:r>
              <a:rPr lang="en-US" sz="1400" b="0" i="0" dirty="0">
                <a:solidFill>
                  <a:srgbClr val="2E3A3C"/>
                </a:solidFill>
                <a:latin typeface="Times New Roman"/>
              </a:rPr>
              <a:t>: Report</a:t>
            </a:r>
            <a:endParaRPr sz="1400" b="0" i="0" dirty="0">
              <a:solidFill>
                <a:srgbClr val="2E3A3C"/>
              </a:solidFill>
              <a:latin typeface="Times New Roman"/>
            </a:endParaRPr>
          </a:p>
        </p:txBody>
      </p:sp>
      <p:grpSp>
        <p:nvGrpSpPr>
          <p:cNvPr id="20" name="Group 19">
            <a:extLst>
              <a:ext uri="{FF2B5EF4-FFF2-40B4-BE49-F238E27FC236}">
                <a16:creationId xmlns:a16="http://schemas.microsoft.com/office/drawing/2014/main" id="{10E86201-2ABD-CC12-046A-91E2ADFBC6E8}"/>
              </a:ext>
            </a:extLst>
          </p:cNvPr>
          <p:cNvGrpSpPr/>
          <p:nvPr/>
        </p:nvGrpSpPr>
        <p:grpSpPr>
          <a:xfrm>
            <a:off x="853806" y="3934309"/>
            <a:ext cx="2919106" cy="2031793"/>
            <a:chOff x="320040" y="3390563"/>
            <a:chExt cx="2919106" cy="2031793"/>
          </a:xfrm>
        </p:grpSpPr>
        <p:sp>
          <p:nvSpPr>
            <p:cNvPr id="21" name="Rounded Rectangle 20">
              <a:extLst>
                <a:ext uri="{FF2B5EF4-FFF2-40B4-BE49-F238E27FC236}">
                  <a16:creationId xmlns:a16="http://schemas.microsoft.com/office/drawing/2014/main" id="{583E12E4-D715-3A61-69C7-923FBC7C7C9C}"/>
                </a:ext>
              </a:extLst>
            </p:cNvPr>
            <p:cNvSpPr/>
            <p:nvPr/>
          </p:nvSpPr>
          <p:spPr>
            <a:xfrm>
              <a:off x="320040" y="3390563"/>
              <a:ext cx="2919106" cy="2031793"/>
            </a:xfrm>
            <a:prstGeom prst="roundRect">
              <a:avLst/>
            </a:prstGeom>
            <a:no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i="0" dirty="0">
                  <a:ln w="0"/>
                  <a:solidFill>
                    <a:schemeClr val="tx1"/>
                  </a:solidFill>
                  <a:effectLst>
                    <a:outerShdw blurRad="38100" dist="19050" dir="2700000" algn="tl" rotWithShape="0">
                      <a:schemeClr val="dk1">
                        <a:alpha val="40000"/>
                      </a:schemeClr>
                    </a:outerShdw>
                  </a:effectLst>
                  <a:latin typeface="Times New Roman"/>
                </a:rPr>
                <a:t>Agent Runner  (multi-turn loop)</a:t>
              </a:r>
            </a:p>
          </p:txBody>
        </p:sp>
        <p:sp>
          <p:nvSpPr>
            <p:cNvPr id="22" name="Rounded Rectangle 21">
              <a:extLst>
                <a:ext uri="{FF2B5EF4-FFF2-40B4-BE49-F238E27FC236}">
                  <a16:creationId xmlns:a16="http://schemas.microsoft.com/office/drawing/2014/main" id="{DBA224D1-2618-0219-FB69-E5D2DD4A721B}"/>
                </a:ext>
              </a:extLst>
            </p:cNvPr>
            <p:cNvSpPr/>
            <p:nvPr/>
          </p:nvSpPr>
          <p:spPr>
            <a:xfrm>
              <a:off x="772594" y="3828237"/>
              <a:ext cx="2011678" cy="402336"/>
            </a:xfrm>
            <a:prstGeom prst="roundRect">
              <a:avLst/>
            </a:prstGeom>
            <a:solidFill>
              <a:srgbClr val="9F7E56"/>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err="1">
                  <a:solidFill>
                    <a:srgbClr val="FFFFFF"/>
                  </a:solidFill>
                  <a:latin typeface="Times New Roman"/>
                </a:rPr>
                <a:t>Tool</a:t>
              </a:r>
              <a:r>
                <a:rPr lang="en-US" sz="1400" b="0" i="0" dirty="0" err="1">
                  <a:solidFill>
                    <a:srgbClr val="FFFFFF"/>
                  </a:solidFill>
                  <a:latin typeface="Times New Roman"/>
                </a:rPr>
                <a:t>.py</a:t>
              </a:r>
              <a:r>
                <a:rPr sz="1400" b="0" i="0" dirty="0">
                  <a:solidFill>
                    <a:srgbClr val="FFFFFF"/>
                  </a:solidFill>
                  <a:latin typeface="Times New Roman"/>
                </a:rPr>
                <a:t>  (in-process)</a:t>
              </a:r>
            </a:p>
          </p:txBody>
        </p:sp>
        <p:sp>
          <p:nvSpPr>
            <p:cNvPr id="23" name="Rounded Rectangle 22">
              <a:extLst>
                <a:ext uri="{FF2B5EF4-FFF2-40B4-BE49-F238E27FC236}">
                  <a16:creationId xmlns:a16="http://schemas.microsoft.com/office/drawing/2014/main" id="{AEA6B5CB-1C09-6835-6AF6-CA0FE4B10A2A}"/>
                </a:ext>
              </a:extLst>
            </p:cNvPr>
            <p:cNvSpPr/>
            <p:nvPr/>
          </p:nvSpPr>
          <p:spPr>
            <a:xfrm>
              <a:off x="772594" y="4779677"/>
              <a:ext cx="2011678"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dirty="0">
                  <a:solidFill>
                    <a:srgbClr val="2E3A3C"/>
                  </a:solidFill>
                  <a:latin typeface="Times New Roman"/>
                </a:rPr>
                <a:t>Previous Conversations</a:t>
              </a:r>
            </a:p>
          </p:txBody>
        </p:sp>
        <p:sp>
          <p:nvSpPr>
            <p:cNvPr id="25" name="Rounded Rectangle 24">
              <a:extLst>
                <a:ext uri="{FF2B5EF4-FFF2-40B4-BE49-F238E27FC236}">
                  <a16:creationId xmlns:a16="http://schemas.microsoft.com/office/drawing/2014/main" id="{379F1163-763F-ABD0-ABFA-EE55456A1FCF}"/>
                </a:ext>
              </a:extLst>
            </p:cNvPr>
            <p:cNvSpPr/>
            <p:nvPr/>
          </p:nvSpPr>
          <p:spPr>
            <a:xfrm>
              <a:off x="1898548" y="4285437"/>
              <a:ext cx="877976"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a:solidFill>
                    <a:srgbClr val="2E3A3C"/>
                  </a:solidFill>
                  <a:latin typeface="Times New Roman"/>
                </a:rPr>
                <a:t>System Prompt</a:t>
              </a:r>
              <a:endParaRPr sz="1200" b="0" i="0" dirty="0">
                <a:solidFill>
                  <a:srgbClr val="2E3A3C"/>
                </a:solidFill>
                <a:latin typeface="Times New Roman"/>
              </a:endParaRPr>
            </a:p>
          </p:txBody>
        </p:sp>
        <p:sp>
          <p:nvSpPr>
            <p:cNvPr id="26" name="Rounded Rectangle 25">
              <a:extLst>
                <a:ext uri="{FF2B5EF4-FFF2-40B4-BE49-F238E27FC236}">
                  <a16:creationId xmlns:a16="http://schemas.microsoft.com/office/drawing/2014/main" id="{B897E37F-62E0-805C-8219-5B1A208AC5B5}"/>
                </a:ext>
              </a:extLst>
            </p:cNvPr>
            <p:cNvSpPr/>
            <p:nvPr/>
          </p:nvSpPr>
          <p:spPr>
            <a:xfrm>
              <a:off x="772593" y="4286675"/>
              <a:ext cx="939969"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a:solidFill>
                    <a:srgbClr val="2E3A3C"/>
                  </a:solidFill>
                  <a:latin typeface="Times New Roman"/>
                </a:rPr>
                <a:t>Tool Schema</a:t>
              </a:r>
              <a:endParaRPr sz="1200" b="0" i="0" dirty="0">
                <a:solidFill>
                  <a:srgbClr val="2E3A3C"/>
                </a:solidFill>
                <a:latin typeface="Times New Roman"/>
              </a:endParaRPr>
            </a:p>
          </p:txBody>
        </p:sp>
      </p:grpSp>
      <p:grpSp>
        <p:nvGrpSpPr>
          <p:cNvPr id="27" name="Group 26">
            <a:extLst>
              <a:ext uri="{FF2B5EF4-FFF2-40B4-BE49-F238E27FC236}">
                <a16:creationId xmlns:a16="http://schemas.microsoft.com/office/drawing/2014/main" id="{5D916274-9FF5-AEA1-8FD3-CEF9E2FB9192}"/>
              </a:ext>
            </a:extLst>
          </p:cNvPr>
          <p:cNvGrpSpPr/>
          <p:nvPr/>
        </p:nvGrpSpPr>
        <p:grpSpPr>
          <a:xfrm>
            <a:off x="853805" y="2152180"/>
            <a:ext cx="2919107" cy="864524"/>
            <a:chOff x="740826" y="2200768"/>
            <a:chExt cx="2919107" cy="864524"/>
          </a:xfrm>
        </p:grpSpPr>
        <p:sp>
          <p:nvSpPr>
            <p:cNvPr id="28" name="Rounded Rectangle 27">
              <a:extLst>
                <a:ext uri="{FF2B5EF4-FFF2-40B4-BE49-F238E27FC236}">
                  <a16:creationId xmlns:a16="http://schemas.microsoft.com/office/drawing/2014/main" id="{2972609A-5EA1-1C84-AE86-6BF391CA1631}"/>
                </a:ext>
              </a:extLst>
            </p:cNvPr>
            <p:cNvSpPr/>
            <p:nvPr/>
          </p:nvSpPr>
          <p:spPr>
            <a:xfrm>
              <a:off x="740826" y="2200768"/>
              <a:ext cx="2919107" cy="864524"/>
            </a:xfrm>
            <a:prstGeom prst="roundRect">
              <a:avLst/>
            </a:prstGeom>
            <a:no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i="0" dirty="0">
                  <a:ln w="0"/>
                  <a:solidFill>
                    <a:schemeClr val="tx1"/>
                  </a:solidFill>
                  <a:effectLst>
                    <a:outerShdw blurRad="38100" dist="19050" dir="2700000" algn="tl" rotWithShape="0">
                      <a:schemeClr val="dk1">
                        <a:alpha val="40000"/>
                      </a:schemeClr>
                    </a:outerShdw>
                  </a:effectLst>
                  <a:latin typeface="Times New Roman"/>
                </a:rPr>
                <a:t>Spec Drafter  (1 LLM call)</a:t>
              </a:r>
            </a:p>
          </p:txBody>
        </p:sp>
        <p:sp>
          <p:nvSpPr>
            <p:cNvPr id="29" name="Rounded Rectangle 28">
              <a:extLst>
                <a:ext uri="{FF2B5EF4-FFF2-40B4-BE49-F238E27FC236}">
                  <a16:creationId xmlns:a16="http://schemas.microsoft.com/office/drawing/2014/main" id="{90E3DA2C-B924-69A2-31A4-83074A96C068}"/>
                </a:ext>
              </a:extLst>
            </p:cNvPr>
            <p:cNvSpPr/>
            <p:nvPr/>
          </p:nvSpPr>
          <p:spPr>
            <a:xfrm>
              <a:off x="1193380" y="2581960"/>
              <a:ext cx="2011678"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err="1">
                  <a:solidFill>
                    <a:srgbClr val="2E3A3C"/>
                  </a:solidFill>
                  <a:latin typeface="Times New Roman"/>
                </a:rPr>
                <a:t>Drafter_prompt</a:t>
              </a:r>
              <a:endParaRPr sz="1200" b="0" i="0" dirty="0">
                <a:solidFill>
                  <a:srgbClr val="2E3A3C"/>
                </a:solidFill>
                <a:latin typeface="Times New Roman"/>
              </a:endParaRPr>
            </a:p>
          </p:txBody>
        </p:sp>
      </p:grpSp>
      <p:cxnSp>
        <p:nvCxnSpPr>
          <p:cNvPr id="30" name="Straight Arrow Connector 29">
            <a:extLst>
              <a:ext uri="{FF2B5EF4-FFF2-40B4-BE49-F238E27FC236}">
                <a16:creationId xmlns:a16="http://schemas.microsoft.com/office/drawing/2014/main" id="{931B0364-DE01-9B46-6A96-5C1ABFA535EA}"/>
              </a:ext>
            </a:extLst>
          </p:cNvPr>
          <p:cNvCxnSpPr>
            <a:cxnSpLocks/>
            <a:stCxn id="17" idx="2"/>
            <a:endCxn id="28" idx="0"/>
          </p:cNvCxnSpPr>
          <p:nvPr/>
        </p:nvCxnSpPr>
        <p:spPr>
          <a:xfrm>
            <a:off x="2308322" y="1970425"/>
            <a:ext cx="5037" cy="181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68BEACD-6686-FE5E-7888-DBD4B9E8B448}"/>
              </a:ext>
            </a:extLst>
          </p:cNvPr>
          <p:cNvCxnSpPr>
            <a:cxnSpLocks/>
            <a:stCxn id="28" idx="2"/>
            <a:endCxn id="18" idx="0"/>
          </p:cNvCxnSpPr>
          <p:nvPr/>
        </p:nvCxnSpPr>
        <p:spPr>
          <a:xfrm flipH="1">
            <a:off x="2308322" y="3016704"/>
            <a:ext cx="5037" cy="217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CFFC4A2-E95A-B072-8EAA-9C759D805730}"/>
              </a:ext>
            </a:extLst>
          </p:cNvPr>
          <p:cNvCxnSpPr>
            <a:cxnSpLocks/>
            <a:stCxn id="18" idx="2"/>
            <a:endCxn id="21" idx="0"/>
          </p:cNvCxnSpPr>
          <p:nvPr/>
        </p:nvCxnSpPr>
        <p:spPr>
          <a:xfrm>
            <a:off x="2308322" y="3615778"/>
            <a:ext cx="5037" cy="318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038C4BC-216B-1DEB-4A44-2F7AF6452499}"/>
              </a:ext>
            </a:extLst>
          </p:cNvPr>
          <p:cNvCxnSpPr>
            <a:cxnSpLocks/>
            <a:stCxn id="21" idx="2"/>
            <a:endCxn id="19" idx="0"/>
          </p:cNvCxnSpPr>
          <p:nvPr/>
        </p:nvCxnSpPr>
        <p:spPr>
          <a:xfrm flipH="1">
            <a:off x="2308322" y="5966102"/>
            <a:ext cx="5037" cy="314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0D76358-F174-8E87-B0F2-E253034E8138}"/>
              </a:ext>
            </a:extLst>
          </p:cNvPr>
          <p:cNvSpPr txBox="1"/>
          <p:nvPr/>
        </p:nvSpPr>
        <p:spPr>
          <a:xfrm>
            <a:off x="5681204" y="1745156"/>
            <a:ext cx="5813929" cy="480131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Too costly since every log is saved in memory which becomes the new prompt for next turn, resulted in exponentially exploding context and cost! </a:t>
            </a:r>
            <a:r>
              <a:rPr lang="en-CA" dirty="0">
                <a:latin typeface="Times New Roman" panose="02020603050405020304" pitchFamily="18" charset="0"/>
                <a:cs typeface="Times New Roman" panose="02020603050405020304" pitchFamily="18" charset="0"/>
              </a:rPr>
              <a:t>91% of the total cost was just re-sending old conversation history.</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Solution:</a:t>
            </a:r>
          </a:p>
          <a:p>
            <a:r>
              <a:rPr lang="en-CA" dirty="0">
                <a:latin typeface="Times New Roman" panose="02020603050405020304" pitchFamily="18" charset="0"/>
                <a:cs typeface="Times New Roman" panose="02020603050405020304" pitchFamily="18" charset="0"/>
              </a:rPr>
              <a:t>Once an R is verified, trim its conversation from the context.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New Problem:</a:t>
            </a:r>
          </a:p>
          <a:p>
            <a:r>
              <a:rPr lang="en-CA" b="1" dirty="0">
                <a:latin typeface="Times New Roman" panose="02020603050405020304" pitchFamily="18" charset="0"/>
                <a:cs typeface="Times New Roman" panose="02020603050405020304" pitchFamily="18" charset="0"/>
              </a:rPr>
              <a:t>Breaking coherence</a:t>
            </a:r>
            <a:r>
              <a:rPr lang="en-US" b="1" dirty="0">
                <a:latin typeface="Times New Roman" panose="02020603050405020304" pitchFamily="18" charset="0"/>
                <a:cs typeface="Times New Roman" panose="02020603050405020304" pitchFamily="18" charset="0"/>
              </a:rPr>
              <a:t>: </a:t>
            </a:r>
            <a:r>
              <a:rPr lang="en-CA" dirty="0">
                <a:latin typeface="Times New Roman" panose="02020603050405020304" pitchFamily="18" charset="0"/>
                <a:cs typeface="Times New Roman" panose="02020603050405020304" pitchFamily="18" charset="0"/>
              </a:rPr>
              <a:t>the model may reference earlier findings ("as I saw in R3...") and pruning those messages causes hallucination or confusion</a:t>
            </a:r>
          </a:p>
          <a:p>
            <a:r>
              <a:rPr lang="en-CA" b="1" dirty="0">
                <a:latin typeface="Times New Roman" panose="02020603050405020304" pitchFamily="18" charset="0"/>
                <a:cs typeface="Times New Roman" panose="02020603050405020304" pitchFamily="18" charset="0"/>
              </a:rPr>
              <a:t>Losing cross-R context: s</a:t>
            </a:r>
            <a:r>
              <a:rPr lang="en-CA" dirty="0">
                <a:latin typeface="Times New Roman" panose="02020603050405020304" pitchFamily="18" charset="0"/>
                <a:cs typeface="Times New Roman" panose="02020603050405020304" pitchFamily="18" charset="0"/>
              </a:rPr>
              <a:t>ome findings from R1 (e.g., discovered IDs, auth patterns) are needed to test R5. You can't know in advance which results are reusable vs. disposable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Rounded Rectangle 5">
            <a:extLst>
              <a:ext uri="{FF2B5EF4-FFF2-40B4-BE49-F238E27FC236}">
                <a16:creationId xmlns:a16="http://schemas.microsoft.com/office/drawing/2014/main" id="{722B1B66-FC69-1AD2-566C-A378FEF1351A}"/>
              </a:ext>
            </a:extLst>
          </p:cNvPr>
          <p:cNvSpPr/>
          <p:nvPr/>
        </p:nvSpPr>
        <p:spPr>
          <a:xfrm>
            <a:off x="4002601" y="5323423"/>
            <a:ext cx="755189" cy="402336"/>
          </a:xfrm>
          <a:prstGeom prst="roundRect">
            <a:avLst/>
          </a:prstGeom>
          <a:solidFill>
            <a:srgbClr val="E5AC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Trim</a:t>
            </a:r>
          </a:p>
        </p:txBody>
      </p:sp>
      <p:cxnSp>
        <p:nvCxnSpPr>
          <p:cNvPr id="9" name="Straight Arrow Connector 8">
            <a:extLst>
              <a:ext uri="{FF2B5EF4-FFF2-40B4-BE49-F238E27FC236}">
                <a16:creationId xmlns:a16="http://schemas.microsoft.com/office/drawing/2014/main" id="{80704359-6AFC-0520-6014-EAC3206177AF}"/>
              </a:ext>
            </a:extLst>
          </p:cNvPr>
          <p:cNvCxnSpPr>
            <a:stCxn id="23" idx="3"/>
            <a:endCxn id="6" idx="1"/>
          </p:cNvCxnSpPr>
          <p:nvPr/>
        </p:nvCxnSpPr>
        <p:spPr>
          <a:xfrm>
            <a:off x="3318038" y="5524591"/>
            <a:ext cx="6845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Slide Number Placeholder 10">
            <a:extLst>
              <a:ext uri="{FF2B5EF4-FFF2-40B4-BE49-F238E27FC236}">
                <a16:creationId xmlns:a16="http://schemas.microsoft.com/office/drawing/2014/main" id="{670CB5F1-AE65-CD99-A92E-05D50E0F32D0}"/>
              </a:ext>
            </a:extLst>
          </p:cNvPr>
          <p:cNvSpPr>
            <a:spLocks noGrp="1"/>
          </p:cNvSpPr>
          <p:nvPr>
            <p:ph type="sldNum" idx="12"/>
          </p:nvPr>
        </p:nvSpPr>
        <p:spPr/>
        <p:txBody>
          <a:bodyPr/>
          <a:lstStyle/>
          <a:p>
            <a:fld id="{3109D357-8067-4A1F-97B2-93C5160B78D9}" type="slidenum">
              <a:rPr lang="en-CA" smtClean="0"/>
              <a:t>20</a:t>
            </a:fld>
            <a:endParaRPr lang="en-CA"/>
          </a:p>
        </p:txBody>
      </p:sp>
    </p:spTree>
    <p:extLst>
      <p:ext uri="{BB962C8B-B14F-4D97-AF65-F5344CB8AC3E}">
        <p14:creationId xmlns:p14="http://schemas.microsoft.com/office/powerpoint/2010/main" val="362712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E7A84-CF1B-C488-FA7E-CE753FC935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4939F6-0AEA-143D-5320-FA534A3EB41D}"/>
              </a:ext>
            </a:extLst>
          </p:cNvPr>
          <p:cNvSpPr txBox="1"/>
          <p:nvPr/>
        </p:nvSpPr>
        <p:spPr>
          <a:xfrm>
            <a:off x="320039" y="283464"/>
            <a:ext cx="6850781" cy="553998"/>
          </a:xfrm>
          <a:prstGeom prst="rect">
            <a:avLst/>
          </a:prstGeom>
          <a:noFill/>
        </p:spPr>
        <p:txBody>
          <a:bodyPr wrap="square">
            <a:spAutoFit/>
          </a:bodyPr>
          <a:lstStyle/>
          <a:p>
            <a:pPr algn="l"/>
            <a:r>
              <a:rPr lang="en-US" sz="3000" b="1" dirty="0">
                <a:solidFill>
                  <a:srgbClr val="2E3A3C"/>
                </a:solidFill>
                <a:latin typeface="Times New Roman"/>
              </a:rPr>
              <a:t>ULTIMATE GOAL: CUT THE COST!!!</a:t>
            </a:r>
            <a:endParaRPr sz="3000" b="1" i="0" dirty="0">
              <a:solidFill>
                <a:srgbClr val="2E3A3C"/>
              </a:solidFill>
              <a:latin typeface="Times New Roman"/>
            </a:endParaRPr>
          </a:p>
        </p:txBody>
      </p:sp>
      <p:sp>
        <p:nvSpPr>
          <p:cNvPr id="3" name="TextBox 2">
            <a:extLst>
              <a:ext uri="{FF2B5EF4-FFF2-40B4-BE49-F238E27FC236}">
                <a16:creationId xmlns:a16="http://schemas.microsoft.com/office/drawing/2014/main" id="{6334BDE5-341F-9978-2186-9601CEF9F099}"/>
              </a:ext>
            </a:extLst>
          </p:cNvPr>
          <p:cNvSpPr txBox="1"/>
          <p:nvPr/>
        </p:nvSpPr>
        <p:spPr>
          <a:xfrm>
            <a:off x="320040" y="795528"/>
            <a:ext cx="10991088" cy="461665"/>
          </a:xfrm>
          <a:prstGeom prst="rect">
            <a:avLst/>
          </a:prstGeom>
          <a:noFill/>
        </p:spPr>
        <p:txBody>
          <a:bodyPr wrap="square">
            <a:spAutoFit/>
          </a:bodyPr>
          <a:lstStyle/>
          <a:p>
            <a:r>
              <a:rPr lang="en-US" sz="2400" dirty="0">
                <a:solidFill>
                  <a:schemeClr val="tx1">
                    <a:lumMod val="50000"/>
                    <a:lumOff val="50000"/>
                  </a:schemeClr>
                </a:solidFill>
                <a:latin typeface="Times New Roman" panose="02020603050405020304" pitchFamily="18" charset="0"/>
                <a:cs typeface="Times New Roman" panose="02020603050405020304" pitchFamily="18" charset="0"/>
              </a:rPr>
              <a:t>I</a:t>
            </a:r>
            <a:r>
              <a:rPr lang="en-US" sz="2400" b="0" i="0" dirty="0">
                <a:solidFill>
                  <a:schemeClr val="tx1">
                    <a:lumMod val="50000"/>
                    <a:lumOff val="50000"/>
                  </a:schemeClr>
                </a:solidFill>
                <a:latin typeface="Times New Roman" panose="02020603050405020304" pitchFamily="18" charset="0"/>
                <a:cs typeface="Times New Roman" panose="02020603050405020304" pitchFamily="18" charset="0"/>
              </a:rPr>
              <a:t> introduced a solution, and brought in several new problems</a:t>
            </a:r>
            <a:endParaRPr sz="2400" b="0" i="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cxnSp>
        <p:nvCxnSpPr>
          <p:cNvPr id="4" name="Connector 3">
            <a:extLst>
              <a:ext uri="{FF2B5EF4-FFF2-40B4-BE49-F238E27FC236}">
                <a16:creationId xmlns:a16="http://schemas.microsoft.com/office/drawing/2014/main" id="{4D7B2053-04AF-2FF5-BAE3-4D0473D0948E}"/>
              </a:ext>
            </a:extLst>
          </p:cNvPr>
          <p:cNvCxnSpPr/>
          <p:nvPr/>
        </p:nvCxnSpPr>
        <p:spPr>
          <a:xfrm>
            <a:off x="0" y="1435608"/>
            <a:ext cx="12188952" cy="0"/>
          </a:xfrm>
          <a:prstGeom prst="line">
            <a:avLst/>
          </a:prstGeom>
          <a:ln w="19050">
            <a:solidFill>
              <a:srgbClr val="898470"/>
            </a:solidFill>
          </a:ln>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23890B58-91EA-D8B2-CABB-340CDDBC5875}"/>
              </a:ext>
            </a:extLst>
          </p:cNvPr>
          <p:cNvSpPr/>
          <p:nvPr/>
        </p:nvSpPr>
        <p:spPr>
          <a:xfrm>
            <a:off x="1537457" y="1568089"/>
            <a:ext cx="1541730" cy="402336"/>
          </a:xfrm>
          <a:prstGeom prst="roundRect">
            <a:avLst/>
          </a:prstGeom>
          <a:solidFill>
            <a:schemeClr val="bg1">
              <a:lumMod val="85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NL Description</a:t>
            </a:r>
          </a:p>
        </p:txBody>
      </p:sp>
      <p:sp>
        <p:nvSpPr>
          <p:cNvPr id="18" name="Rounded Rectangle 17">
            <a:extLst>
              <a:ext uri="{FF2B5EF4-FFF2-40B4-BE49-F238E27FC236}">
                <a16:creationId xmlns:a16="http://schemas.microsoft.com/office/drawing/2014/main" id="{859371A4-EFEE-7B9A-CF41-BDC8ECA1E00D}"/>
              </a:ext>
            </a:extLst>
          </p:cNvPr>
          <p:cNvSpPr/>
          <p:nvPr/>
        </p:nvSpPr>
        <p:spPr>
          <a:xfrm>
            <a:off x="1501042" y="3234249"/>
            <a:ext cx="1614559" cy="381529"/>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Structured </a:t>
            </a:r>
            <a:r>
              <a:rPr sz="1400" b="0" i="0" dirty="0" err="1">
                <a:solidFill>
                  <a:srgbClr val="2E3A3C"/>
                </a:solidFill>
                <a:latin typeface="Times New Roman"/>
              </a:rPr>
              <a:t>spec.md</a:t>
            </a:r>
            <a:endParaRPr sz="1400" b="0" i="0" dirty="0">
              <a:solidFill>
                <a:srgbClr val="2E3A3C"/>
              </a:solidFill>
              <a:latin typeface="Times New Roman"/>
            </a:endParaRPr>
          </a:p>
        </p:txBody>
      </p:sp>
      <p:sp>
        <p:nvSpPr>
          <p:cNvPr id="19" name="Rounded Rectangle 18">
            <a:extLst>
              <a:ext uri="{FF2B5EF4-FFF2-40B4-BE49-F238E27FC236}">
                <a16:creationId xmlns:a16="http://schemas.microsoft.com/office/drawing/2014/main" id="{8E1DAC6C-319F-AA3E-9A53-AE9BB9082049}"/>
              </a:ext>
            </a:extLst>
          </p:cNvPr>
          <p:cNvSpPr/>
          <p:nvPr/>
        </p:nvSpPr>
        <p:spPr>
          <a:xfrm>
            <a:off x="1610435" y="6280353"/>
            <a:ext cx="1395774" cy="347472"/>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0" i="0" dirty="0">
                <a:solidFill>
                  <a:srgbClr val="2E3A3C"/>
                </a:solidFill>
                <a:latin typeface="Times New Roman"/>
              </a:rPr>
              <a:t>Outputs</a:t>
            </a:r>
            <a:r>
              <a:rPr lang="en-US" sz="1400" b="0" i="0" dirty="0">
                <a:solidFill>
                  <a:srgbClr val="2E3A3C"/>
                </a:solidFill>
                <a:latin typeface="Times New Roman"/>
              </a:rPr>
              <a:t>: Report</a:t>
            </a:r>
            <a:endParaRPr sz="1400" b="0" i="0" dirty="0">
              <a:solidFill>
                <a:srgbClr val="2E3A3C"/>
              </a:solidFill>
              <a:latin typeface="Times New Roman"/>
            </a:endParaRPr>
          </a:p>
        </p:txBody>
      </p:sp>
      <p:grpSp>
        <p:nvGrpSpPr>
          <p:cNvPr id="27" name="Group 26">
            <a:extLst>
              <a:ext uri="{FF2B5EF4-FFF2-40B4-BE49-F238E27FC236}">
                <a16:creationId xmlns:a16="http://schemas.microsoft.com/office/drawing/2014/main" id="{FBEB15E6-F8C2-5C19-90DF-12824468CB12}"/>
              </a:ext>
            </a:extLst>
          </p:cNvPr>
          <p:cNvGrpSpPr/>
          <p:nvPr/>
        </p:nvGrpSpPr>
        <p:grpSpPr>
          <a:xfrm>
            <a:off x="853805" y="2152180"/>
            <a:ext cx="2919107" cy="864524"/>
            <a:chOff x="740826" y="2200768"/>
            <a:chExt cx="2919107" cy="864524"/>
          </a:xfrm>
        </p:grpSpPr>
        <p:sp>
          <p:nvSpPr>
            <p:cNvPr id="28" name="Rounded Rectangle 27">
              <a:extLst>
                <a:ext uri="{FF2B5EF4-FFF2-40B4-BE49-F238E27FC236}">
                  <a16:creationId xmlns:a16="http://schemas.microsoft.com/office/drawing/2014/main" id="{98B3487A-3F4D-6F8E-4FF6-6EE03DB2B09C}"/>
                </a:ext>
              </a:extLst>
            </p:cNvPr>
            <p:cNvSpPr/>
            <p:nvPr/>
          </p:nvSpPr>
          <p:spPr>
            <a:xfrm>
              <a:off x="740826" y="2200768"/>
              <a:ext cx="2919107" cy="864524"/>
            </a:xfrm>
            <a:prstGeom prst="roundRect">
              <a:avLst/>
            </a:prstGeom>
            <a:no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i="0">
                  <a:ln w="0"/>
                  <a:solidFill>
                    <a:schemeClr val="tx1"/>
                  </a:solidFill>
                  <a:effectLst>
                    <a:outerShdw blurRad="38100" dist="19050" dir="2700000" algn="tl" rotWithShape="0">
                      <a:schemeClr val="dk1">
                        <a:alpha val="40000"/>
                      </a:schemeClr>
                    </a:outerShdw>
                  </a:effectLst>
                  <a:latin typeface="Times New Roman"/>
                </a:rPr>
                <a:t>Spec Drafter  (1 LLM call)</a:t>
              </a:r>
            </a:p>
          </p:txBody>
        </p:sp>
        <p:sp>
          <p:nvSpPr>
            <p:cNvPr id="29" name="Rounded Rectangle 28">
              <a:extLst>
                <a:ext uri="{FF2B5EF4-FFF2-40B4-BE49-F238E27FC236}">
                  <a16:creationId xmlns:a16="http://schemas.microsoft.com/office/drawing/2014/main" id="{06037F49-8876-D344-0FEC-31EA2974E3CA}"/>
                </a:ext>
              </a:extLst>
            </p:cNvPr>
            <p:cNvSpPr/>
            <p:nvPr/>
          </p:nvSpPr>
          <p:spPr>
            <a:xfrm>
              <a:off x="1193380" y="2581960"/>
              <a:ext cx="2011678"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err="1">
                  <a:solidFill>
                    <a:srgbClr val="2E3A3C"/>
                  </a:solidFill>
                  <a:latin typeface="Times New Roman"/>
                </a:rPr>
                <a:t>Drafter_prompt</a:t>
              </a:r>
              <a:endParaRPr sz="1200" b="0" i="0" dirty="0">
                <a:solidFill>
                  <a:srgbClr val="2E3A3C"/>
                </a:solidFill>
                <a:latin typeface="Times New Roman"/>
              </a:endParaRPr>
            </a:p>
          </p:txBody>
        </p:sp>
      </p:grpSp>
      <p:cxnSp>
        <p:nvCxnSpPr>
          <p:cNvPr id="30" name="Straight Arrow Connector 29">
            <a:extLst>
              <a:ext uri="{FF2B5EF4-FFF2-40B4-BE49-F238E27FC236}">
                <a16:creationId xmlns:a16="http://schemas.microsoft.com/office/drawing/2014/main" id="{B7F168DD-8A22-4DE4-FB30-11A580D1F9DC}"/>
              </a:ext>
            </a:extLst>
          </p:cNvPr>
          <p:cNvCxnSpPr>
            <a:cxnSpLocks/>
            <a:stCxn id="17" idx="2"/>
            <a:endCxn id="28" idx="0"/>
          </p:cNvCxnSpPr>
          <p:nvPr/>
        </p:nvCxnSpPr>
        <p:spPr>
          <a:xfrm>
            <a:off x="2308322" y="1970425"/>
            <a:ext cx="5037" cy="181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E230044-7035-1BDA-0E07-46E3CB9726C4}"/>
              </a:ext>
            </a:extLst>
          </p:cNvPr>
          <p:cNvCxnSpPr>
            <a:cxnSpLocks/>
            <a:stCxn id="28" idx="2"/>
            <a:endCxn id="18" idx="0"/>
          </p:cNvCxnSpPr>
          <p:nvPr/>
        </p:nvCxnSpPr>
        <p:spPr>
          <a:xfrm flipH="1">
            <a:off x="2308322" y="3016704"/>
            <a:ext cx="5037" cy="217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8DD8B71-7D6E-40E4-3E9A-A6F083A09ACB}"/>
              </a:ext>
            </a:extLst>
          </p:cNvPr>
          <p:cNvCxnSpPr>
            <a:cxnSpLocks/>
            <a:stCxn id="18" idx="2"/>
          </p:cNvCxnSpPr>
          <p:nvPr/>
        </p:nvCxnSpPr>
        <p:spPr>
          <a:xfrm>
            <a:off x="2308322" y="3615778"/>
            <a:ext cx="5037" cy="318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260F619-B7D6-09C8-1699-9CBAADB3D96A}"/>
              </a:ext>
            </a:extLst>
          </p:cNvPr>
          <p:cNvSpPr txBox="1"/>
          <p:nvPr/>
        </p:nvSpPr>
        <p:spPr>
          <a:xfrm>
            <a:off x="5815584" y="1672151"/>
            <a:ext cx="5813929"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Problem:</a:t>
            </a:r>
          </a:p>
          <a:p>
            <a:r>
              <a:rPr lang="en-US" dirty="0">
                <a:latin typeface="Times New Roman" panose="02020603050405020304" pitchFamily="18" charset="0"/>
                <a:cs typeface="Times New Roman" panose="02020603050405020304" pitchFamily="18" charset="0"/>
              </a:rPr>
              <a:t>Cannot trim perfectly which would affect testing outcome.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Solution:</a:t>
            </a:r>
          </a:p>
          <a:p>
            <a:r>
              <a:rPr lang="en-CA" dirty="0">
                <a:latin typeface="Times New Roman" panose="02020603050405020304" pitchFamily="18" charset="0"/>
                <a:cs typeface="Times New Roman" panose="02020603050405020304" pitchFamily="18" charset="0"/>
              </a:rPr>
              <a:t>Batch the execution</a:t>
            </a:r>
            <a:r>
              <a:rPr lang="en-US" dirty="0">
                <a:latin typeface="Times New Roman" panose="02020603050405020304" pitchFamily="18" charset="0"/>
                <a:cs typeface="Times New Roman" panose="02020603050405020304" pitchFamily="18" charset="0"/>
              </a:rPr>
              <a:t>: </a:t>
            </a:r>
            <a:r>
              <a:rPr lang="en-CA" dirty="0">
                <a:latin typeface="Times New Roman" panose="02020603050405020304" pitchFamily="18" charset="0"/>
                <a:cs typeface="Times New Roman" panose="02020603050405020304" pitchFamily="18" charset="0"/>
              </a:rPr>
              <a:t>the orchestrator generates all Rs upfront, groups them into independent batches, and dispatches each batch to a separate short-lived executor. Each executor runs its own isolated conversation (~6–12 turns) instead of one monolithic conversation that grows to 40+ turns.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New Problem:</a:t>
            </a:r>
          </a:p>
          <a:p>
            <a:r>
              <a:rPr lang="en-CA" dirty="0">
                <a:latin typeface="Times New Roman" panose="02020603050405020304" pitchFamily="18" charset="0"/>
                <a:cs typeface="Times New Roman" panose="02020603050405020304" pitchFamily="18" charset="0"/>
              </a:rPr>
              <a:t>Every executor must independently </a:t>
            </a:r>
            <a:r>
              <a:rPr lang="en-CA" b="1" dirty="0">
                <a:latin typeface="Times New Roman" panose="02020603050405020304" pitchFamily="18" charset="0"/>
                <a:cs typeface="Times New Roman" panose="02020603050405020304" pitchFamily="18" charset="0"/>
              </a:rPr>
              <a:t>discover the API </a:t>
            </a:r>
            <a:r>
              <a:rPr lang="en-CA" dirty="0">
                <a:latin typeface="Times New Roman" panose="02020603050405020304" pitchFamily="18" charset="0"/>
                <a:cs typeface="Times New Roman" panose="02020603050405020304" pitchFamily="18" charset="0"/>
              </a:rPr>
              <a:t>(auth flows, endpoints, working IDs) before it can start testing. This redundant probing multiplies setup cost by N batches — the same discovery work repeated N times.</a:t>
            </a:r>
            <a:endParaRPr lang="en-US" dirty="0">
              <a:latin typeface="Times New Roman" panose="02020603050405020304" pitchFamily="18" charset="0"/>
              <a:cs typeface="Times New Roman" panose="02020603050405020304" pitchFamily="18" charset="0"/>
            </a:endParaRPr>
          </a:p>
        </p:txBody>
      </p:sp>
      <p:sp>
        <p:nvSpPr>
          <p:cNvPr id="10" name="Rounded Rectangle 9">
            <a:extLst>
              <a:ext uri="{FF2B5EF4-FFF2-40B4-BE49-F238E27FC236}">
                <a16:creationId xmlns:a16="http://schemas.microsoft.com/office/drawing/2014/main" id="{9F8E5872-FFDF-5526-CF56-D81835B6D517}"/>
              </a:ext>
            </a:extLst>
          </p:cNvPr>
          <p:cNvSpPr/>
          <p:nvPr/>
        </p:nvSpPr>
        <p:spPr>
          <a:xfrm>
            <a:off x="1537457" y="3942541"/>
            <a:ext cx="1614559" cy="381529"/>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dirty="0">
                <a:solidFill>
                  <a:srgbClr val="2E3A3C"/>
                </a:solidFill>
                <a:latin typeface="Times New Roman"/>
              </a:rPr>
              <a:t>O</a:t>
            </a:r>
            <a:r>
              <a:rPr lang="en-US" sz="1400" b="0" i="0" dirty="0">
                <a:solidFill>
                  <a:srgbClr val="2E3A3C"/>
                </a:solidFill>
                <a:latin typeface="Times New Roman"/>
              </a:rPr>
              <a:t>rchestrator</a:t>
            </a:r>
            <a:endParaRPr sz="1400" b="0" i="0" dirty="0">
              <a:solidFill>
                <a:srgbClr val="2E3A3C"/>
              </a:solidFill>
              <a:latin typeface="Times New Roman"/>
            </a:endParaRPr>
          </a:p>
        </p:txBody>
      </p:sp>
      <p:sp>
        <p:nvSpPr>
          <p:cNvPr id="11" name="Rounded Rectangle 10">
            <a:extLst>
              <a:ext uri="{FF2B5EF4-FFF2-40B4-BE49-F238E27FC236}">
                <a16:creationId xmlns:a16="http://schemas.microsoft.com/office/drawing/2014/main" id="{5593E648-240D-250F-ACCB-03EDD63B754E}"/>
              </a:ext>
            </a:extLst>
          </p:cNvPr>
          <p:cNvSpPr/>
          <p:nvPr/>
        </p:nvSpPr>
        <p:spPr>
          <a:xfrm>
            <a:off x="499079" y="4729918"/>
            <a:ext cx="1614559" cy="381529"/>
          </a:xfrm>
          <a:prstGeom prst="roundRect">
            <a:avLst/>
          </a:prstGeom>
          <a:solidFill>
            <a:srgbClr val="E5ACC4"/>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0" i="0" dirty="0">
                <a:solidFill>
                  <a:srgbClr val="2E3A3C"/>
                </a:solidFill>
                <a:latin typeface="Times New Roman"/>
              </a:rPr>
              <a:t>Batch executor 1</a:t>
            </a:r>
            <a:endParaRPr sz="1400" b="0" i="0" dirty="0">
              <a:solidFill>
                <a:srgbClr val="2E3A3C"/>
              </a:solidFill>
              <a:latin typeface="Times New Roman"/>
            </a:endParaRPr>
          </a:p>
        </p:txBody>
      </p:sp>
      <p:sp>
        <p:nvSpPr>
          <p:cNvPr id="12" name="Rounded Rectangle 11">
            <a:extLst>
              <a:ext uri="{FF2B5EF4-FFF2-40B4-BE49-F238E27FC236}">
                <a16:creationId xmlns:a16="http://schemas.microsoft.com/office/drawing/2014/main" id="{D5E360AD-0B5F-4A76-7D3D-7C1764406CE9}"/>
              </a:ext>
            </a:extLst>
          </p:cNvPr>
          <p:cNvSpPr/>
          <p:nvPr/>
        </p:nvSpPr>
        <p:spPr>
          <a:xfrm>
            <a:off x="2690639" y="4729918"/>
            <a:ext cx="1614559" cy="381529"/>
          </a:xfrm>
          <a:prstGeom prst="roundRect">
            <a:avLst/>
          </a:prstGeom>
          <a:solidFill>
            <a:srgbClr val="E5ACC4"/>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0" i="0" dirty="0">
                <a:solidFill>
                  <a:srgbClr val="2E3A3C"/>
                </a:solidFill>
                <a:latin typeface="Times New Roman"/>
              </a:rPr>
              <a:t>Batch executor N</a:t>
            </a:r>
            <a:endParaRPr sz="1400" b="0" i="0" dirty="0">
              <a:solidFill>
                <a:srgbClr val="2E3A3C"/>
              </a:solidFill>
              <a:latin typeface="Times New Roman"/>
            </a:endParaRPr>
          </a:p>
        </p:txBody>
      </p:sp>
      <p:cxnSp>
        <p:nvCxnSpPr>
          <p:cNvPr id="14" name="Elbow Connector 13">
            <a:extLst>
              <a:ext uri="{FF2B5EF4-FFF2-40B4-BE49-F238E27FC236}">
                <a16:creationId xmlns:a16="http://schemas.microsoft.com/office/drawing/2014/main" id="{C789D72D-7C84-EFA3-3D95-B164E64C483E}"/>
              </a:ext>
            </a:extLst>
          </p:cNvPr>
          <p:cNvCxnSpPr>
            <a:stCxn id="10" idx="2"/>
            <a:endCxn id="11" idx="0"/>
          </p:cNvCxnSpPr>
          <p:nvPr/>
        </p:nvCxnSpPr>
        <p:spPr>
          <a:xfrm rot="5400000">
            <a:off x="1622624" y="4007805"/>
            <a:ext cx="405848" cy="103837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a:extLst>
              <a:ext uri="{FF2B5EF4-FFF2-40B4-BE49-F238E27FC236}">
                <a16:creationId xmlns:a16="http://schemas.microsoft.com/office/drawing/2014/main" id="{7858F7BD-E2BE-C54F-6E93-D417F7C97134}"/>
              </a:ext>
            </a:extLst>
          </p:cNvPr>
          <p:cNvCxnSpPr>
            <a:cxnSpLocks/>
            <a:stCxn id="10" idx="2"/>
            <a:endCxn id="12" idx="0"/>
          </p:cNvCxnSpPr>
          <p:nvPr/>
        </p:nvCxnSpPr>
        <p:spPr>
          <a:xfrm rot="16200000" flipH="1">
            <a:off x="2718404" y="3950403"/>
            <a:ext cx="405848" cy="115318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0F39F8F1-9FAE-9DBF-422F-D60F5E8AB236}"/>
              </a:ext>
            </a:extLst>
          </p:cNvPr>
          <p:cNvCxnSpPr>
            <a:cxnSpLocks/>
            <a:stCxn id="11" idx="2"/>
            <a:endCxn id="19" idx="0"/>
          </p:cNvCxnSpPr>
          <p:nvPr/>
        </p:nvCxnSpPr>
        <p:spPr>
          <a:xfrm rot="16200000" flipH="1">
            <a:off x="1222887" y="5194918"/>
            <a:ext cx="1168906" cy="10019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D5B5E51C-454C-AB94-8A6B-EF0924A9F6C3}"/>
              </a:ext>
            </a:extLst>
          </p:cNvPr>
          <p:cNvCxnSpPr>
            <a:cxnSpLocks/>
            <a:stCxn id="12" idx="2"/>
            <a:endCxn id="19" idx="0"/>
          </p:cNvCxnSpPr>
          <p:nvPr/>
        </p:nvCxnSpPr>
        <p:spPr>
          <a:xfrm rot="5400000">
            <a:off x="2318668" y="5101102"/>
            <a:ext cx="1168906" cy="118959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18E258F-9E30-5416-7DC6-2DD60137649A}"/>
              </a:ext>
            </a:extLst>
          </p:cNvPr>
          <p:cNvSpPr txBox="1"/>
          <p:nvPr/>
        </p:nvSpPr>
        <p:spPr>
          <a:xfrm>
            <a:off x="2210980" y="4757000"/>
            <a:ext cx="382317" cy="369332"/>
          </a:xfrm>
          <a:prstGeom prst="rect">
            <a:avLst/>
          </a:prstGeom>
          <a:noFill/>
        </p:spPr>
        <p:txBody>
          <a:bodyPr wrap="square" rtlCol="0">
            <a:spAutoFit/>
          </a:bodyPr>
          <a:lstStyle/>
          <a:p>
            <a:r>
              <a:rPr lang="en-US" dirty="0"/>
              <a:t>…</a:t>
            </a:r>
          </a:p>
        </p:txBody>
      </p:sp>
      <p:sp>
        <p:nvSpPr>
          <p:cNvPr id="40" name="Slide Number Placeholder 39">
            <a:extLst>
              <a:ext uri="{FF2B5EF4-FFF2-40B4-BE49-F238E27FC236}">
                <a16:creationId xmlns:a16="http://schemas.microsoft.com/office/drawing/2014/main" id="{455DFBE5-6224-30A5-D311-572ED03EA49D}"/>
              </a:ext>
            </a:extLst>
          </p:cNvPr>
          <p:cNvSpPr>
            <a:spLocks noGrp="1"/>
          </p:cNvSpPr>
          <p:nvPr>
            <p:ph type="sldNum" idx="12"/>
          </p:nvPr>
        </p:nvSpPr>
        <p:spPr/>
        <p:txBody>
          <a:bodyPr/>
          <a:lstStyle/>
          <a:p>
            <a:fld id="{3109D357-8067-4A1F-97B2-93C5160B78D9}" type="slidenum">
              <a:rPr lang="en-CA" smtClean="0"/>
              <a:t>21</a:t>
            </a:fld>
            <a:endParaRPr lang="en-CA"/>
          </a:p>
        </p:txBody>
      </p:sp>
    </p:spTree>
    <p:extLst>
      <p:ext uri="{BB962C8B-B14F-4D97-AF65-F5344CB8AC3E}">
        <p14:creationId xmlns:p14="http://schemas.microsoft.com/office/powerpoint/2010/main" val="1872905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D1C45-2EDE-7096-9176-3CC86507FA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1FE306-3F6E-2DDB-E2D1-CFCFFF869323}"/>
              </a:ext>
            </a:extLst>
          </p:cNvPr>
          <p:cNvSpPr txBox="1"/>
          <p:nvPr/>
        </p:nvSpPr>
        <p:spPr>
          <a:xfrm>
            <a:off x="320039" y="283464"/>
            <a:ext cx="6850781" cy="553998"/>
          </a:xfrm>
          <a:prstGeom prst="rect">
            <a:avLst/>
          </a:prstGeom>
          <a:noFill/>
        </p:spPr>
        <p:txBody>
          <a:bodyPr wrap="square">
            <a:spAutoFit/>
          </a:bodyPr>
          <a:lstStyle/>
          <a:p>
            <a:pPr algn="l"/>
            <a:r>
              <a:rPr lang="en-US" sz="3000" b="1" dirty="0">
                <a:solidFill>
                  <a:srgbClr val="2E3A3C"/>
                </a:solidFill>
                <a:latin typeface="Times New Roman"/>
              </a:rPr>
              <a:t>ULTIMATE GOAL: CUT THE COST!!!</a:t>
            </a:r>
            <a:endParaRPr sz="3000" b="1" i="0" dirty="0">
              <a:solidFill>
                <a:srgbClr val="2E3A3C"/>
              </a:solidFill>
              <a:latin typeface="Times New Roman"/>
            </a:endParaRPr>
          </a:p>
        </p:txBody>
      </p:sp>
      <p:sp>
        <p:nvSpPr>
          <p:cNvPr id="3" name="TextBox 2">
            <a:extLst>
              <a:ext uri="{FF2B5EF4-FFF2-40B4-BE49-F238E27FC236}">
                <a16:creationId xmlns:a16="http://schemas.microsoft.com/office/drawing/2014/main" id="{89C8391D-4282-44DA-AA6B-A6A32A041780}"/>
              </a:ext>
            </a:extLst>
          </p:cNvPr>
          <p:cNvSpPr txBox="1"/>
          <p:nvPr/>
        </p:nvSpPr>
        <p:spPr>
          <a:xfrm>
            <a:off x="320040" y="795528"/>
            <a:ext cx="10991088" cy="461665"/>
          </a:xfrm>
          <a:prstGeom prst="rect">
            <a:avLst/>
          </a:prstGeom>
          <a:noFill/>
        </p:spPr>
        <p:txBody>
          <a:bodyPr wrap="square">
            <a:spAutoFit/>
          </a:bodyPr>
          <a:lstStyle/>
          <a:p>
            <a:r>
              <a:rPr lang="en-US" sz="2400" dirty="0">
                <a:solidFill>
                  <a:schemeClr val="tx1">
                    <a:lumMod val="50000"/>
                    <a:lumOff val="50000"/>
                  </a:schemeClr>
                </a:solidFill>
                <a:latin typeface="Times New Roman" panose="02020603050405020304" pitchFamily="18" charset="0"/>
                <a:cs typeface="Times New Roman" panose="02020603050405020304" pitchFamily="18" charset="0"/>
              </a:rPr>
              <a:t>I</a:t>
            </a:r>
            <a:r>
              <a:rPr lang="en-US" sz="2400" b="0" i="0" dirty="0">
                <a:solidFill>
                  <a:schemeClr val="tx1">
                    <a:lumMod val="50000"/>
                    <a:lumOff val="50000"/>
                  </a:schemeClr>
                </a:solidFill>
                <a:latin typeface="Times New Roman" panose="02020603050405020304" pitchFamily="18" charset="0"/>
                <a:cs typeface="Times New Roman" panose="02020603050405020304" pitchFamily="18" charset="0"/>
              </a:rPr>
              <a:t> introduced a solution, and brought in several new problems</a:t>
            </a:r>
            <a:endParaRPr sz="2400" b="0" i="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cxnSp>
        <p:nvCxnSpPr>
          <p:cNvPr id="4" name="Connector 3">
            <a:extLst>
              <a:ext uri="{FF2B5EF4-FFF2-40B4-BE49-F238E27FC236}">
                <a16:creationId xmlns:a16="http://schemas.microsoft.com/office/drawing/2014/main" id="{19A0C08B-E2F1-CCA3-CAB5-7D036B34F47C}"/>
              </a:ext>
            </a:extLst>
          </p:cNvPr>
          <p:cNvCxnSpPr/>
          <p:nvPr/>
        </p:nvCxnSpPr>
        <p:spPr>
          <a:xfrm>
            <a:off x="0" y="1435608"/>
            <a:ext cx="12188952" cy="0"/>
          </a:xfrm>
          <a:prstGeom prst="line">
            <a:avLst/>
          </a:prstGeom>
          <a:ln w="19050">
            <a:solidFill>
              <a:srgbClr val="898470"/>
            </a:solidFill>
          </a:ln>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36CDD509-520F-5C0E-2F3C-AF80D7ECA3C9}"/>
              </a:ext>
            </a:extLst>
          </p:cNvPr>
          <p:cNvSpPr/>
          <p:nvPr/>
        </p:nvSpPr>
        <p:spPr>
          <a:xfrm>
            <a:off x="1537457" y="1568089"/>
            <a:ext cx="1541730" cy="402336"/>
          </a:xfrm>
          <a:prstGeom prst="roundRect">
            <a:avLst/>
          </a:prstGeom>
          <a:solidFill>
            <a:schemeClr val="bg1">
              <a:lumMod val="85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NL Description</a:t>
            </a:r>
          </a:p>
        </p:txBody>
      </p:sp>
      <p:sp>
        <p:nvSpPr>
          <p:cNvPr id="18" name="Rounded Rectangle 17">
            <a:extLst>
              <a:ext uri="{FF2B5EF4-FFF2-40B4-BE49-F238E27FC236}">
                <a16:creationId xmlns:a16="http://schemas.microsoft.com/office/drawing/2014/main" id="{EC9A5EEC-3A37-E1E2-77AF-E63C307A37F5}"/>
              </a:ext>
            </a:extLst>
          </p:cNvPr>
          <p:cNvSpPr/>
          <p:nvPr/>
        </p:nvSpPr>
        <p:spPr>
          <a:xfrm>
            <a:off x="1501042" y="3234249"/>
            <a:ext cx="1614559" cy="381529"/>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i="0" dirty="0">
                <a:solidFill>
                  <a:srgbClr val="2E3A3C"/>
                </a:solidFill>
                <a:latin typeface="Times New Roman"/>
              </a:rPr>
              <a:t>Structured </a:t>
            </a:r>
            <a:r>
              <a:rPr sz="1400" b="0" i="0" dirty="0" err="1">
                <a:solidFill>
                  <a:srgbClr val="2E3A3C"/>
                </a:solidFill>
                <a:latin typeface="Times New Roman"/>
              </a:rPr>
              <a:t>spec.md</a:t>
            </a:r>
            <a:endParaRPr sz="1400" b="0" i="0" dirty="0">
              <a:solidFill>
                <a:srgbClr val="2E3A3C"/>
              </a:solidFill>
              <a:latin typeface="Times New Roman"/>
            </a:endParaRPr>
          </a:p>
        </p:txBody>
      </p:sp>
      <p:sp>
        <p:nvSpPr>
          <p:cNvPr id="19" name="Rounded Rectangle 18">
            <a:extLst>
              <a:ext uri="{FF2B5EF4-FFF2-40B4-BE49-F238E27FC236}">
                <a16:creationId xmlns:a16="http://schemas.microsoft.com/office/drawing/2014/main" id="{835BA5F5-6308-7E86-44B1-45D422763027}"/>
              </a:ext>
            </a:extLst>
          </p:cNvPr>
          <p:cNvSpPr/>
          <p:nvPr/>
        </p:nvSpPr>
        <p:spPr>
          <a:xfrm>
            <a:off x="1610435" y="6280353"/>
            <a:ext cx="1395774" cy="347472"/>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0" i="0" dirty="0">
                <a:solidFill>
                  <a:srgbClr val="2E3A3C"/>
                </a:solidFill>
                <a:latin typeface="Times New Roman"/>
              </a:rPr>
              <a:t>Outputs</a:t>
            </a:r>
            <a:r>
              <a:rPr lang="en-US" sz="1400" b="0" i="0" dirty="0">
                <a:solidFill>
                  <a:srgbClr val="2E3A3C"/>
                </a:solidFill>
                <a:latin typeface="Times New Roman"/>
              </a:rPr>
              <a:t>: Report</a:t>
            </a:r>
            <a:endParaRPr sz="1400" b="0" i="0" dirty="0">
              <a:solidFill>
                <a:srgbClr val="2E3A3C"/>
              </a:solidFill>
              <a:latin typeface="Times New Roman"/>
            </a:endParaRPr>
          </a:p>
        </p:txBody>
      </p:sp>
      <p:grpSp>
        <p:nvGrpSpPr>
          <p:cNvPr id="27" name="Group 26">
            <a:extLst>
              <a:ext uri="{FF2B5EF4-FFF2-40B4-BE49-F238E27FC236}">
                <a16:creationId xmlns:a16="http://schemas.microsoft.com/office/drawing/2014/main" id="{FB8FCAEC-EBEB-F4F8-F05F-1F33A39F03FE}"/>
              </a:ext>
            </a:extLst>
          </p:cNvPr>
          <p:cNvGrpSpPr/>
          <p:nvPr/>
        </p:nvGrpSpPr>
        <p:grpSpPr>
          <a:xfrm>
            <a:off x="853805" y="2152180"/>
            <a:ext cx="2919107" cy="864524"/>
            <a:chOff x="740826" y="2200768"/>
            <a:chExt cx="2919107" cy="864524"/>
          </a:xfrm>
        </p:grpSpPr>
        <p:sp>
          <p:nvSpPr>
            <p:cNvPr id="28" name="Rounded Rectangle 27">
              <a:extLst>
                <a:ext uri="{FF2B5EF4-FFF2-40B4-BE49-F238E27FC236}">
                  <a16:creationId xmlns:a16="http://schemas.microsoft.com/office/drawing/2014/main" id="{75B7A95F-4E70-20AC-74BD-2595A44AF943}"/>
                </a:ext>
              </a:extLst>
            </p:cNvPr>
            <p:cNvSpPr/>
            <p:nvPr/>
          </p:nvSpPr>
          <p:spPr>
            <a:xfrm>
              <a:off x="740826" y="2200768"/>
              <a:ext cx="2919107" cy="864524"/>
            </a:xfrm>
            <a:prstGeom prst="roundRect">
              <a:avLst/>
            </a:prstGeom>
            <a:no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i="0">
                  <a:ln w="0"/>
                  <a:solidFill>
                    <a:schemeClr val="tx1"/>
                  </a:solidFill>
                  <a:effectLst>
                    <a:outerShdw blurRad="38100" dist="19050" dir="2700000" algn="tl" rotWithShape="0">
                      <a:schemeClr val="dk1">
                        <a:alpha val="40000"/>
                      </a:schemeClr>
                    </a:outerShdw>
                  </a:effectLst>
                  <a:latin typeface="Times New Roman"/>
                </a:rPr>
                <a:t>Spec Drafter  (1 LLM call)</a:t>
              </a:r>
            </a:p>
          </p:txBody>
        </p:sp>
        <p:sp>
          <p:nvSpPr>
            <p:cNvPr id="29" name="Rounded Rectangle 28">
              <a:extLst>
                <a:ext uri="{FF2B5EF4-FFF2-40B4-BE49-F238E27FC236}">
                  <a16:creationId xmlns:a16="http://schemas.microsoft.com/office/drawing/2014/main" id="{0409CCB7-3E3C-C9EC-FD6E-80A9CCE415DD}"/>
                </a:ext>
              </a:extLst>
            </p:cNvPr>
            <p:cNvSpPr/>
            <p:nvPr/>
          </p:nvSpPr>
          <p:spPr>
            <a:xfrm>
              <a:off x="1193380" y="2581960"/>
              <a:ext cx="2011678" cy="402336"/>
            </a:xfrm>
            <a:prstGeom prst="roundRect">
              <a:avLst/>
            </a:prstGeom>
            <a:solidFill>
              <a:schemeClr val="bg2">
                <a:lumMod val="9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0" i="0" dirty="0" err="1">
                  <a:solidFill>
                    <a:srgbClr val="2E3A3C"/>
                  </a:solidFill>
                  <a:latin typeface="Times New Roman"/>
                </a:rPr>
                <a:t>Drafter_prompt</a:t>
              </a:r>
              <a:endParaRPr sz="1200" b="0" i="0" dirty="0">
                <a:solidFill>
                  <a:srgbClr val="2E3A3C"/>
                </a:solidFill>
                <a:latin typeface="Times New Roman"/>
              </a:endParaRPr>
            </a:p>
          </p:txBody>
        </p:sp>
      </p:grpSp>
      <p:cxnSp>
        <p:nvCxnSpPr>
          <p:cNvPr id="30" name="Straight Arrow Connector 29">
            <a:extLst>
              <a:ext uri="{FF2B5EF4-FFF2-40B4-BE49-F238E27FC236}">
                <a16:creationId xmlns:a16="http://schemas.microsoft.com/office/drawing/2014/main" id="{34F78D22-4EAA-C83F-16C4-FD4C5653478F}"/>
              </a:ext>
            </a:extLst>
          </p:cNvPr>
          <p:cNvCxnSpPr>
            <a:cxnSpLocks/>
            <a:stCxn id="17" idx="2"/>
            <a:endCxn id="28" idx="0"/>
          </p:cNvCxnSpPr>
          <p:nvPr/>
        </p:nvCxnSpPr>
        <p:spPr>
          <a:xfrm>
            <a:off x="2308322" y="1970425"/>
            <a:ext cx="5037" cy="181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82119BB-1E00-ECFB-A584-0D5E3FAE4984}"/>
              </a:ext>
            </a:extLst>
          </p:cNvPr>
          <p:cNvCxnSpPr>
            <a:cxnSpLocks/>
            <a:stCxn id="28" idx="2"/>
            <a:endCxn id="18" idx="0"/>
          </p:cNvCxnSpPr>
          <p:nvPr/>
        </p:nvCxnSpPr>
        <p:spPr>
          <a:xfrm flipH="1">
            <a:off x="2308322" y="3016704"/>
            <a:ext cx="5037" cy="217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6C29C41-AD23-46A7-0548-C5A804DE1DAB}"/>
              </a:ext>
            </a:extLst>
          </p:cNvPr>
          <p:cNvCxnSpPr>
            <a:cxnSpLocks/>
            <a:stCxn id="18" idx="2"/>
          </p:cNvCxnSpPr>
          <p:nvPr/>
        </p:nvCxnSpPr>
        <p:spPr>
          <a:xfrm>
            <a:off x="2308322" y="3615778"/>
            <a:ext cx="5037" cy="318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A240A7-024C-9467-83C9-BFA7CA46A2F4}"/>
              </a:ext>
            </a:extLst>
          </p:cNvPr>
          <p:cNvSpPr txBox="1"/>
          <p:nvPr/>
        </p:nvSpPr>
        <p:spPr>
          <a:xfrm>
            <a:off x="5815584" y="1672151"/>
            <a:ext cx="5813929" cy="341632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Problem:</a:t>
            </a:r>
          </a:p>
          <a:p>
            <a:r>
              <a:rPr lang="en-CA" dirty="0">
                <a:latin typeface="Times New Roman" panose="02020603050405020304" pitchFamily="18" charset="0"/>
                <a:cs typeface="Times New Roman" panose="02020603050405020304" pitchFamily="18" charset="0"/>
              </a:rPr>
              <a:t>Every executor must independently </a:t>
            </a:r>
            <a:r>
              <a:rPr lang="en-CA" b="1" dirty="0">
                <a:latin typeface="Times New Roman" panose="02020603050405020304" pitchFamily="18" charset="0"/>
                <a:cs typeface="Times New Roman" panose="02020603050405020304" pitchFamily="18" charset="0"/>
              </a:rPr>
              <a:t>discover the API, which COSTS!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Solution:</a:t>
            </a:r>
          </a:p>
          <a:p>
            <a:r>
              <a:rPr lang="en-US" dirty="0">
                <a:latin typeface="Times New Roman" panose="02020603050405020304" pitchFamily="18" charset="0"/>
                <a:cs typeface="Times New Roman" panose="02020603050405020304" pitchFamily="18" charset="0"/>
              </a:rPr>
              <a:t>Add the API Probe agent, share the API Playbook!</a:t>
            </a:r>
            <a:endParaRPr lang="en-CA"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New Problem:</a:t>
            </a:r>
          </a:p>
          <a:p>
            <a:r>
              <a:rPr lang="en-CA" dirty="0">
                <a:latin typeface="Times New Roman" panose="02020603050405020304" pitchFamily="18" charset="0"/>
                <a:cs typeface="Times New Roman" panose="02020603050405020304" pitchFamily="18" charset="0"/>
              </a:rPr>
              <a:t>Each executor has its own turn budget but no external guidance on pacing. Agents tend to over-explore early Rs and run out of budget before covering later ones, or keep probing after all assigned Rs are already verified.</a:t>
            </a:r>
            <a:endParaRPr lang="en-US" b="1" dirty="0">
              <a:latin typeface="Times New Roman" panose="02020603050405020304" pitchFamily="18" charset="0"/>
              <a:cs typeface="Times New Roman" panose="02020603050405020304" pitchFamily="18" charset="0"/>
            </a:endParaRPr>
          </a:p>
        </p:txBody>
      </p:sp>
      <p:sp>
        <p:nvSpPr>
          <p:cNvPr id="10" name="Rounded Rectangle 9">
            <a:extLst>
              <a:ext uri="{FF2B5EF4-FFF2-40B4-BE49-F238E27FC236}">
                <a16:creationId xmlns:a16="http://schemas.microsoft.com/office/drawing/2014/main" id="{68D8A331-94B6-7420-717A-BFE2F543DF45}"/>
              </a:ext>
            </a:extLst>
          </p:cNvPr>
          <p:cNvSpPr/>
          <p:nvPr/>
        </p:nvSpPr>
        <p:spPr>
          <a:xfrm>
            <a:off x="1537457" y="3942541"/>
            <a:ext cx="1614559" cy="381529"/>
          </a:xfrm>
          <a:prstGeom prst="roundRect">
            <a:avLst/>
          </a:prstGeom>
          <a:solidFill>
            <a:schemeClr val="tx2">
              <a:lumMod val="20000"/>
              <a:lumOff val="80000"/>
            </a:schemeClr>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dirty="0">
                <a:solidFill>
                  <a:srgbClr val="2E3A3C"/>
                </a:solidFill>
                <a:latin typeface="Times New Roman"/>
              </a:rPr>
              <a:t>O</a:t>
            </a:r>
            <a:r>
              <a:rPr lang="en-US" sz="1400" b="0" i="0" dirty="0">
                <a:solidFill>
                  <a:srgbClr val="2E3A3C"/>
                </a:solidFill>
                <a:latin typeface="Times New Roman"/>
              </a:rPr>
              <a:t>rchestrator</a:t>
            </a:r>
            <a:endParaRPr sz="1400" b="0" i="0" dirty="0">
              <a:solidFill>
                <a:srgbClr val="2E3A3C"/>
              </a:solidFill>
              <a:latin typeface="Times New Roman"/>
            </a:endParaRPr>
          </a:p>
        </p:txBody>
      </p:sp>
      <p:sp>
        <p:nvSpPr>
          <p:cNvPr id="11" name="Rounded Rectangle 10">
            <a:extLst>
              <a:ext uri="{FF2B5EF4-FFF2-40B4-BE49-F238E27FC236}">
                <a16:creationId xmlns:a16="http://schemas.microsoft.com/office/drawing/2014/main" id="{A90E49F9-85D3-7EB3-7438-1927A2FEAC52}"/>
              </a:ext>
            </a:extLst>
          </p:cNvPr>
          <p:cNvSpPr/>
          <p:nvPr/>
        </p:nvSpPr>
        <p:spPr>
          <a:xfrm>
            <a:off x="499079" y="5021083"/>
            <a:ext cx="1614559" cy="381529"/>
          </a:xfrm>
          <a:prstGeom prst="roundRect">
            <a:avLst/>
          </a:prstGeom>
          <a:solidFill>
            <a:srgbClr val="E5ACC4"/>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0" i="0" dirty="0">
                <a:solidFill>
                  <a:srgbClr val="2E3A3C"/>
                </a:solidFill>
                <a:latin typeface="Times New Roman"/>
              </a:rPr>
              <a:t>Batch executor 1</a:t>
            </a:r>
            <a:endParaRPr sz="1400" b="0" i="0" dirty="0">
              <a:solidFill>
                <a:srgbClr val="2E3A3C"/>
              </a:solidFill>
              <a:latin typeface="Times New Roman"/>
            </a:endParaRPr>
          </a:p>
        </p:txBody>
      </p:sp>
      <p:sp>
        <p:nvSpPr>
          <p:cNvPr id="12" name="Rounded Rectangle 11">
            <a:extLst>
              <a:ext uri="{FF2B5EF4-FFF2-40B4-BE49-F238E27FC236}">
                <a16:creationId xmlns:a16="http://schemas.microsoft.com/office/drawing/2014/main" id="{59D16BFC-8AC8-29C7-F7B5-5B84EE84F32F}"/>
              </a:ext>
            </a:extLst>
          </p:cNvPr>
          <p:cNvSpPr/>
          <p:nvPr/>
        </p:nvSpPr>
        <p:spPr>
          <a:xfrm>
            <a:off x="2690639" y="5021083"/>
            <a:ext cx="1614559" cy="381529"/>
          </a:xfrm>
          <a:prstGeom prst="roundRect">
            <a:avLst/>
          </a:prstGeom>
          <a:solidFill>
            <a:srgbClr val="E5ACC4"/>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0" i="0" dirty="0">
                <a:solidFill>
                  <a:srgbClr val="2E3A3C"/>
                </a:solidFill>
                <a:latin typeface="Times New Roman"/>
              </a:rPr>
              <a:t>Batch executor N</a:t>
            </a:r>
            <a:endParaRPr sz="1400" b="0" i="0" dirty="0">
              <a:solidFill>
                <a:srgbClr val="2E3A3C"/>
              </a:solidFill>
              <a:latin typeface="Times New Roman"/>
            </a:endParaRPr>
          </a:p>
        </p:txBody>
      </p:sp>
      <p:cxnSp>
        <p:nvCxnSpPr>
          <p:cNvPr id="14" name="Elbow Connector 13">
            <a:extLst>
              <a:ext uri="{FF2B5EF4-FFF2-40B4-BE49-F238E27FC236}">
                <a16:creationId xmlns:a16="http://schemas.microsoft.com/office/drawing/2014/main" id="{501580B6-D94A-D452-BC73-3120FA72882C}"/>
              </a:ext>
            </a:extLst>
          </p:cNvPr>
          <p:cNvCxnSpPr>
            <a:stCxn id="10" idx="2"/>
            <a:endCxn id="11" idx="0"/>
          </p:cNvCxnSpPr>
          <p:nvPr/>
        </p:nvCxnSpPr>
        <p:spPr>
          <a:xfrm rot="5400000">
            <a:off x="1477042" y="4153387"/>
            <a:ext cx="697013" cy="103837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a:extLst>
              <a:ext uri="{FF2B5EF4-FFF2-40B4-BE49-F238E27FC236}">
                <a16:creationId xmlns:a16="http://schemas.microsoft.com/office/drawing/2014/main" id="{4D800FC7-3656-0FB7-9421-6466BFEAFEAD}"/>
              </a:ext>
            </a:extLst>
          </p:cNvPr>
          <p:cNvCxnSpPr>
            <a:cxnSpLocks/>
            <a:stCxn id="10" idx="2"/>
            <a:endCxn id="12" idx="0"/>
          </p:cNvCxnSpPr>
          <p:nvPr/>
        </p:nvCxnSpPr>
        <p:spPr>
          <a:xfrm rot="16200000" flipH="1">
            <a:off x="2572822" y="4095985"/>
            <a:ext cx="697013" cy="115318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BB1A25B4-A9F3-B4B2-0166-CF016B143CB8}"/>
              </a:ext>
            </a:extLst>
          </p:cNvPr>
          <p:cNvCxnSpPr>
            <a:cxnSpLocks/>
            <a:stCxn id="11" idx="2"/>
            <a:endCxn id="19" idx="0"/>
          </p:cNvCxnSpPr>
          <p:nvPr/>
        </p:nvCxnSpPr>
        <p:spPr>
          <a:xfrm rot="16200000" flipH="1">
            <a:off x="1368470" y="5340500"/>
            <a:ext cx="877741" cy="10019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3B33E079-0E44-B9BC-EE12-8A4B81854CEF}"/>
              </a:ext>
            </a:extLst>
          </p:cNvPr>
          <p:cNvCxnSpPr>
            <a:cxnSpLocks/>
            <a:stCxn id="12" idx="2"/>
            <a:endCxn id="19" idx="0"/>
          </p:cNvCxnSpPr>
          <p:nvPr/>
        </p:nvCxnSpPr>
        <p:spPr>
          <a:xfrm rot="5400000">
            <a:off x="2464251" y="5246684"/>
            <a:ext cx="877741" cy="118959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9F66F51-820F-5F22-BEA8-9DA202666B0B}"/>
              </a:ext>
            </a:extLst>
          </p:cNvPr>
          <p:cNvSpPr txBox="1"/>
          <p:nvPr/>
        </p:nvSpPr>
        <p:spPr>
          <a:xfrm>
            <a:off x="2210980" y="5048165"/>
            <a:ext cx="382317" cy="369332"/>
          </a:xfrm>
          <a:prstGeom prst="rect">
            <a:avLst/>
          </a:prstGeom>
          <a:noFill/>
        </p:spPr>
        <p:txBody>
          <a:bodyPr wrap="square" rtlCol="0">
            <a:spAutoFit/>
          </a:bodyPr>
          <a:lstStyle/>
          <a:p>
            <a:r>
              <a:rPr lang="en-US" dirty="0"/>
              <a:t>…</a:t>
            </a:r>
          </a:p>
        </p:txBody>
      </p:sp>
      <p:sp>
        <p:nvSpPr>
          <p:cNvPr id="6" name="Rounded Rectangle 5">
            <a:extLst>
              <a:ext uri="{FF2B5EF4-FFF2-40B4-BE49-F238E27FC236}">
                <a16:creationId xmlns:a16="http://schemas.microsoft.com/office/drawing/2014/main" id="{1EB603D4-A80C-3747-6EA6-086916CBDC4F}"/>
              </a:ext>
            </a:extLst>
          </p:cNvPr>
          <p:cNvSpPr/>
          <p:nvPr/>
        </p:nvSpPr>
        <p:spPr>
          <a:xfrm>
            <a:off x="3580129" y="3942541"/>
            <a:ext cx="1614559" cy="381529"/>
          </a:xfrm>
          <a:prstGeom prst="roundRect">
            <a:avLst/>
          </a:prstGeom>
          <a:solidFill>
            <a:srgbClr val="E5ACC4"/>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0" i="0" dirty="0">
                <a:solidFill>
                  <a:srgbClr val="2E3A3C"/>
                </a:solidFill>
                <a:latin typeface="Times New Roman"/>
              </a:rPr>
              <a:t>API Probe</a:t>
            </a:r>
            <a:endParaRPr sz="1400" b="0" i="0" dirty="0">
              <a:solidFill>
                <a:srgbClr val="2E3A3C"/>
              </a:solidFill>
              <a:latin typeface="Times New Roman"/>
            </a:endParaRPr>
          </a:p>
        </p:txBody>
      </p:sp>
      <p:cxnSp>
        <p:nvCxnSpPr>
          <p:cNvPr id="8" name="Straight Arrow Connector 7">
            <a:extLst>
              <a:ext uri="{FF2B5EF4-FFF2-40B4-BE49-F238E27FC236}">
                <a16:creationId xmlns:a16="http://schemas.microsoft.com/office/drawing/2014/main" id="{ABAA8D5B-F0C0-B29B-B39D-78D84493817A}"/>
              </a:ext>
            </a:extLst>
          </p:cNvPr>
          <p:cNvCxnSpPr>
            <a:stCxn id="10" idx="3"/>
            <a:endCxn id="6" idx="1"/>
          </p:cNvCxnSpPr>
          <p:nvPr/>
        </p:nvCxnSpPr>
        <p:spPr>
          <a:xfrm>
            <a:off x="3152016" y="4133306"/>
            <a:ext cx="428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F3C4257B-D4AC-8C21-C958-0FB71928E52E}"/>
              </a:ext>
            </a:extLst>
          </p:cNvPr>
          <p:cNvSpPr/>
          <p:nvPr/>
        </p:nvSpPr>
        <p:spPr>
          <a:xfrm>
            <a:off x="1928306" y="4456805"/>
            <a:ext cx="929873" cy="381529"/>
          </a:xfrm>
          <a:prstGeom prst="roundRect">
            <a:avLst/>
          </a:prstGeom>
          <a:solidFill>
            <a:srgbClr val="E5ACC4"/>
          </a:solidFill>
          <a:ln w="9525">
            <a:solidFill>
              <a:srgbClr val="8984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0" i="0" dirty="0">
                <a:solidFill>
                  <a:srgbClr val="2E3A3C"/>
                </a:solidFill>
                <a:latin typeface="Times New Roman"/>
              </a:rPr>
              <a:t>Playbook</a:t>
            </a:r>
            <a:endParaRPr sz="1400" b="0" i="0" dirty="0">
              <a:solidFill>
                <a:srgbClr val="2E3A3C"/>
              </a:solidFill>
              <a:latin typeface="Times New Roman"/>
            </a:endParaRPr>
          </a:p>
        </p:txBody>
      </p:sp>
      <p:sp>
        <p:nvSpPr>
          <p:cNvPr id="23" name="Slide Number Placeholder 22">
            <a:extLst>
              <a:ext uri="{FF2B5EF4-FFF2-40B4-BE49-F238E27FC236}">
                <a16:creationId xmlns:a16="http://schemas.microsoft.com/office/drawing/2014/main" id="{3A5CA5A8-74F0-D230-DC60-53FE7F794914}"/>
              </a:ext>
            </a:extLst>
          </p:cNvPr>
          <p:cNvSpPr>
            <a:spLocks noGrp="1"/>
          </p:cNvSpPr>
          <p:nvPr>
            <p:ph type="sldNum" idx="12"/>
          </p:nvPr>
        </p:nvSpPr>
        <p:spPr/>
        <p:txBody>
          <a:bodyPr/>
          <a:lstStyle/>
          <a:p>
            <a:fld id="{3109D357-8067-4A1F-97B2-93C5160B78D9}" type="slidenum">
              <a:rPr lang="en-CA" smtClean="0"/>
              <a:t>22</a:t>
            </a:fld>
            <a:endParaRPr lang="en-CA"/>
          </a:p>
        </p:txBody>
      </p:sp>
    </p:spTree>
    <p:extLst>
      <p:ext uri="{BB962C8B-B14F-4D97-AF65-F5344CB8AC3E}">
        <p14:creationId xmlns:p14="http://schemas.microsoft.com/office/powerpoint/2010/main" val="379154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94C37-C5E7-2D6A-962E-7BC892CA2B85}"/>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D666874-65F5-E2D2-4367-0C727E36B9D7}"/>
              </a:ext>
            </a:extLst>
          </p:cNvPr>
          <p:cNvSpPr>
            <a:spLocks noGrp="1"/>
          </p:cNvSpPr>
          <p:nvPr/>
        </p:nvSpPr>
        <p:spPr>
          <a:xfrm>
            <a:off x="400050" y="171450"/>
            <a:ext cx="11391900" cy="6096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r>
              <a:rPr lang="en-US" sz="3000" b="1" dirty="0">
                <a:solidFill>
                  <a:srgbClr val="2E3A3C"/>
                </a:solidFill>
                <a:latin typeface="Times New Roman"/>
              </a:rPr>
              <a:t>ULTIMATE GOAL: CUT THE COST!!!</a:t>
            </a:r>
          </a:p>
        </p:txBody>
      </p:sp>
      <p:sp>
        <p:nvSpPr>
          <p:cNvPr id="16" name="Rectangle 15">
            <a:extLst>
              <a:ext uri="{FF2B5EF4-FFF2-40B4-BE49-F238E27FC236}">
                <a16:creationId xmlns:a16="http://schemas.microsoft.com/office/drawing/2014/main" id="{C7509B2C-16D0-94A1-380F-FA9CEFC1DCB6}"/>
              </a:ext>
            </a:extLst>
          </p:cNvPr>
          <p:cNvSpPr>
            <a:spLocks noGrp="1"/>
          </p:cNvSpPr>
          <p:nvPr/>
        </p:nvSpPr>
        <p:spPr>
          <a:xfrm>
            <a:off x="400050" y="838200"/>
            <a:ext cx="11391900" cy="3619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r>
              <a:rPr lang="en-US" sz="2000" dirty="0">
                <a:solidFill>
                  <a:schemeClr val="tx1">
                    <a:lumMod val="50000"/>
                    <a:lumOff val="50000"/>
                  </a:schemeClr>
                </a:solidFill>
                <a:latin typeface="Times New Roman" panose="02020603050405020304" pitchFamily="18" charset="0"/>
                <a:cs typeface="Times New Roman" panose="02020603050405020304" pitchFamily="18" charset="0"/>
              </a:rPr>
              <a:t>I introduced a solution, and brought in several new problems</a:t>
            </a:r>
          </a:p>
        </p:txBody>
      </p:sp>
      <p:sp>
        <p:nvSpPr>
          <p:cNvPr id="17" name="Rectangle 16">
            <a:extLst>
              <a:ext uri="{FF2B5EF4-FFF2-40B4-BE49-F238E27FC236}">
                <a16:creationId xmlns:a16="http://schemas.microsoft.com/office/drawing/2014/main" id="{5AA9E0B6-94C5-946D-BF7F-90351DF89552}"/>
              </a:ext>
            </a:extLst>
          </p:cNvPr>
          <p:cNvSpPr>
            <a:spLocks noGrp="1"/>
          </p:cNvSpPr>
          <p:nvPr/>
        </p:nvSpPr>
        <p:spPr>
          <a:xfrm>
            <a:off x="0" y="1352550"/>
            <a:ext cx="12192000" cy="9525"/>
          </a:xfrm>
          <a:prstGeom prst="rect">
            <a:avLst/>
          </a:prstGeom>
          <a:solidFill>
            <a:srgbClr val="898470"/>
          </a:solidFill>
          <a:ln w="9525">
            <a:solidFill>
              <a:srgbClr val="898470"/>
            </a:solidFill>
          </a:ln>
        </p:spPr>
        <p:txBody>
          <a:bodyPr/>
          <a:lstStyle/>
          <a:p>
            <a:endParaRPr lang="en-US"/>
          </a:p>
        </p:txBody>
      </p:sp>
      <p:sp>
        <p:nvSpPr>
          <p:cNvPr id="18" name="Rectangle 17">
            <a:extLst>
              <a:ext uri="{FF2B5EF4-FFF2-40B4-BE49-F238E27FC236}">
                <a16:creationId xmlns:a16="http://schemas.microsoft.com/office/drawing/2014/main" id="{DFBB228A-446A-CB3F-FDC1-D1B9A5F0CBBC}"/>
              </a:ext>
            </a:extLst>
          </p:cNvPr>
          <p:cNvSpPr>
            <a:spLocks noGrp="1"/>
          </p:cNvSpPr>
          <p:nvPr/>
        </p:nvSpPr>
        <p:spPr>
          <a:xfrm>
            <a:off x="323850" y="6534150"/>
            <a:ext cx="1905000" cy="1905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900" b="0">
                <a:solidFill>
                  <a:srgbClr val="777777"/>
                </a:solidFill>
                <a:latin typeface="Arial"/>
                <a:ea typeface="Arial"/>
                <a:cs typeface="Arial"/>
              </a:defRPr>
            </a:pPr>
            <a:r>
              <a:rPr sz="900" b="0">
                <a:solidFill>
                  <a:srgbClr val="777777"/>
                </a:solidFill>
                <a:latin typeface="Arial"/>
                <a:ea typeface="Arial"/>
                <a:cs typeface="Arial"/>
              </a:rPr>
              <a:t>ChaosArena</a:t>
            </a:r>
          </a:p>
        </p:txBody>
      </p:sp>
      <p:pic>
        <p:nvPicPr>
          <p:cNvPr id="19" name="Picture 18">
            <a:extLst>
              <a:ext uri="{FF2B5EF4-FFF2-40B4-BE49-F238E27FC236}">
                <a16:creationId xmlns:a16="http://schemas.microsoft.com/office/drawing/2014/main" id="{AED672AF-A291-3BC4-2F78-DC3D546FF027}"/>
              </a:ext>
            </a:extLst>
          </p:cNvPr>
          <p:cNvPicPr>
            <a:picLocks noChangeAspect="1"/>
          </p:cNvPicPr>
          <p:nvPr/>
        </p:nvPicPr>
        <p:blipFill>
          <a:blip r:embed="rId3"/>
          <a:stretch/>
        </p:blipFill>
        <p:spPr>
          <a:xfrm>
            <a:off x="400050" y="1907312"/>
            <a:ext cx="7433873" cy="4081601"/>
          </a:xfrm>
          <a:prstGeom prst="rect">
            <a:avLst/>
          </a:prstGeom>
        </p:spPr>
      </p:pic>
      <p:sp>
        <p:nvSpPr>
          <p:cNvPr id="2" name="TextBox 1">
            <a:extLst>
              <a:ext uri="{FF2B5EF4-FFF2-40B4-BE49-F238E27FC236}">
                <a16:creationId xmlns:a16="http://schemas.microsoft.com/office/drawing/2014/main" id="{226A6D01-B0A5-BFF6-25ED-FDD96EB07F7B}"/>
              </a:ext>
            </a:extLst>
          </p:cNvPr>
          <p:cNvSpPr txBox="1"/>
          <p:nvPr/>
        </p:nvSpPr>
        <p:spPr>
          <a:xfrm>
            <a:off x="8114076" y="2378452"/>
            <a:ext cx="3878055" cy="313932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Problem:</a:t>
            </a:r>
          </a:p>
          <a:p>
            <a:r>
              <a:rPr lang="en-US" dirty="0">
                <a:latin typeface="Times New Roman" panose="02020603050405020304" pitchFamily="18" charset="0"/>
                <a:cs typeface="Times New Roman" panose="02020603050405020304" pitchFamily="18" charset="0"/>
              </a:rPr>
              <a:t>Batch cannot be done!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Solution:</a:t>
            </a:r>
          </a:p>
          <a:p>
            <a:r>
              <a:rPr lang="en-CA" dirty="0">
                <a:latin typeface="Times New Roman" panose="02020603050405020304" pitchFamily="18" charset="0"/>
                <a:cs typeface="Times New Roman" panose="02020603050405020304" pitchFamily="18" charset="0"/>
              </a:rPr>
              <a:t>Add remaining turn counts in each turn.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New Problem:</a:t>
            </a:r>
          </a:p>
          <a:p>
            <a:r>
              <a:rPr lang="en-US" dirty="0">
                <a:latin typeface="Times New Roman" panose="02020603050405020304" pitchFamily="18" charset="0"/>
                <a:cs typeface="Times New Roman" panose="02020603050405020304" pitchFamily="18" charset="0"/>
              </a:rPr>
              <a:t>Duplicated tests!</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Proposed Solution?</a:t>
            </a:r>
          </a:p>
          <a:p>
            <a:r>
              <a:rPr lang="en-US" dirty="0">
                <a:latin typeface="Times New Roman" panose="02020603050405020304" pitchFamily="18" charset="0"/>
                <a:cs typeface="Times New Roman" panose="02020603050405020304" pitchFamily="18" charset="0"/>
              </a:rPr>
              <a:t>Share state across each Batch?</a:t>
            </a:r>
          </a:p>
        </p:txBody>
      </p:sp>
      <p:sp>
        <p:nvSpPr>
          <p:cNvPr id="3" name="Slide Number Placeholder 2">
            <a:extLst>
              <a:ext uri="{FF2B5EF4-FFF2-40B4-BE49-F238E27FC236}">
                <a16:creationId xmlns:a16="http://schemas.microsoft.com/office/drawing/2014/main" id="{E40E2811-5950-31B4-1D0E-7A5047EAE494}"/>
              </a:ext>
            </a:extLst>
          </p:cNvPr>
          <p:cNvSpPr>
            <a:spLocks noGrp="1"/>
          </p:cNvSpPr>
          <p:nvPr>
            <p:ph type="sldNum" idx="12"/>
          </p:nvPr>
        </p:nvSpPr>
        <p:spPr/>
        <p:txBody>
          <a:bodyPr/>
          <a:lstStyle/>
          <a:p>
            <a:fld id="{3109D357-8067-4A1F-97B2-93C5160B78D9}" type="slidenum">
              <a:rPr lang="en-CA" smtClean="0"/>
              <a:t>23</a:t>
            </a:fld>
            <a:endParaRPr lang="en-CA"/>
          </a:p>
        </p:txBody>
      </p:sp>
    </p:spTree>
    <p:extLst>
      <p:ext uri="{BB962C8B-B14F-4D97-AF65-F5344CB8AC3E}">
        <p14:creationId xmlns:p14="http://schemas.microsoft.com/office/powerpoint/2010/main" val="3819644964"/>
      </p:ext>
    </p:extLst>
  </p:cSld>
  <p:clrMapOvr>
    <a:masterClrMapping/>
  </p:clrMapOvr>
</p:sld>
</file>

<file path=ppt/theme/theme1.xml><?xml version="1.0" encoding="utf-8"?>
<a:theme xmlns:a="http://schemas.openxmlformats.org/drawingml/2006/main" name="ArchwayVTI">
  <a:themeElements>
    <a:clrScheme name="Custom 1">
      <a:dk1>
        <a:sysClr val="windowText" lastClr="000000"/>
      </a:dk1>
      <a:lt1>
        <a:sysClr val="window" lastClr="FFFFFF"/>
      </a:lt1>
      <a:dk2>
        <a:srgbClr val="2E3A3C"/>
      </a:dk2>
      <a:lt2>
        <a:srgbClr val="EDE9E7"/>
      </a:lt2>
      <a:accent1>
        <a:srgbClr val="898470"/>
      </a:accent1>
      <a:accent2>
        <a:srgbClr val="7A8773"/>
      </a:accent2>
      <a:accent3>
        <a:srgbClr val="8C845E"/>
      </a:accent3>
      <a:accent4>
        <a:srgbClr val="9F7E56"/>
      </a:accent4>
      <a:accent5>
        <a:srgbClr val="9B7E69"/>
      </a:accent5>
      <a:accent6>
        <a:srgbClr val="AA7862"/>
      </a:accent6>
      <a:hlink>
        <a:srgbClr val="7A8773"/>
      </a:hlink>
      <a:folHlink>
        <a:srgbClr val="9F7E56"/>
      </a:folHlink>
    </a:clrScheme>
    <a:fontScheme name="Archway">
      <a:majorFont>
        <a:latin typeface="Felix Titling"/>
        <a:ea typeface=""/>
        <a:cs typeface=""/>
      </a:majorFont>
      <a:minorFont>
        <a:latin typeface="Goudy Old Style"/>
        <a:ea typeface=""/>
        <a:cs typeface=""/>
      </a:minorFont>
    </a:fontScheme>
    <a:fmtScheme name="Custom 1">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ArchwayVTI">
  <a:themeElements>
    <a:clrScheme name="Custom 1">
      <a:dk1>
        <a:sysClr val="windowText" lastClr="000000"/>
      </a:dk1>
      <a:lt1>
        <a:sysClr val="window" lastClr="FFFFFF"/>
      </a:lt1>
      <a:dk2>
        <a:srgbClr val="2E3A3C"/>
      </a:dk2>
      <a:lt2>
        <a:srgbClr val="EDE9E7"/>
      </a:lt2>
      <a:accent1>
        <a:srgbClr val="898470"/>
      </a:accent1>
      <a:accent2>
        <a:srgbClr val="7A8773"/>
      </a:accent2>
      <a:accent3>
        <a:srgbClr val="8C845E"/>
      </a:accent3>
      <a:accent4>
        <a:srgbClr val="9F7E56"/>
      </a:accent4>
      <a:accent5>
        <a:srgbClr val="9B7E69"/>
      </a:accent5>
      <a:accent6>
        <a:srgbClr val="AA7862"/>
      </a:accent6>
      <a:hlink>
        <a:srgbClr val="7A8773"/>
      </a:hlink>
      <a:folHlink>
        <a:srgbClr val="9F7E56"/>
      </a:folHlink>
    </a:clrScheme>
    <a:fontScheme name="Archway">
      <a:majorFont>
        <a:latin typeface="Felix Titling"/>
        <a:ea typeface=""/>
        <a:cs typeface=""/>
      </a:majorFont>
      <a:minorFont>
        <a:latin typeface="Goudy Old Style"/>
        <a:ea typeface=""/>
        <a:cs typeface=""/>
      </a:minorFont>
    </a:fontScheme>
    <a:fmtScheme name="Custom 1">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1372</TotalTime>
  <Words>2422</Words>
  <Application>Microsoft Macintosh PowerPoint</Application>
  <DocSecurity>0</DocSecurity>
  <PresentationFormat>Widescreen</PresentationFormat>
  <Paragraphs>406</Paragraphs>
  <Slides>23</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Felix Titling</vt:lpstr>
      <vt:lpstr>Goudy Old Style</vt:lpstr>
      <vt:lpstr>Times New Roman</vt:lpstr>
      <vt:lpstr>ArchwayVTI</vt:lpstr>
      <vt:lpstr>ChaosArena: Multi-Agent Concurrency Testing of REST APIs from Natural-Language Specifications</vt:lpstr>
      <vt:lpstr>Where this comes from?</vt:lpstr>
      <vt:lpstr>Recap: OLD ChaosArena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Hao Wu</cp:lastModifiedBy>
  <cp:revision>13</cp:revision>
  <dcterms:created xsi:type="dcterms:W3CDTF">2026-06-24T07:38:32Z</dcterms:created>
  <dcterms:modified xsi:type="dcterms:W3CDTF">2026-06-25T16:36:29Z</dcterms:modified>
</cp:coreProperties>
</file>